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5943600" y="0"/>
            <a:ext cx="3200400" cy="5143500"/>
          </a:xfrm>
          <a:prstGeom prst="rect">
            <a:avLst/>
          </a:prstGeom>
          <a:solidFill>
            <a:srgbClr val="0A1F35"/>
          </a:solidFill>
          <a:ln w="12700">
            <a:solidFill>
              <a:srgbClr val="0A1F35"/>
            </a:solidFill>
            <a:prstDash val="solid"/>
          </a:ln>
        </p:spPr>
      </p:sp>
      <p:sp>
        <p:nvSpPr>
          <p:cNvPr id="3" name="Shape 1"/>
          <p:cNvSpPr/>
          <p:nvPr/>
        </p:nvSpPr>
        <p:spPr>
          <a:xfrm>
            <a:off x="5943600" y="0"/>
            <a:ext cx="54864" cy="5143500"/>
          </a:xfrm>
          <a:prstGeom prst="rect">
            <a:avLst/>
          </a:prstGeom>
          <a:solidFill>
            <a:srgbClr val="00D4AA"/>
          </a:solidFill>
          <a:ln w="12700">
            <a:solidFill>
              <a:srgbClr val="00D4AA"/>
            </a:solidFill>
            <a:prstDash val="solid"/>
          </a:ln>
        </p:spPr>
      </p:sp>
      <p:sp>
        <p:nvSpPr>
          <p:cNvPr id="4" name="Shape 2"/>
          <p:cNvSpPr/>
          <p:nvPr/>
        </p:nvSpPr>
        <p:spPr>
          <a:xfrm>
            <a:off x="6400800" y="457200"/>
            <a:ext cx="164592" cy="164592"/>
          </a:xfrm>
          <a:prstGeom prst="rect">
            <a:avLst/>
          </a:prstGeom>
          <a:solidFill>
            <a:srgbClr val="00D4AA">
              <a:alpha val="40000"/>
            </a:srgbClr>
          </a:solidFill>
          <a:ln w="12700">
            <a:solidFill>
              <a:srgbClr val="00D4AA">
                <a:alpha val="40000"/>
              </a:srgbClr>
            </a:solidFill>
            <a:prstDash val="solid"/>
          </a:ln>
        </p:spPr>
      </p:sp>
      <p:sp>
        <p:nvSpPr>
          <p:cNvPr id="5" name="Shape 3"/>
          <p:cNvSpPr/>
          <p:nvPr/>
        </p:nvSpPr>
        <p:spPr>
          <a:xfrm>
            <a:off x="7132320" y="731520"/>
            <a:ext cx="164592" cy="164592"/>
          </a:xfrm>
          <a:prstGeom prst="rect">
            <a:avLst/>
          </a:prstGeom>
          <a:solidFill>
            <a:srgbClr val="00D4AA">
              <a:alpha val="28000"/>
            </a:srgbClr>
          </a:solidFill>
          <a:ln w="12700">
            <a:solidFill>
              <a:srgbClr val="00D4AA">
                <a:alpha val="28000"/>
              </a:srgbClr>
            </a:solidFill>
            <a:prstDash val="solid"/>
          </a:ln>
        </p:spPr>
      </p:sp>
      <p:sp>
        <p:nvSpPr>
          <p:cNvPr id="6" name="Shape 4"/>
          <p:cNvSpPr/>
          <p:nvPr/>
        </p:nvSpPr>
        <p:spPr>
          <a:xfrm>
            <a:off x="7863840" y="365760"/>
            <a:ext cx="164592" cy="164592"/>
          </a:xfrm>
          <a:prstGeom prst="rect">
            <a:avLst/>
          </a:prstGeom>
          <a:solidFill>
            <a:srgbClr val="00D4AA">
              <a:alpha val="16000"/>
            </a:srgbClr>
          </a:solidFill>
          <a:ln w="12700">
            <a:solidFill>
              <a:srgbClr val="00D4AA">
                <a:alpha val="16000"/>
              </a:srgbClr>
            </a:solidFill>
            <a:prstDash val="solid"/>
          </a:ln>
        </p:spPr>
      </p:sp>
      <p:sp>
        <p:nvSpPr>
          <p:cNvPr id="7" name="Shape 5"/>
          <p:cNvSpPr/>
          <p:nvPr/>
        </p:nvSpPr>
        <p:spPr>
          <a:xfrm>
            <a:off x="6675120" y="1280160"/>
            <a:ext cx="164592" cy="164592"/>
          </a:xfrm>
          <a:prstGeom prst="rect">
            <a:avLst/>
          </a:prstGeom>
          <a:solidFill>
            <a:srgbClr val="00D4AA">
              <a:alpha val="40000"/>
            </a:srgbClr>
          </a:solidFill>
          <a:ln w="12700">
            <a:solidFill>
              <a:srgbClr val="00D4AA">
                <a:alpha val="40000"/>
              </a:srgbClr>
            </a:solidFill>
            <a:prstDash val="solid"/>
          </a:ln>
        </p:spPr>
      </p:sp>
      <p:sp>
        <p:nvSpPr>
          <p:cNvPr id="8" name="Shape 6"/>
          <p:cNvSpPr/>
          <p:nvPr/>
        </p:nvSpPr>
        <p:spPr>
          <a:xfrm>
            <a:off x="7406640" y="1554480"/>
            <a:ext cx="164592" cy="164592"/>
          </a:xfrm>
          <a:prstGeom prst="rect">
            <a:avLst/>
          </a:prstGeom>
          <a:solidFill>
            <a:srgbClr val="00D4AA">
              <a:alpha val="28000"/>
            </a:srgbClr>
          </a:solidFill>
          <a:ln w="12700">
            <a:solidFill>
              <a:srgbClr val="00D4AA">
                <a:alpha val="28000"/>
              </a:srgbClr>
            </a:solidFill>
            <a:prstDash val="solid"/>
          </a:ln>
        </p:spPr>
      </p:sp>
      <p:sp>
        <p:nvSpPr>
          <p:cNvPr id="9" name="Shape 7"/>
          <p:cNvSpPr/>
          <p:nvPr/>
        </p:nvSpPr>
        <p:spPr>
          <a:xfrm>
            <a:off x="8138160" y="1005840"/>
            <a:ext cx="164592" cy="164592"/>
          </a:xfrm>
          <a:prstGeom prst="rect">
            <a:avLst/>
          </a:prstGeom>
          <a:solidFill>
            <a:srgbClr val="00D4AA">
              <a:alpha val="16000"/>
            </a:srgbClr>
          </a:solidFill>
          <a:ln w="12700">
            <a:solidFill>
              <a:srgbClr val="00D4AA">
                <a:alpha val="16000"/>
              </a:srgbClr>
            </a:solidFill>
            <a:prstDash val="solid"/>
          </a:ln>
        </p:spPr>
      </p:sp>
      <p:sp>
        <p:nvSpPr>
          <p:cNvPr id="10" name="Shape 8"/>
          <p:cNvSpPr/>
          <p:nvPr/>
        </p:nvSpPr>
        <p:spPr>
          <a:xfrm>
            <a:off x="6400800" y="2286000"/>
            <a:ext cx="164592" cy="164592"/>
          </a:xfrm>
          <a:prstGeom prst="rect">
            <a:avLst/>
          </a:prstGeom>
          <a:solidFill>
            <a:srgbClr val="00D4AA">
              <a:alpha val="40000"/>
            </a:srgbClr>
          </a:solidFill>
          <a:ln w="12700">
            <a:solidFill>
              <a:srgbClr val="00D4AA">
                <a:alpha val="40000"/>
              </a:srgbClr>
            </a:solidFill>
            <a:prstDash val="solid"/>
          </a:ln>
        </p:spPr>
      </p:sp>
      <p:sp>
        <p:nvSpPr>
          <p:cNvPr id="11" name="Shape 9"/>
          <p:cNvSpPr/>
          <p:nvPr/>
        </p:nvSpPr>
        <p:spPr>
          <a:xfrm>
            <a:off x="7132320" y="2011680"/>
            <a:ext cx="164592" cy="164592"/>
          </a:xfrm>
          <a:prstGeom prst="rect">
            <a:avLst/>
          </a:prstGeom>
          <a:solidFill>
            <a:srgbClr val="00D4AA">
              <a:alpha val="28000"/>
            </a:srgbClr>
          </a:solidFill>
          <a:ln w="12700">
            <a:solidFill>
              <a:srgbClr val="00D4AA">
                <a:alpha val="28000"/>
              </a:srgbClr>
            </a:solidFill>
            <a:prstDash val="solid"/>
          </a:ln>
        </p:spPr>
      </p:sp>
      <p:sp>
        <p:nvSpPr>
          <p:cNvPr id="12" name="Shape 10"/>
          <p:cNvSpPr/>
          <p:nvPr/>
        </p:nvSpPr>
        <p:spPr>
          <a:xfrm>
            <a:off x="7772400" y="2560320"/>
            <a:ext cx="164592" cy="164592"/>
          </a:xfrm>
          <a:prstGeom prst="rect">
            <a:avLst/>
          </a:prstGeom>
          <a:solidFill>
            <a:srgbClr val="00D4AA">
              <a:alpha val="16000"/>
            </a:srgbClr>
          </a:solidFill>
          <a:ln w="12700">
            <a:solidFill>
              <a:srgbClr val="00D4AA">
                <a:alpha val="16000"/>
              </a:srgbClr>
            </a:solidFill>
            <a:prstDash val="solid"/>
          </a:ln>
        </p:spPr>
      </p:sp>
      <p:sp>
        <p:nvSpPr>
          <p:cNvPr id="13" name="Shape 11"/>
          <p:cNvSpPr/>
          <p:nvPr/>
        </p:nvSpPr>
        <p:spPr>
          <a:xfrm>
            <a:off x="6583680" y="3200400"/>
            <a:ext cx="164592" cy="164592"/>
          </a:xfrm>
          <a:prstGeom prst="rect">
            <a:avLst/>
          </a:prstGeom>
          <a:solidFill>
            <a:srgbClr val="00D4AA">
              <a:alpha val="40000"/>
            </a:srgbClr>
          </a:solidFill>
          <a:ln w="12700">
            <a:solidFill>
              <a:srgbClr val="00D4AA">
                <a:alpha val="40000"/>
              </a:srgbClr>
            </a:solidFill>
            <a:prstDash val="solid"/>
          </a:ln>
        </p:spPr>
      </p:sp>
      <p:sp>
        <p:nvSpPr>
          <p:cNvPr id="14" name="Shape 12"/>
          <p:cNvSpPr/>
          <p:nvPr/>
        </p:nvSpPr>
        <p:spPr>
          <a:xfrm>
            <a:off x="7315200" y="2926080"/>
            <a:ext cx="164592" cy="164592"/>
          </a:xfrm>
          <a:prstGeom prst="rect">
            <a:avLst/>
          </a:prstGeom>
          <a:solidFill>
            <a:srgbClr val="00D4AA">
              <a:alpha val="28000"/>
            </a:srgbClr>
          </a:solidFill>
          <a:ln w="12700">
            <a:solidFill>
              <a:srgbClr val="00D4AA">
                <a:alpha val="28000"/>
              </a:srgbClr>
            </a:solidFill>
            <a:prstDash val="solid"/>
          </a:ln>
        </p:spPr>
      </p:sp>
      <p:sp>
        <p:nvSpPr>
          <p:cNvPr id="15" name="Shape 13"/>
          <p:cNvSpPr/>
          <p:nvPr/>
        </p:nvSpPr>
        <p:spPr>
          <a:xfrm>
            <a:off x="8046720" y="3474720"/>
            <a:ext cx="164592" cy="164592"/>
          </a:xfrm>
          <a:prstGeom prst="rect">
            <a:avLst/>
          </a:prstGeom>
          <a:solidFill>
            <a:srgbClr val="00D4AA">
              <a:alpha val="16000"/>
            </a:srgbClr>
          </a:solidFill>
          <a:ln w="12700">
            <a:solidFill>
              <a:srgbClr val="00D4AA">
                <a:alpha val="16000"/>
              </a:srgbClr>
            </a:solidFill>
            <a:prstDash val="solid"/>
          </a:ln>
        </p:spPr>
      </p:sp>
      <p:sp>
        <p:nvSpPr>
          <p:cNvPr id="16" name="Shape 14"/>
          <p:cNvSpPr/>
          <p:nvPr/>
        </p:nvSpPr>
        <p:spPr>
          <a:xfrm>
            <a:off x="6492240" y="4023360"/>
            <a:ext cx="164592" cy="164592"/>
          </a:xfrm>
          <a:prstGeom prst="rect">
            <a:avLst/>
          </a:prstGeom>
          <a:solidFill>
            <a:srgbClr val="00D4AA">
              <a:alpha val="40000"/>
            </a:srgbClr>
          </a:solidFill>
          <a:ln w="12700">
            <a:solidFill>
              <a:srgbClr val="00D4AA">
                <a:alpha val="40000"/>
              </a:srgbClr>
            </a:solidFill>
            <a:prstDash val="solid"/>
          </a:ln>
        </p:spPr>
      </p:sp>
      <p:sp>
        <p:nvSpPr>
          <p:cNvPr id="17" name="Shape 15"/>
          <p:cNvSpPr/>
          <p:nvPr/>
        </p:nvSpPr>
        <p:spPr>
          <a:xfrm>
            <a:off x="7223760" y="3749040"/>
            <a:ext cx="164592" cy="164592"/>
          </a:xfrm>
          <a:prstGeom prst="rect">
            <a:avLst/>
          </a:prstGeom>
          <a:solidFill>
            <a:srgbClr val="00D4AA">
              <a:alpha val="28000"/>
            </a:srgbClr>
          </a:solidFill>
          <a:ln w="12700">
            <a:solidFill>
              <a:srgbClr val="00D4AA">
                <a:alpha val="28000"/>
              </a:srgbClr>
            </a:solidFill>
            <a:prstDash val="solid"/>
          </a:ln>
        </p:spPr>
      </p:sp>
      <p:sp>
        <p:nvSpPr>
          <p:cNvPr id="18" name="Shape 16"/>
          <p:cNvSpPr/>
          <p:nvPr/>
        </p:nvSpPr>
        <p:spPr>
          <a:xfrm>
            <a:off x="7955280" y="4297680"/>
            <a:ext cx="164592" cy="164592"/>
          </a:xfrm>
          <a:prstGeom prst="rect">
            <a:avLst/>
          </a:prstGeom>
          <a:solidFill>
            <a:srgbClr val="00D4AA">
              <a:alpha val="16000"/>
            </a:srgbClr>
          </a:solidFill>
          <a:ln w="12700">
            <a:solidFill>
              <a:srgbClr val="00D4AA">
                <a:alpha val="16000"/>
              </a:srgbClr>
            </a:solidFill>
            <a:prstDash val="solid"/>
          </a:ln>
        </p:spPr>
      </p:sp>
      <p:sp>
        <p:nvSpPr>
          <p:cNvPr id="19" name="Shape 17"/>
          <p:cNvSpPr/>
          <p:nvPr/>
        </p:nvSpPr>
        <p:spPr>
          <a:xfrm>
            <a:off x="0" y="3493008"/>
            <a:ext cx="5888736" cy="36576"/>
          </a:xfrm>
          <a:prstGeom prst="rect">
            <a:avLst/>
          </a:prstGeom>
          <a:solidFill>
            <a:srgbClr val="00D4AA"/>
          </a:solidFill>
          <a:ln w="12700">
            <a:solidFill>
              <a:srgbClr val="00D4AA"/>
            </a:solidFill>
            <a:prstDash val="solid"/>
          </a:ln>
        </p:spPr>
      </p:sp>
      <p:sp>
        <p:nvSpPr>
          <p:cNvPr id="20" name="Text 18"/>
          <p:cNvSpPr/>
          <p:nvPr/>
        </p:nvSpPr>
        <p:spPr>
          <a:xfrm>
            <a:off x="502920" y="868680"/>
            <a:ext cx="5212080" cy="868680"/>
          </a:xfrm>
          <a:prstGeom prst="rect">
            <a:avLst/>
          </a:prstGeom>
          <a:noFill/>
          <a:ln/>
        </p:spPr>
        <p:txBody>
          <a:bodyPr wrap="square" lIns="0" tIns="0" rIns="0" bIns="0" rtlCol="0" anchor="ctr"/>
          <a:lstStyle/>
          <a:p>
            <a:pPr indent="0" marL="0">
              <a:buNone/>
            </a:pPr>
            <a:r>
              <a:rPr lang="en-US" sz="7200" b="1" spc="1200" kern="0" dirty="0">
                <a:solidFill>
                  <a:srgbClr val="FFFFFF"/>
                </a:solidFill>
                <a:latin typeface="Calibri" pitchFamily="34" charset="0"/>
                <a:ea typeface="Calibri" pitchFamily="34" charset="-122"/>
                <a:cs typeface="Calibri" pitchFamily="34" charset="-120"/>
              </a:rPr>
              <a:t>CANON</a:t>
            </a:r>
            <a:endParaRPr lang="en-US" sz="7200" dirty="0"/>
          </a:p>
        </p:txBody>
      </p:sp>
      <p:sp>
        <p:nvSpPr>
          <p:cNvPr id="21" name="Text 19"/>
          <p:cNvSpPr/>
          <p:nvPr/>
        </p:nvSpPr>
        <p:spPr>
          <a:xfrm>
            <a:off x="502920" y="1691640"/>
            <a:ext cx="5212080" cy="548640"/>
          </a:xfrm>
          <a:prstGeom prst="rect">
            <a:avLst/>
          </a:prstGeom>
          <a:noFill/>
          <a:ln/>
        </p:spPr>
        <p:txBody>
          <a:bodyPr wrap="square" lIns="0" tIns="0" rIns="0" bIns="0" rtlCol="0" anchor="ctr"/>
          <a:lstStyle/>
          <a:p>
            <a:pPr indent="0" marL="0">
              <a:buNone/>
            </a:pPr>
            <a:r>
              <a:rPr lang="en-US" sz="3200" spc="1800" kern="0" dirty="0">
                <a:solidFill>
                  <a:srgbClr val="00D4AA"/>
                </a:solidFill>
                <a:latin typeface="Calibri" pitchFamily="34" charset="0"/>
                <a:ea typeface="Calibri" pitchFamily="34" charset="-122"/>
                <a:cs typeface="Calibri" pitchFamily="34" charset="-120"/>
              </a:rPr>
              <a:t>SYSTEMS</a:t>
            </a:r>
            <a:endParaRPr lang="en-US" sz="3200" dirty="0"/>
          </a:p>
        </p:txBody>
      </p:sp>
      <p:sp>
        <p:nvSpPr>
          <p:cNvPr id="22" name="Text 20"/>
          <p:cNvSpPr/>
          <p:nvPr/>
        </p:nvSpPr>
        <p:spPr>
          <a:xfrm>
            <a:off x="502920" y="2423160"/>
            <a:ext cx="5166360" cy="960120"/>
          </a:xfrm>
          <a:prstGeom prst="rect">
            <a:avLst/>
          </a:prstGeom>
          <a:noFill/>
          <a:ln/>
        </p:spPr>
        <p:txBody>
          <a:bodyPr wrap="square" lIns="0" tIns="0" rIns="0" bIns="0" rtlCol="0" anchor="ctr"/>
          <a:lstStyle/>
          <a:p>
            <a:pPr indent="0" marL="0">
              <a:buNone/>
            </a:pPr>
            <a:r>
              <a:rPr lang="en-US" sz="1500" dirty="0">
                <a:solidFill>
                  <a:srgbClr val="94A3B8"/>
                </a:solidFill>
                <a:latin typeface="Calibri" pitchFamily="34" charset="0"/>
                <a:ea typeface="Calibri" pitchFamily="34" charset="-122"/>
                <a:cs typeface="Calibri" pitchFamily="34" charset="-120"/>
              </a:rPr>
              <a:t>Memory. Governance. Evidence.</a:t>
            </a:r>
            <a:endParaRPr lang="en-US" sz="1500" dirty="0"/>
          </a:p>
          <a:p>
            <a:pPr indent="0" marL="0">
              <a:buNone/>
            </a:pPr>
            <a:r>
              <a:rPr lang="en-US" sz="1500" dirty="0">
                <a:solidFill>
                  <a:srgbClr val="94A3B8"/>
                </a:solidFill>
                <a:latin typeface="Calibri" pitchFamily="34" charset="0"/>
                <a:ea typeface="Calibri" pitchFamily="34" charset="-122"/>
                <a:cs typeface="Calibri" pitchFamily="34" charset="-120"/>
              </a:rPr>
              <a:t>The operator platform for serious AI-assisted software work.</a:t>
            </a:r>
            <a:endParaRPr lang="en-US" sz="1500" dirty="0"/>
          </a:p>
        </p:txBody>
      </p:sp>
      <p:sp>
        <p:nvSpPr>
          <p:cNvPr id="23" name="Shape 21"/>
          <p:cNvSpPr/>
          <p:nvPr/>
        </p:nvSpPr>
        <p:spPr>
          <a:xfrm>
            <a:off x="502920" y="3566160"/>
            <a:ext cx="54864" cy="256032"/>
          </a:xfrm>
          <a:prstGeom prst="rect">
            <a:avLst/>
          </a:prstGeom>
          <a:solidFill>
            <a:srgbClr val="00D4AA"/>
          </a:solidFill>
          <a:ln w="12700">
            <a:solidFill>
              <a:srgbClr val="00D4AA"/>
            </a:solidFill>
            <a:prstDash val="solid"/>
          </a:ln>
        </p:spPr>
      </p:sp>
      <p:sp>
        <p:nvSpPr>
          <p:cNvPr id="24" name="Text 22"/>
          <p:cNvSpPr/>
          <p:nvPr/>
        </p:nvSpPr>
        <p:spPr>
          <a:xfrm>
            <a:off x="658368" y="3566160"/>
            <a:ext cx="4754880" cy="256032"/>
          </a:xfrm>
          <a:prstGeom prst="rect">
            <a:avLst/>
          </a:prstGeom>
          <a:noFill/>
          <a:ln/>
        </p:spPr>
        <p:txBody>
          <a:bodyPr wrap="square" lIns="0" tIns="0" rIns="0" bIns="0" rtlCol="0" anchor="ctr"/>
          <a:lstStyle/>
          <a:p>
            <a:pPr indent="0" marL="0">
              <a:buNone/>
            </a:pPr>
            <a:r>
              <a:rPr lang="en-US" sz="1200" dirty="0">
                <a:solidFill>
                  <a:srgbClr val="4B7A9F"/>
                </a:solidFill>
                <a:latin typeface="Calibri" pitchFamily="34" charset="0"/>
                <a:ea typeface="Calibri" pitchFamily="34" charset="-122"/>
                <a:cs typeface="Calibri" pitchFamily="34" charset="-120"/>
              </a:rPr>
              <a:t>CLI + Cursor-native · AWS-backed</a:t>
            </a:r>
            <a:endParaRPr lang="en-US" sz="1200" dirty="0"/>
          </a:p>
        </p:txBody>
      </p:sp>
      <p:sp>
        <p:nvSpPr>
          <p:cNvPr id="25" name="Shape 23"/>
          <p:cNvSpPr/>
          <p:nvPr/>
        </p:nvSpPr>
        <p:spPr>
          <a:xfrm>
            <a:off x="502920" y="3977640"/>
            <a:ext cx="54864" cy="256032"/>
          </a:xfrm>
          <a:prstGeom prst="rect">
            <a:avLst/>
          </a:prstGeom>
          <a:solidFill>
            <a:srgbClr val="00D4AA"/>
          </a:solidFill>
          <a:ln w="12700">
            <a:solidFill>
              <a:srgbClr val="00D4AA"/>
            </a:solidFill>
            <a:prstDash val="solid"/>
          </a:ln>
        </p:spPr>
      </p:sp>
      <p:sp>
        <p:nvSpPr>
          <p:cNvPr id="26" name="Text 24"/>
          <p:cNvSpPr/>
          <p:nvPr/>
        </p:nvSpPr>
        <p:spPr>
          <a:xfrm>
            <a:off x="658368" y="3977640"/>
            <a:ext cx="4754880" cy="256032"/>
          </a:xfrm>
          <a:prstGeom prst="rect">
            <a:avLst/>
          </a:prstGeom>
          <a:noFill/>
          <a:ln/>
        </p:spPr>
        <p:txBody>
          <a:bodyPr wrap="square" lIns="0" tIns="0" rIns="0" bIns="0" rtlCol="0" anchor="ctr"/>
          <a:lstStyle/>
          <a:p>
            <a:pPr indent="0" marL="0">
              <a:buNone/>
            </a:pPr>
            <a:r>
              <a:rPr lang="en-US" sz="1200" dirty="0">
                <a:solidFill>
                  <a:srgbClr val="4B7A9F"/>
                </a:solidFill>
                <a:latin typeface="Calibri" pitchFamily="34" charset="0"/>
                <a:ea typeface="Calibri" pitchFamily="34" charset="-122"/>
                <a:cs typeface="Calibri" pitchFamily="34" charset="-120"/>
              </a:rPr>
              <a:t>32 slides · Full technical walkthrough</a:t>
            </a:r>
            <a:endParaRPr lang="en-US" sz="1200" dirty="0"/>
          </a:p>
        </p:txBody>
      </p:sp>
      <p:sp>
        <p:nvSpPr>
          <p:cNvPr id="27" name="Shape 25"/>
          <p:cNvSpPr/>
          <p:nvPr/>
        </p:nvSpPr>
        <p:spPr>
          <a:xfrm>
            <a:off x="6016752" y="4434840"/>
            <a:ext cx="2971800" cy="438912"/>
          </a:xfrm>
          <a:prstGeom prst="rect">
            <a:avLst/>
          </a:prstGeom>
          <a:solidFill>
            <a:srgbClr val="00D4AA"/>
          </a:solidFill>
          <a:ln w="12700">
            <a:solidFill>
              <a:srgbClr val="00D4AA"/>
            </a:solidFill>
            <a:prstDash val="solid"/>
          </a:ln>
        </p:spPr>
      </p:sp>
      <p:sp>
        <p:nvSpPr>
          <p:cNvPr id="28" name="Text 26"/>
          <p:cNvSpPr/>
          <p:nvPr/>
        </p:nvSpPr>
        <p:spPr>
          <a:xfrm>
            <a:off x="6016752" y="4434840"/>
            <a:ext cx="2971800" cy="438912"/>
          </a:xfrm>
          <a:prstGeom prst="rect">
            <a:avLst/>
          </a:prstGeom>
          <a:noFill/>
          <a:ln/>
        </p:spPr>
        <p:txBody>
          <a:bodyPr wrap="square" lIns="0" tIns="0" rIns="0" bIns="0" rtlCol="0" anchor="ctr"/>
          <a:lstStyle/>
          <a:p>
            <a:pPr algn="ctr" indent="0" marL="0">
              <a:buNone/>
            </a:pPr>
            <a:r>
              <a:rPr lang="en-US" sz="900" b="1" spc="200" kern="0" dirty="0">
                <a:solidFill>
                  <a:srgbClr val="0D1117"/>
                </a:solidFill>
                <a:latin typeface="Calibri" pitchFamily="34" charset="0"/>
                <a:ea typeface="Calibri" pitchFamily="34" charset="-122"/>
                <a:cs typeface="Calibri" pitchFamily="34" charset="-120"/>
              </a:rPr>
              <a:t>FULL WALKTHROUGH · MAY 2026</a:t>
            </a:r>
            <a:endParaRPr lang="en-US" sz="900" dirty="0"/>
          </a:p>
        </p:txBody>
      </p:sp>
      <p:sp>
        <p:nvSpPr>
          <p:cNvPr id="29" name="Text 27"/>
          <p:cNvSpPr/>
          <p:nvPr/>
        </p:nvSpPr>
        <p:spPr>
          <a:xfrm>
            <a:off x="502920" y="4617720"/>
            <a:ext cx="1828800" cy="27432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May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0"/>
            <a:ext cx="109728" cy="658368"/>
          </a:xfrm>
          <a:prstGeom prst="rect">
            <a:avLst/>
          </a:prstGeom>
          <a:solidFill>
            <a:srgbClr val="00D4AA"/>
          </a:solidFill>
          <a:ln w="12700">
            <a:solidFill>
              <a:srgbClr val="00D4AA"/>
            </a:solidFill>
            <a:prstDash val="solid"/>
          </a:ln>
        </p:spPr>
      </p:sp>
      <p:sp>
        <p:nvSpPr>
          <p:cNvPr id="4" name="Text 2"/>
          <p:cNvSpPr/>
          <p:nvPr/>
        </p:nvSpPr>
        <p:spPr>
          <a:xfrm>
            <a:off x="219456" y="0"/>
            <a:ext cx="685800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The Problem With AI-Assisted Coding Today</a:t>
            </a:r>
            <a:endParaRPr lang="en-US" sz="2100" dirty="0"/>
          </a:p>
        </p:txBody>
      </p:sp>
      <p:sp>
        <p:nvSpPr>
          <p:cNvPr id="5" name="Text 3"/>
          <p:cNvSpPr/>
          <p:nvPr/>
        </p:nvSpPr>
        <p:spPr>
          <a:xfrm>
            <a:off x="219456" y="0"/>
            <a:ext cx="8778240" cy="658368"/>
          </a:xfrm>
          <a:prstGeom prst="rect">
            <a:avLst/>
          </a:prstGeom>
          <a:noFill/>
          <a:ln/>
        </p:spPr>
        <p:txBody>
          <a:bodyPr wrap="square" lIns="0" tIns="0" rIns="0" bIns="0" rtlCol="0" anchor="ctr"/>
          <a:lstStyle/>
          <a:p>
            <a:pPr algn="r" indent="0" marL="0">
              <a:buNone/>
            </a:pPr>
            <a:r>
              <a:rPr lang="en-US" sz="1000" dirty="0">
                <a:solidFill>
                  <a:srgbClr val="4B6A8A"/>
                </a:solidFill>
                <a:latin typeface="Calibri" pitchFamily="34" charset="0"/>
                <a:ea typeface="Calibri" pitchFamily="34" charset="-122"/>
                <a:cs typeface="Calibri" pitchFamily="34" charset="-120"/>
              </a:rPr>
              <a:t>Context</a:t>
            </a:r>
            <a:endParaRPr lang="en-US" sz="1000" dirty="0"/>
          </a:p>
        </p:txBody>
      </p:sp>
      <p:sp>
        <p:nvSpPr>
          <p:cNvPr id="6" name="Text 4"/>
          <p:cNvSpPr/>
          <p:nvPr/>
        </p:nvSpPr>
        <p:spPr>
          <a:xfrm>
            <a:off x="365760" y="768096"/>
            <a:ext cx="8412480" cy="347472"/>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AI agents are powerful — but they're amnesiac, ungoverned, and unauditable.</a:t>
            </a:r>
            <a:endParaRPr lang="en-US" sz="1400" dirty="0"/>
          </a:p>
        </p:txBody>
      </p:sp>
      <p:sp>
        <p:nvSpPr>
          <p:cNvPr id="7" name="Shape 5"/>
          <p:cNvSpPr/>
          <p:nvPr/>
        </p:nvSpPr>
        <p:spPr>
          <a:xfrm>
            <a:off x="347472" y="1261872"/>
            <a:ext cx="2724912" cy="340156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8" name="Shape 6"/>
          <p:cNvSpPr/>
          <p:nvPr/>
        </p:nvSpPr>
        <p:spPr>
          <a:xfrm>
            <a:off x="347472" y="1261872"/>
            <a:ext cx="64008" cy="3401568"/>
          </a:xfrm>
          <a:prstGeom prst="rect">
            <a:avLst/>
          </a:prstGeom>
          <a:solidFill>
            <a:srgbClr val="EF4444"/>
          </a:solidFill>
          <a:ln w="12700">
            <a:solidFill>
              <a:srgbClr val="EF4444"/>
            </a:solidFill>
            <a:prstDash val="solid"/>
          </a:ln>
        </p:spPr>
      </p:sp>
      <p:sp>
        <p:nvSpPr>
          <p:cNvPr id="9" name="Shape 7"/>
          <p:cNvSpPr/>
          <p:nvPr/>
        </p:nvSpPr>
        <p:spPr>
          <a:xfrm>
            <a:off x="484632" y="1417320"/>
            <a:ext cx="512064" cy="512064"/>
          </a:xfrm>
          <a:prstGeom prst="ellipse">
            <a:avLst/>
          </a:prstGeom>
          <a:solidFill>
            <a:srgbClr val="EF4444"/>
          </a:solidFill>
          <a:ln w="12700">
            <a:solidFill>
              <a:srgbClr val="EF4444"/>
            </a:solidFill>
            <a:prstDash val="solid"/>
          </a:ln>
        </p:spPr>
      </p:sp>
      <p:sp>
        <p:nvSpPr>
          <p:cNvPr id="10" name="Text 8"/>
          <p:cNvSpPr/>
          <p:nvPr/>
        </p:nvSpPr>
        <p:spPr>
          <a:xfrm>
            <a:off x="484632" y="1417320"/>
            <a:ext cx="512064" cy="51206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①</a:t>
            </a:r>
            <a:endParaRPr lang="en-US" sz="1000" dirty="0"/>
          </a:p>
        </p:txBody>
      </p:sp>
      <p:sp>
        <p:nvSpPr>
          <p:cNvPr id="11" name="Text 9"/>
          <p:cNvSpPr/>
          <p:nvPr/>
        </p:nvSpPr>
        <p:spPr>
          <a:xfrm>
            <a:off x="530352" y="2029968"/>
            <a:ext cx="2395728" cy="475488"/>
          </a:xfrm>
          <a:prstGeom prst="rect">
            <a:avLst/>
          </a:prstGeom>
          <a:noFill/>
          <a:ln/>
        </p:spPr>
        <p:txBody>
          <a:bodyPr wrap="square" lIns="0" tIns="0" rIns="0" bIns="0" rtlCol="0" anchor="ctr"/>
          <a:lstStyle/>
          <a:p>
            <a:pPr indent="0" marL="0">
              <a:buNone/>
            </a:pPr>
            <a:r>
              <a:rPr lang="en-US" sz="1400" b="1" dirty="0">
                <a:solidFill>
                  <a:srgbClr val="0D1117"/>
                </a:solidFill>
                <a:latin typeface="Calibri" pitchFamily="34" charset="0"/>
                <a:ea typeface="Calibri" pitchFamily="34" charset="-122"/>
                <a:cs typeface="Calibri" pitchFamily="34" charset="-120"/>
              </a:rPr>
              <a:t>No durable memory</a:t>
            </a:r>
            <a:endParaRPr lang="en-US" sz="1400" dirty="0"/>
          </a:p>
        </p:txBody>
      </p:sp>
      <p:sp>
        <p:nvSpPr>
          <p:cNvPr id="12" name="Text 10"/>
          <p:cNvSpPr/>
          <p:nvPr/>
        </p:nvSpPr>
        <p:spPr>
          <a:xfrm>
            <a:off x="530352" y="2523744"/>
            <a:ext cx="2395728" cy="20116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Context dies with the chat window. The same decisions get re-litigated across sessions, repos, and engineers — because nothing persists where it can be found.</a:t>
            </a:r>
            <a:endParaRPr lang="en-US" sz="1100" dirty="0"/>
          </a:p>
        </p:txBody>
      </p:sp>
      <p:sp>
        <p:nvSpPr>
          <p:cNvPr id="13" name="Shape 11"/>
          <p:cNvSpPr/>
          <p:nvPr/>
        </p:nvSpPr>
        <p:spPr>
          <a:xfrm>
            <a:off x="3200400" y="1261872"/>
            <a:ext cx="2724912" cy="340156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14" name="Shape 12"/>
          <p:cNvSpPr/>
          <p:nvPr/>
        </p:nvSpPr>
        <p:spPr>
          <a:xfrm>
            <a:off x="3200400" y="1261872"/>
            <a:ext cx="64008" cy="3401568"/>
          </a:xfrm>
          <a:prstGeom prst="rect">
            <a:avLst/>
          </a:prstGeom>
          <a:solidFill>
            <a:srgbClr val="F97316"/>
          </a:solidFill>
          <a:ln w="12700">
            <a:solidFill>
              <a:srgbClr val="F97316"/>
            </a:solidFill>
            <a:prstDash val="solid"/>
          </a:ln>
        </p:spPr>
      </p:sp>
      <p:sp>
        <p:nvSpPr>
          <p:cNvPr id="15" name="Shape 13"/>
          <p:cNvSpPr/>
          <p:nvPr/>
        </p:nvSpPr>
        <p:spPr>
          <a:xfrm>
            <a:off x="3337560" y="1417320"/>
            <a:ext cx="512064" cy="512064"/>
          </a:xfrm>
          <a:prstGeom prst="ellipse">
            <a:avLst/>
          </a:prstGeom>
          <a:solidFill>
            <a:srgbClr val="F97316"/>
          </a:solidFill>
          <a:ln w="12700">
            <a:solidFill>
              <a:srgbClr val="F97316"/>
            </a:solidFill>
            <a:prstDash val="solid"/>
          </a:ln>
        </p:spPr>
      </p:sp>
      <p:sp>
        <p:nvSpPr>
          <p:cNvPr id="16" name="Text 14"/>
          <p:cNvSpPr/>
          <p:nvPr/>
        </p:nvSpPr>
        <p:spPr>
          <a:xfrm>
            <a:off x="3337560" y="1417320"/>
            <a:ext cx="512064" cy="51206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②</a:t>
            </a:r>
            <a:endParaRPr lang="en-US" sz="1000" dirty="0"/>
          </a:p>
        </p:txBody>
      </p:sp>
      <p:sp>
        <p:nvSpPr>
          <p:cNvPr id="17" name="Text 15"/>
          <p:cNvSpPr/>
          <p:nvPr/>
        </p:nvSpPr>
        <p:spPr>
          <a:xfrm>
            <a:off x="3383280" y="2029968"/>
            <a:ext cx="2395728" cy="475488"/>
          </a:xfrm>
          <a:prstGeom prst="rect">
            <a:avLst/>
          </a:prstGeom>
          <a:noFill/>
          <a:ln/>
        </p:spPr>
        <p:txBody>
          <a:bodyPr wrap="square" lIns="0" tIns="0" rIns="0" bIns="0" rtlCol="0" anchor="ctr"/>
          <a:lstStyle/>
          <a:p>
            <a:pPr indent="0" marL="0">
              <a:buNone/>
            </a:pPr>
            <a:r>
              <a:rPr lang="en-US" sz="1400" b="1" dirty="0">
                <a:solidFill>
                  <a:srgbClr val="0D1117"/>
                </a:solidFill>
                <a:latin typeface="Calibri" pitchFamily="34" charset="0"/>
                <a:ea typeface="Calibri" pitchFamily="34" charset="-122"/>
                <a:cs typeface="Calibri" pitchFamily="34" charset="-120"/>
              </a:rPr>
              <a:t>No governance or chain of custody</a:t>
            </a:r>
            <a:endParaRPr lang="en-US" sz="1400" dirty="0"/>
          </a:p>
        </p:txBody>
      </p:sp>
      <p:sp>
        <p:nvSpPr>
          <p:cNvPr id="18" name="Text 16"/>
          <p:cNvSpPr/>
          <p:nvPr/>
        </p:nvSpPr>
        <p:spPr>
          <a:xfrm>
            <a:off x="3383280" y="2523744"/>
            <a:ext cx="2395728" cy="20116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Agents write code, create PRs, and merge changes without structured evidence. There's no packet saying what was decided, what was tested, and why it shipped.</a:t>
            </a:r>
            <a:endParaRPr lang="en-US" sz="1100" dirty="0"/>
          </a:p>
        </p:txBody>
      </p:sp>
      <p:sp>
        <p:nvSpPr>
          <p:cNvPr id="19" name="Shape 17"/>
          <p:cNvSpPr/>
          <p:nvPr/>
        </p:nvSpPr>
        <p:spPr>
          <a:xfrm>
            <a:off x="6053328" y="1261872"/>
            <a:ext cx="2724912" cy="340156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20" name="Shape 18"/>
          <p:cNvSpPr/>
          <p:nvPr/>
        </p:nvSpPr>
        <p:spPr>
          <a:xfrm>
            <a:off x="6053328" y="1261872"/>
            <a:ext cx="64008" cy="3401568"/>
          </a:xfrm>
          <a:prstGeom prst="rect">
            <a:avLst/>
          </a:prstGeom>
          <a:solidFill>
            <a:srgbClr val="8B5CF6"/>
          </a:solidFill>
          <a:ln w="12700">
            <a:solidFill>
              <a:srgbClr val="8B5CF6"/>
            </a:solidFill>
            <a:prstDash val="solid"/>
          </a:ln>
        </p:spPr>
      </p:sp>
      <p:sp>
        <p:nvSpPr>
          <p:cNvPr id="21" name="Shape 19"/>
          <p:cNvSpPr/>
          <p:nvPr/>
        </p:nvSpPr>
        <p:spPr>
          <a:xfrm>
            <a:off x="6190488" y="1417320"/>
            <a:ext cx="512064" cy="512064"/>
          </a:xfrm>
          <a:prstGeom prst="ellipse">
            <a:avLst/>
          </a:prstGeom>
          <a:solidFill>
            <a:srgbClr val="8B5CF6"/>
          </a:solidFill>
          <a:ln w="12700">
            <a:solidFill>
              <a:srgbClr val="8B5CF6"/>
            </a:solidFill>
            <a:prstDash val="solid"/>
          </a:ln>
        </p:spPr>
      </p:sp>
      <p:sp>
        <p:nvSpPr>
          <p:cNvPr id="22" name="Text 20"/>
          <p:cNvSpPr/>
          <p:nvPr/>
        </p:nvSpPr>
        <p:spPr>
          <a:xfrm>
            <a:off x="6190488" y="1417320"/>
            <a:ext cx="512064" cy="51206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③</a:t>
            </a:r>
            <a:endParaRPr lang="en-US" sz="1000" dirty="0"/>
          </a:p>
        </p:txBody>
      </p:sp>
      <p:sp>
        <p:nvSpPr>
          <p:cNvPr id="23" name="Text 21"/>
          <p:cNvSpPr/>
          <p:nvPr/>
        </p:nvSpPr>
        <p:spPr>
          <a:xfrm>
            <a:off x="6236208" y="2029968"/>
            <a:ext cx="2395728" cy="475488"/>
          </a:xfrm>
          <a:prstGeom prst="rect">
            <a:avLst/>
          </a:prstGeom>
          <a:noFill/>
          <a:ln/>
        </p:spPr>
        <p:txBody>
          <a:bodyPr wrap="square" lIns="0" tIns="0" rIns="0" bIns="0" rtlCol="0" anchor="ctr"/>
          <a:lstStyle/>
          <a:p>
            <a:pPr indent="0" marL="0">
              <a:buNone/>
            </a:pPr>
            <a:r>
              <a:rPr lang="en-US" sz="1400" b="1" dirty="0">
                <a:solidFill>
                  <a:srgbClr val="0D1117"/>
                </a:solidFill>
                <a:latin typeface="Calibri" pitchFamily="34" charset="0"/>
                <a:ea typeface="Calibri" pitchFamily="34" charset="-122"/>
                <a:cs typeface="Calibri" pitchFamily="34" charset="-120"/>
              </a:rPr>
              <a:t>No organizational memory across repos</a:t>
            </a:r>
            <a:endParaRPr lang="en-US" sz="1400" dirty="0"/>
          </a:p>
        </p:txBody>
      </p:sp>
      <p:sp>
        <p:nvSpPr>
          <p:cNvPr id="24" name="Text 22"/>
          <p:cNvSpPr/>
          <p:nvPr/>
        </p:nvSpPr>
        <p:spPr>
          <a:xfrm>
            <a:off x="6236208" y="2523744"/>
            <a:ext cx="2395728" cy="20116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Even teams with solid tooling lose institutional knowledge when work moves to a new repository or sprint. Tenants, codebases, and decisions are siloed.</a:t>
            </a:r>
            <a:endParaRPr lang="en-US" sz="1100" dirty="0"/>
          </a:p>
        </p:txBody>
      </p:sp>
      <p:sp>
        <p:nvSpPr>
          <p:cNvPr id="25" name="Shape 23"/>
          <p:cNvSpPr/>
          <p:nvPr/>
        </p:nvSpPr>
        <p:spPr>
          <a:xfrm>
            <a:off x="347472" y="4773168"/>
            <a:ext cx="8449056" cy="256032"/>
          </a:xfrm>
          <a:prstGeom prst="rect">
            <a:avLst/>
          </a:prstGeom>
          <a:solidFill>
            <a:srgbClr val="EFF6FF"/>
          </a:solidFill>
          <a:ln w="12700">
            <a:solidFill>
              <a:srgbClr val="BFDBFE"/>
            </a:solidFill>
            <a:prstDash val="solid"/>
          </a:ln>
        </p:spPr>
      </p:sp>
      <p:sp>
        <p:nvSpPr>
          <p:cNvPr id="26" name="Text 24"/>
          <p:cNvSpPr/>
          <p:nvPr/>
        </p:nvSpPr>
        <p:spPr>
          <a:xfrm>
            <a:off x="502920" y="4782312"/>
            <a:ext cx="8229600" cy="237744"/>
          </a:xfrm>
          <a:prstGeom prst="rect">
            <a:avLst/>
          </a:prstGeom>
          <a:noFill/>
          <a:ln/>
        </p:spPr>
        <p:txBody>
          <a:bodyPr wrap="square" lIns="0" tIns="0" rIns="0" bIns="0" rtlCol="0" anchor="ctr"/>
          <a:lstStyle/>
          <a:p>
            <a:pPr algn="ctr" indent="0" marL="0">
              <a:buNone/>
            </a:pPr>
            <a:r>
              <a:rPr lang="en-US" sz="1200" b="1" dirty="0">
                <a:solidFill>
                  <a:srgbClr val="1D4ED8"/>
                </a:solidFill>
                <a:latin typeface="Calibri" pitchFamily="34" charset="0"/>
                <a:ea typeface="Calibri" pitchFamily="34" charset="-122"/>
                <a:cs typeface="Calibri" pitchFamily="34" charset="-120"/>
              </a:rPr>
              <a:t>Canon Systems was built specifically to solve all three.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384048" cy="5143500"/>
          </a:xfrm>
          <a:prstGeom prst="rect">
            <a:avLst/>
          </a:prstGeom>
          <a:solidFill>
            <a:srgbClr val="00D4AA"/>
          </a:solidFill>
          <a:ln w="12700">
            <a:solidFill>
              <a:srgbClr val="00D4AA"/>
            </a:solidFill>
            <a:prstDash val="solid"/>
          </a:ln>
        </p:spPr>
      </p:sp>
      <p:sp>
        <p:nvSpPr>
          <p:cNvPr id="3" name="Text 1"/>
          <p:cNvSpPr/>
          <p:nvPr/>
        </p:nvSpPr>
        <p:spPr>
          <a:xfrm>
            <a:off x="5029200" y="-182880"/>
            <a:ext cx="4389120" cy="3840480"/>
          </a:xfrm>
          <a:prstGeom prst="rect">
            <a:avLst/>
          </a:prstGeom>
          <a:noFill/>
          <a:ln/>
        </p:spPr>
        <p:txBody>
          <a:bodyPr wrap="square" lIns="0" tIns="0" rIns="0" bIns="0" rtlCol="0" anchor="t"/>
          <a:lstStyle/>
          <a:p>
            <a:pPr algn="r" indent="0" marL="0">
              <a:buNone/>
            </a:pPr>
            <a:r>
              <a:rPr lang="en-US" sz="28000" b="1" dirty="0">
                <a:solidFill>
                  <a:srgbClr val="0A1F35"/>
                </a:solidFill>
                <a:latin typeface="Calibri" pitchFamily="34" charset="0"/>
                <a:ea typeface="Calibri" pitchFamily="34" charset="-122"/>
                <a:cs typeface="Calibri" pitchFamily="34" charset="-120"/>
              </a:rPr>
              <a:t>01</a:t>
            </a:r>
            <a:endParaRPr lang="en-US" sz="28000" dirty="0"/>
          </a:p>
        </p:txBody>
      </p:sp>
      <p:sp>
        <p:nvSpPr>
          <p:cNvPr id="4" name="Shape 2"/>
          <p:cNvSpPr/>
          <p:nvPr/>
        </p:nvSpPr>
        <p:spPr>
          <a:xfrm>
            <a:off x="566928" y="1536192"/>
            <a:ext cx="4114800" cy="36576"/>
          </a:xfrm>
          <a:prstGeom prst="rect">
            <a:avLst/>
          </a:prstGeom>
          <a:solidFill>
            <a:srgbClr val="00D4AA"/>
          </a:solidFill>
          <a:ln w="12700">
            <a:solidFill>
              <a:srgbClr val="00D4AA"/>
            </a:solidFill>
            <a:prstDash val="solid"/>
          </a:ln>
        </p:spPr>
      </p:sp>
      <p:sp>
        <p:nvSpPr>
          <p:cNvPr id="5" name="Text 3"/>
          <p:cNvSpPr/>
          <p:nvPr/>
        </p:nvSpPr>
        <p:spPr>
          <a:xfrm>
            <a:off x="566928" y="384048"/>
            <a:ext cx="1828800" cy="822960"/>
          </a:xfrm>
          <a:prstGeom prst="rect">
            <a:avLst/>
          </a:prstGeom>
          <a:noFill/>
          <a:ln/>
        </p:spPr>
        <p:txBody>
          <a:bodyPr wrap="square" lIns="0" tIns="0" rIns="0" bIns="0" rtlCol="0" anchor="ctr"/>
          <a:lstStyle/>
          <a:p>
            <a:pPr indent="0" marL="0">
              <a:buNone/>
            </a:pPr>
            <a:r>
              <a:rPr lang="en-US" sz="5200" b="1" dirty="0">
                <a:solidFill>
                  <a:srgbClr val="1A3050"/>
                </a:solidFill>
                <a:latin typeface="Calibri" pitchFamily="34" charset="0"/>
                <a:ea typeface="Calibri" pitchFamily="34" charset="-122"/>
                <a:cs typeface="Calibri" pitchFamily="34" charset="-120"/>
              </a:rPr>
              <a:t>01</a:t>
            </a:r>
            <a:endParaRPr lang="en-US" sz="5200" dirty="0"/>
          </a:p>
        </p:txBody>
      </p:sp>
      <p:sp>
        <p:nvSpPr>
          <p:cNvPr id="6" name="Text 4"/>
          <p:cNvSpPr/>
          <p:nvPr/>
        </p:nvSpPr>
        <p:spPr>
          <a:xfrm>
            <a:off x="566928" y="1115568"/>
            <a:ext cx="8229600" cy="457200"/>
          </a:xfrm>
          <a:prstGeom prst="rect">
            <a:avLst/>
          </a:prstGeom>
          <a:noFill/>
          <a:ln/>
        </p:spPr>
        <p:txBody>
          <a:bodyPr wrap="square" lIns="0" tIns="0" rIns="0" bIns="0" rtlCol="0" anchor="ctr"/>
          <a:lstStyle/>
          <a:p>
            <a:pPr indent="0" marL="0">
              <a:buNone/>
            </a:pPr>
            <a:r>
              <a:rPr lang="en-US" sz="1100" b="1" spc="500" kern="0" dirty="0">
                <a:solidFill>
                  <a:srgbClr val="00D4AA"/>
                </a:solidFill>
                <a:latin typeface="Calibri" pitchFamily="34" charset="0"/>
                <a:ea typeface="Calibri" pitchFamily="34" charset="-122"/>
                <a:cs typeface="Calibri" pitchFamily="34" charset="-120"/>
              </a:rPr>
              <a:t>WHAT CANON IS</a:t>
            </a:r>
            <a:endParaRPr lang="en-US" sz="1100" dirty="0"/>
          </a:p>
        </p:txBody>
      </p:sp>
      <p:sp>
        <p:nvSpPr>
          <p:cNvPr id="7" name="Text 5"/>
          <p:cNvSpPr/>
          <p:nvPr/>
        </p:nvSpPr>
        <p:spPr>
          <a:xfrm>
            <a:off x="566928" y="1572768"/>
            <a:ext cx="5943600" cy="141732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The operator platform for</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serious AI-assisted software work.</a:t>
            </a:r>
            <a:endParaRPr lang="en-US" sz="3600" dirty="0"/>
          </a:p>
        </p:txBody>
      </p:sp>
      <p:sp>
        <p:nvSpPr>
          <p:cNvPr id="8" name="Shape 6"/>
          <p:cNvSpPr/>
          <p:nvPr/>
        </p:nvSpPr>
        <p:spPr>
          <a:xfrm>
            <a:off x="566928" y="3017520"/>
            <a:ext cx="2029968" cy="1810512"/>
          </a:xfrm>
          <a:prstGeom prst="rect">
            <a:avLst/>
          </a:prstGeom>
          <a:solidFill>
            <a:srgbClr val="0F2035"/>
          </a:solidFill>
          <a:ln w="12700">
            <a:solidFill>
              <a:srgbClr val="1A3050"/>
            </a:solidFill>
            <a:prstDash val="solid"/>
          </a:ln>
        </p:spPr>
      </p:sp>
      <p:sp>
        <p:nvSpPr>
          <p:cNvPr id="9" name="Shape 7"/>
          <p:cNvSpPr/>
          <p:nvPr/>
        </p:nvSpPr>
        <p:spPr>
          <a:xfrm>
            <a:off x="566928" y="3017520"/>
            <a:ext cx="2029968" cy="64008"/>
          </a:xfrm>
          <a:prstGeom prst="rect">
            <a:avLst/>
          </a:prstGeom>
          <a:solidFill>
            <a:srgbClr val="00D4AA"/>
          </a:solidFill>
          <a:ln w="12700">
            <a:solidFill>
              <a:srgbClr val="00D4AA"/>
            </a:solidFill>
            <a:prstDash val="solid"/>
          </a:ln>
        </p:spPr>
      </p:sp>
      <p:sp>
        <p:nvSpPr>
          <p:cNvPr id="10" name="Text 8"/>
          <p:cNvSpPr/>
          <p:nvPr/>
        </p:nvSpPr>
        <p:spPr>
          <a:xfrm>
            <a:off x="676656" y="3136392"/>
            <a:ext cx="182880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Durable Memory</a:t>
            </a:r>
            <a:endParaRPr lang="en-US" sz="1300" dirty="0"/>
          </a:p>
        </p:txBody>
      </p:sp>
      <p:sp>
        <p:nvSpPr>
          <p:cNvPr id="11" name="Text 9"/>
          <p:cNvSpPr/>
          <p:nvPr/>
        </p:nvSpPr>
        <p:spPr>
          <a:xfrm>
            <a:off x="676656" y="3602736"/>
            <a:ext cx="1828800" cy="804672"/>
          </a:xfrm>
          <a:prstGeom prst="rect">
            <a:avLst/>
          </a:prstGeom>
          <a:noFill/>
          <a:ln/>
        </p:spPr>
        <p:txBody>
          <a:bodyPr wrap="square" lIns="0" tIns="0" rIns="0" bIns="0" rtlCol="0" anchor="ctr"/>
          <a:lstStyle/>
          <a:p>
            <a:pPr indent="0" marL="0">
              <a:buNone/>
            </a:pPr>
            <a:r>
              <a:rPr lang="en-US" sz="1100" dirty="0">
                <a:solidFill>
                  <a:srgbClr val="7BA3C4"/>
                </a:solidFill>
                <a:latin typeface="Calibri" pitchFamily="34" charset="0"/>
                <a:ea typeface="Calibri" pitchFamily="34" charset="-122"/>
                <a:cs typeface="Calibri" pitchFamily="34" charset="-120"/>
              </a:rPr>
              <a:t>Survives the chat window. Cross-repo.</a:t>
            </a:r>
            <a:endParaRPr lang="en-US" sz="1100" dirty="0"/>
          </a:p>
        </p:txBody>
      </p:sp>
      <p:sp>
        <p:nvSpPr>
          <p:cNvPr id="12" name="Shape 10"/>
          <p:cNvSpPr/>
          <p:nvPr/>
        </p:nvSpPr>
        <p:spPr>
          <a:xfrm>
            <a:off x="2743200" y="3017520"/>
            <a:ext cx="2029968" cy="1810512"/>
          </a:xfrm>
          <a:prstGeom prst="rect">
            <a:avLst/>
          </a:prstGeom>
          <a:solidFill>
            <a:srgbClr val="0F2035"/>
          </a:solidFill>
          <a:ln w="12700">
            <a:solidFill>
              <a:srgbClr val="1A3050"/>
            </a:solidFill>
            <a:prstDash val="solid"/>
          </a:ln>
        </p:spPr>
      </p:sp>
      <p:sp>
        <p:nvSpPr>
          <p:cNvPr id="13" name="Shape 11"/>
          <p:cNvSpPr/>
          <p:nvPr/>
        </p:nvSpPr>
        <p:spPr>
          <a:xfrm>
            <a:off x="2743200" y="3017520"/>
            <a:ext cx="2029968" cy="64008"/>
          </a:xfrm>
          <a:prstGeom prst="rect">
            <a:avLst/>
          </a:prstGeom>
          <a:solidFill>
            <a:srgbClr val="00D4AA"/>
          </a:solidFill>
          <a:ln w="12700">
            <a:solidFill>
              <a:srgbClr val="00D4AA"/>
            </a:solidFill>
            <a:prstDash val="solid"/>
          </a:ln>
        </p:spPr>
      </p:sp>
      <p:sp>
        <p:nvSpPr>
          <p:cNvPr id="14" name="Text 12"/>
          <p:cNvSpPr/>
          <p:nvPr/>
        </p:nvSpPr>
        <p:spPr>
          <a:xfrm>
            <a:off x="2852928" y="3136392"/>
            <a:ext cx="182880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Disciplined Agent Chain</a:t>
            </a:r>
            <a:endParaRPr lang="en-US" sz="1300" dirty="0"/>
          </a:p>
        </p:txBody>
      </p:sp>
      <p:sp>
        <p:nvSpPr>
          <p:cNvPr id="15" name="Text 13"/>
          <p:cNvSpPr/>
          <p:nvPr/>
        </p:nvSpPr>
        <p:spPr>
          <a:xfrm>
            <a:off x="2852928" y="3602736"/>
            <a:ext cx="1828800" cy="804672"/>
          </a:xfrm>
          <a:prstGeom prst="rect">
            <a:avLst/>
          </a:prstGeom>
          <a:noFill/>
          <a:ln/>
        </p:spPr>
        <p:txBody>
          <a:bodyPr wrap="square" lIns="0" tIns="0" rIns="0" bIns="0" rtlCol="0" anchor="ctr"/>
          <a:lstStyle/>
          <a:p>
            <a:pPr indent="0" marL="0">
              <a:buNone/>
            </a:pPr>
            <a:r>
              <a:rPr lang="en-US" sz="1100" dirty="0">
                <a:solidFill>
                  <a:srgbClr val="7BA3C4"/>
                </a:solidFill>
                <a:latin typeface="Calibri" pitchFamily="34" charset="0"/>
                <a:ea typeface="Calibri" pitchFamily="34" charset="-122"/>
                <a:cs typeface="Calibri" pitchFamily="34" charset="-120"/>
              </a:rPr>
              <a:t>Scoper → Pilot → Implement → QA → Ship</a:t>
            </a:r>
            <a:endParaRPr lang="en-US" sz="1100" dirty="0"/>
          </a:p>
        </p:txBody>
      </p:sp>
      <p:sp>
        <p:nvSpPr>
          <p:cNvPr id="16" name="Shape 14"/>
          <p:cNvSpPr/>
          <p:nvPr/>
        </p:nvSpPr>
        <p:spPr>
          <a:xfrm>
            <a:off x="4919472" y="3017520"/>
            <a:ext cx="2029968" cy="1810512"/>
          </a:xfrm>
          <a:prstGeom prst="rect">
            <a:avLst/>
          </a:prstGeom>
          <a:solidFill>
            <a:srgbClr val="0F2035"/>
          </a:solidFill>
          <a:ln w="12700">
            <a:solidFill>
              <a:srgbClr val="1A3050"/>
            </a:solidFill>
            <a:prstDash val="solid"/>
          </a:ln>
        </p:spPr>
      </p:sp>
      <p:sp>
        <p:nvSpPr>
          <p:cNvPr id="17" name="Shape 15"/>
          <p:cNvSpPr/>
          <p:nvPr/>
        </p:nvSpPr>
        <p:spPr>
          <a:xfrm>
            <a:off x="4919472" y="3017520"/>
            <a:ext cx="2029968" cy="64008"/>
          </a:xfrm>
          <a:prstGeom prst="rect">
            <a:avLst/>
          </a:prstGeom>
          <a:solidFill>
            <a:srgbClr val="00D4AA"/>
          </a:solidFill>
          <a:ln w="12700">
            <a:solidFill>
              <a:srgbClr val="00D4AA"/>
            </a:solidFill>
            <a:prstDash val="solid"/>
          </a:ln>
        </p:spPr>
      </p:sp>
      <p:sp>
        <p:nvSpPr>
          <p:cNvPr id="18" name="Text 16"/>
          <p:cNvSpPr/>
          <p:nvPr/>
        </p:nvSpPr>
        <p:spPr>
          <a:xfrm>
            <a:off x="5029200" y="3136392"/>
            <a:ext cx="182880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Governance &amp; Evidence</a:t>
            </a:r>
            <a:endParaRPr lang="en-US" sz="1300" dirty="0"/>
          </a:p>
        </p:txBody>
      </p:sp>
      <p:sp>
        <p:nvSpPr>
          <p:cNvPr id="19" name="Text 17"/>
          <p:cNvSpPr/>
          <p:nvPr/>
        </p:nvSpPr>
        <p:spPr>
          <a:xfrm>
            <a:off x="5029200" y="3602736"/>
            <a:ext cx="1828800" cy="804672"/>
          </a:xfrm>
          <a:prstGeom prst="rect">
            <a:avLst/>
          </a:prstGeom>
          <a:noFill/>
          <a:ln/>
        </p:spPr>
        <p:txBody>
          <a:bodyPr wrap="square" lIns="0" tIns="0" rIns="0" bIns="0" rtlCol="0" anchor="ctr"/>
          <a:lstStyle/>
          <a:p>
            <a:pPr indent="0" marL="0">
              <a:buNone/>
            </a:pPr>
            <a:r>
              <a:rPr lang="en-US" sz="1100" dirty="0">
                <a:solidFill>
                  <a:srgbClr val="7BA3C4"/>
                </a:solidFill>
                <a:latin typeface="Calibri" pitchFamily="34" charset="0"/>
                <a:ea typeface="Calibri" pitchFamily="34" charset="-122"/>
                <a:cs typeface="Calibri" pitchFamily="34" charset="-120"/>
              </a:rPr>
              <a:t>File-backed packets. Merge gates. Audit.</a:t>
            </a:r>
            <a:endParaRPr lang="en-US" sz="1100" dirty="0"/>
          </a:p>
        </p:txBody>
      </p:sp>
      <p:sp>
        <p:nvSpPr>
          <p:cNvPr id="20" name="Shape 18"/>
          <p:cNvSpPr/>
          <p:nvPr/>
        </p:nvSpPr>
        <p:spPr>
          <a:xfrm>
            <a:off x="7095744" y="3017520"/>
            <a:ext cx="2029968" cy="1810512"/>
          </a:xfrm>
          <a:prstGeom prst="rect">
            <a:avLst/>
          </a:prstGeom>
          <a:solidFill>
            <a:srgbClr val="0F2035"/>
          </a:solidFill>
          <a:ln w="12700">
            <a:solidFill>
              <a:srgbClr val="1A3050"/>
            </a:solidFill>
            <a:prstDash val="solid"/>
          </a:ln>
        </p:spPr>
      </p:sp>
      <p:sp>
        <p:nvSpPr>
          <p:cNvPr id="21" name="Shape 19"/>
          <p:cNvSpPr/>
          <p:nvPr/>
        </p:nvSpPr>
        <p:spPr>
          <a:xfrm>
            <a:off x="7095744" y="3017520"/>
            <a:ext cx="2029968" cy="64008"/>
          </a:xfrm>
          <a:prstGeom prst="rect">
            <a:avLst/>
          </a:prstGeom>
          <a:solidFill>
            <a:srgbClr val="00D4AA"/>
          </a:solidFill>
          <a:ln w="12700">
            <a:solidFill>
              <a:srgbClr val="00D4AA"/>
            </a:solidFill>
            <a:prstDash val="solid"/>
          </a:ln>
        </p:spPr>
      </p:sp>
      <p:sp>
        <p:nvSpPr>
          <p:cNvPr id="22" name="Text 20"/>
          <p:cNvSpPr/>
          <p:nvPr/>
        </p:nvSpPr>
        <p:spPr>
          <a:xfrm>
            <a:off x="7205472" y="3136392"/>
            <a:ext cx="182880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Data Sovereignty</a:t>
            </a:r>
            <a:endParaRPr lang="en-US" sz="1300" dirty="0"/>
          </a:p>
        </p:txBody>
      </p:sp>
      <p:sp>
        <p:nvSpPr>
          <p:cNvPr id="23" name="Text 21"/>
          <p:cNvSpPr/>
          <p:nvPr/>
        </p:nvSpPr>
        <p:spPr>
          <a:xfrm>
            <a:off x="7205472" y="3602736"/>
            <a:ext cx="1828800" cy="804672"/>
          </a:xfrm>
          <a:prstGeom prst="rect">
            <a:avLst/>
          </a:prstGeom>
          <a:noFill/>
          <a:ln/>
        </p:spPr>
        <p:txBody>
          <a:bodyPr wrap="square" lIns="0" tIns="0" rIns="0" bIns="0" rtlCol="0" anchor="ctr"/>
          <a:lstStyle/>
          <a:p>
            <a:pPr indent="0" marL="0">
              <a:buNone/>
            </a:pPr>
            <a:r>
              <a:rPr lang="en-US" sz="1100" dirty="0">
                <a:solidFill>
                  <a:srgbClr val="7BA3C4"/>
                </a:solidFill>
                <a:latin typeface="Calibri" pitchFamily="34" charset="0"/>
                <a:ea typeface="Calibri" pitchFamily="34" charset="-122"/>
                <a:cs typeface="Calibri" pitchFamily="34" charset="-120"/>
              </a:rPr>
              <a:t>Your AWS. Your secrets. Your audit trail.</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0"/>
            <a:ext cx="109728" cy="658368"/>
          </a:xfrm>
          <a:prstGeom prst="rect">
            <a:avLst/>
          </a:prstGeom>
          <a:solidFill>
            <a:srgbClr val="00D4AA"/>
          </a:solidFill>
          <a:ln w="12700">
            <a:solidFill>
              <a:srgbClr val="00D4AA"/>
            </a:solidFill>
            <a:prstDash val="solid"/>
          </a:ln>
        </p:spPr>
      </p:sp>
      <p:sp>
        <p:nvSpPr>
          <p:cNvPr id="4" name="Text 2"/>
          <p:cNvSpPr/>
          <p:nvPr/>
        </p:nvSpPr>
        <p:spPr>
          <a:xfrm>
            <a:off x="219456" y="0"/>
            <a:ext cx="685800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What Canon Is</a:t>
            </a:r>
            <a:endParaRPr lang="en-US" sz="2100" dirty="0"/>
          </a:p>
        </p:txBody>
      </p:sp>
      <p:sp>
        <p:nvSpPr>
          <p:cNvPr id="5" name="Text 3"/>
          <p:cNvSpPr/>
          <p:nvPr/>
        </p:nvSpPr>
        <p:spPr>
          <a:xfrm>
            <a:off x="219456" y="0"/>
            <a:ext cx="8778240" cy="658368"/>
          </a:xfrm>
          <a:prstGeom prst="rect">
            <a:avLst/>
          </a:prstGeom>
          <a:noFill/>
          <a:ln/>
        </p:spPr>
        <p:txBody>
          <a:bodyPr wrap="square" lIns="0" tIns="0" rIns="0" bIns="0" rtlCol="0" anchor="ctr"/>
          <a:lstStyle/>
          <a:p>
            <a:pPr algn="r" indent="0" marL="0">
              <a:buNone/>
            </a:pPr>
            <a:r>
              <a:rPr lang="en-US" sz="1000" dirty="0">
                <a:solidFill>
                  <a:srgbClr val="4B6A8A"/>
                </a:solidFill>
                <a:latin typeface="Calibri" pitchFamily="34" charset="0"/>
                <a:ea typeface="Calibri" pitchFamily="34" charset="-122"/>
                <a:cs typeface="Calibri" pitchFamily="34" charset="-120"/>
              </a:rPr>
              <a:t>Platform Definition</a:t>
            </a:r>
            <a:endParaRPr lang="en-US" sz="1000" dirty="0"/>
          </a:p>
        </p:txBody>
      </p:sp>
      <p:sp>
        <p:nvSpPr>
          <p:cNvPr id="6" name="Shape 4"/>
          <p:cNvSpPr/>
          <p:nvPr/>
        </p:nvSpPr>
        <p:spPr>
          <a:xfrm>
            <a:off x="347472" y="786384"/>
            <a:ext cx="5029200" cy="413308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347472" y="786384"/>
            <a:ext cx="64008" cy="4133088"/>
          </a:xfrm>
          <a:prstGeom prst="rect">
            <a:avLst/>
          </a:prstGeom>
          <a:solidFill>
            <a:srgbClr val="00D4AA"/>
          </a:solidFill>
          <a:ln w="12700">
            <a:solidFill>
              <a:srgbClr val="00D4AA"/>
            </a:solidFill>
            <a:prstDash val="solid"/>
          </a:ln>
        </p:spPr>
      </p:sp>
      <p:sp>
        <p:nvSpPr>
          <p:cNvPr id="8" name="Text 6"/>
          <p:cNvSpPr/>
          <p:nvPr/>
        </p:nvSpPr>
        <p:spPr>
          <a:xfrm>
            <a:off x="548640" y="932688"/>
            <a:ext cx="4663440" cy="320040"/>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The Definition</a:t>
            </a:r>
            <a:endParaRPr lang="en-US" sz="1100" dirty="0"/>
          </a:p>
        </p:txBody>
      </p:sp>
      <p:sp>
        <p:nvSpPr>
          <p:cNvPr id="9" name="Text 7"/>
          <p:cNvSpPr/>
          <p:nvPr/>
        </p:nvSpPr>
        <p:spPr>
          <a:xfrm>
            <a:off x="548640" y="1261872"/>
            <a:ext cx="4663440" cy="1188720"/>
          </a:xfrm>
          <a:prstGeom prst="rect">
            <a:avLst/>
          </a:prstGeom>
          <a:noFill/>
          <a:ln/>
        </p:spPr>
        <p:txBody>
          <a:bodyPr wrap="square" lIns="0" tIns="0" rIns="0" bIns="0" rtlCol="0" anchor="ctr"/>
          <a:lstStyle/>
          <a:p>
            <a:pPr indent="0" marL="0">
              <a:buNone/>
            </a:pPr>
            <a:r>
              <a:rPr lang="en-US" sz="1700" b="1" dirty="0">
                <a:solidFill>
                  <a:srgbClr val="1E3A5F"/>
                </a:solidFill>
                <a:latin typeface="Calibri" pitchFamily="34" charset="0"/>
                <a:ea typeface="Calibri" pitchFamily="34" charset="-122"/>
                <a:cs typeface="Calibri" pitchFamily="34" charset="-120"/>
              </a:rPr>
              <a:t>Canon is the governance, memory, and evidence layer that makes AI coding repeatable and accountable inside real enterprises.</a:t>
            </a:r>
            <a:endParaRPr lang="en-US" sz="1700" dirty="0"/>
          </a:p>
        </p:txBody>
      </p:sp>
      <p:sp>
        <p:nvSpPr>
          <p:cNvPr id="10" name="Text 8"/>
          <p:cNvSpPr/>
          <p:nvPr/>
        </p:nvSpPr>
        <p:spPr>
          <a:xfrm>
            <a:off x="548640" y="2468880"/>
            <a:ext cx="4663440" cy="32004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It gives your organization:</a:t>
            </a:r>
            <a:endParaRPr lang="en-US" sz="1200" dirty="0"/>
          </a:p>
        </p:txBody>
      </p:sp>
      <p:sp>
        <p:nvSpPr>
          <p:cNvPr id="11" name="Text 9"/>
          <p:cNvSpPr/>
          <p:nvPr/>
        </p:nvSpPr>
        <p:spPr>
          <a:xfrm>
            <a:off x="548640" y="2807208"/>
            <a:ext cx="4663440" cy="1920240"/>
          </a:xfrm>
          <a:prstGeom prst="rect">
            <a:avLst/>
          </a:prstGeom>
          <a:noFill/>
          <a:ln/>
        </p:spPr>
        <p:txBody>
          <a:bodyPr wrap="square" lIns="0" tIns="0" rIns="0" bIns="0" rtlCol="0" anchor="ctr"/>
          <a:lstStyle/>
          <a:p>
            <a:pPr marL="342900" indent="-342900">
              <a:spcAft>
                <a:spcPts val="300"/>
              </a:spcAft>
              <a:buSzPct val="100000"/>
              <a:buChar char="•"/>
            </a:pPr>
            <a:r>
              <a:rPr lang="en-US" sz="1200" dirty="0">
                <a:solidFill>
                  <a:srgbClr val="334155"/>
                </a:solidFill>
                <a:latin typeface="Calibri" pitchFamily="34" charset="0"/>
                <a:ea typeface="Calibri" pitchFamily="34" charset="-122"/>
                <a:cs typeface="Calibri" pitchFamily="34" charset="-120"/>
              </a:rPr>
              <a:t>Memory that survives the chat window — company + repo scoped, hybrid search</a:t>
            </a:r>
            <a:endParaRPr lang="en-US" sz="1200" dirty="0"/>
          </a:p>
          <a:p>
            <a:pPr marL="342900" indent="-342900">
              <a:spcAft>
                <a:spcPts val="300"/>
              </a:spcAft>
              <a:buSzPct val="100000"/>
              <a:buChar char="•"/>
            </a:pPr>
            <a:r>
              <a:rPr lang="en-US" sz="1200" dirty="0">
                <a:solidFill>
                  <a:srgbClr val="334155"/>
                </a:solidFill>
                <a:latin typeface="Calibri" pitchFamily="34" charset="0"/>
                <a:ea typeface="Calibri" pitchFamily="34" charset="-122"/>
                <a:cs typeface="Calibri" pitchFamily="34" charset="-120"/>
              </a:rPr>
              <a:t>A disciplined 6-agent chain with file-backed handoffs — not chat-only claims</a:t>
            </a:r>
            <a:endParaRPr lang="en-US" sz="1200" dirty="0"/>
          </a:p>
          <a:p>
            <a:pPr marL="342900" indent="-342900">
              <a:spcAft>
                <a:spcPts val="300"/>
              </a:spcAft>
              <a:buSzPct val="100000"/>
              <a:buChar char="•"/>
            </a:pPr>
            <a:r>
              <a:rPr lang="en-US" sz="1200" dirty="0">
                <a:solidFill>
                  <a:srgbClr val="334155"/>
                </a:solidFill>
                <a:latin typeface="Calibri" pitchFamily="34" charset="0"/>
                <a:ea typeface="Calibri" pitchFamily="34" charset="-122"/>
                <a:cs typeface="Calibri" pitchFamily="34" charset="-120"/>
              </a:rPr>
              <a:t>Cross-repo coherence — same company_id spanning many repositories</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Optional AWS-backed planes: code graph, state checkpoints, stable HTTPS</a:t>
            </a:r>
            <a:endParaRPr lang="en-US" sz="1200" dirty="0"/>
          </a:p>
        </p:txBody>
      </p:sp>
      <p:sp>
        <p:nvSpPr>
          <p:cNvPr id="12" name="Shape 10"/>
          <p:cNvSpPr/>
          <p:nvPr/>
        </p:nvSpPr>
        <p:spPr>
          <a:xfrm>
            <a:off x="5559552" y="786384"/>
            <a:ext cx="3291840" cy="173736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13" name="Shape 11"/>
          <p:cNvSpPr/>
          <p:nvPr/>
        </p:nvSpPr>
        <p:spPr>
          <a:xfrm>
            <a:off x="5559552" y="786384"/>
            <a:ext cx="64008" cy="1737360"/>
          </a:xfrm>
          <a:prstGeom prst="rect">
            <a:avLst/>
          </a:prstGeom>
          <a:solidFill>
            <a:srgbClr val="EF4444"/>
          </a:solidFill>
          <a:ln w="12700">
            <a:solidFill>
              <a:srgbClr val="EF4444"/>
            </a:solidFill>
            <a:prstDash val="solid"/>
          </a:ln>
        </p:spPr>
      </p:sp>
      <p:sp>
        <p:nvSpPr>
          <p:cNvPr id="14" name="Text 12"/>
          <p:cNvSpPr/>
          <p:nvPr/>
        </p:nvSpPr>
        <p:spPr>
          <a:xfrm>
            <a:off x="5742432" y="932688"/>
            <a:ext cx="292608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It Is NOT</a:t>
            </a:r>
            <a:endParaRPr lang="en-US" sz="1100" dirty="0"/>
          </a:p>
        </p:txBody>
      </p:sp>
      <p:sp>
        <p:nvSpPr>
          <p:cNvPr id="15" name="Text 13"/>
          <p:cNvSpPr/>
          <p:nvPr/>
        </p:nvSpPr>
        <p:spPr>
          <a:xfrm>
            <a:off x="5742432" y="1261872"/>
            <a:ext cx="2926080" cy="1170432"/>
          </a:xfrm>
          <a:prstGeom prst="rect">
            <a:avLst/>
          </a:prstGeom>
          <a:noFill/>
          <a:ln/>
        </p:spPr>
        <p:txBody>
          <a:bodyPr wrap="square" lIns="0" tIns="0" rIns="0" bIns="0" rtlCol="0" anchor="ctr"/>
          <a:lstStyle/>
          <a:p>
            <a:pPr indent="0" marL="0">
              <a:buNone/>
            </a:pPr>
            <a:r>
              <a:rPr lang="en-US" sz="1100" dirty="0">
                <a:solidFill>
                  <a:srgbClr val="DC2626"/>
                </a:solidFill>
                <a:latin typeface="Calibri" pitchFamily="34" charset="0"/>
                <a:ea typeface="Calibri" pitchFamily="34" charset="-122"/>
                <a:cs typeface="Calibri" pitchFamily="34" charset="-120"/>
              </a:rPr>
              <a:t>✗  A generic autonomous agent browser</a:t>
            </a:r>
            <a:endParaRPr lang="en-US" sz="1100" dirty="0"/>
          </a:p>
          <a:p>
            <a:pPr indent="0" marL="0">
              <a:buNone/>
            </a:pPr>
            <a:r>
              <a:rPr lang="en-US" sz="1100" dirty="0">
                <a:solidFill>
                  <a:srgbClr val="DC2626"/>
                </a:solidFill>
                <a:latin typeface="Calibri" pitchFamily="34" charset="0"/>
                <a:ea typeface="Calibri" pitchFamily="34" charset="-122"/>
                <a:cs typeface="Calibri" pitchFamily="34" charset="-120"/>
              </a:rPr>
              <a:t>✗  A replacement for your IDE or Cursor</a:t>
            </a:r>
            <a:endParaRPr lang="en-US" sz="1100" dirty="0"/>
          </a:p>
          <a:p>
            <a:pPr indent="0" marL="0">
              <a:buNone/>
            </a:pPr>
            <a:r>
              <a:rPr lang="en-US" sz="1100" dirty="0">
                <a:solidFill>
                  <a:srgbClr val="DC2626"/>
                </a:solidFill>
                <a:latin typeface="Calibri" pitchFamily="34" charset="0"/>
                <a:ea typeface="Calibri" pitchFamily="34" charset="-122"/>
                <a:cs typeface="Calibri" pitchFamily="34" charset="-120"/>
              </a:rPr>
              <a:t>✗  A black-box 'fire and forget' tool</a:t>
            </a:r>
            <a:endParaRPr lang="en-US" sz="1100" dirty="0"/>
          </a:p>
          <a:p>
            <a:pPr indent="0" marL="0">
              <a:buNone/>
            </a:pPr>
            <a:r>
              <a:rPr lang="en-US" sz="1100" dirty="0">
                <a:solidFill>
                  <a:srgbClr val="DC2626"/>
                </a:solidFill>
                <a:latin typeface="Calibri" pitchFamily="34" charset="0"/>
                <a:ea typeface="Calibri" pitchFamily="34" charset="-122"/>
                <a:cs typeface="Calibri" pitchFamily="34" charset="-120"/>
              </a:rPr>
              <a:t>✗  A parity play on Cognition's model swarms</a:t>
            </a:r>
            <a:endParaRPr lang="en-US" sz="1100" dirty="0"/>
          </a:p>
        </p:txBody>
      </p:sp>
      <p:sp>
        <p:nvSpPr>
          <p:cNvPr id="16" name="Shape 14"/>
          <p:cNvSpPr/>
          <p:nvPr/>
        </p:nvSpPr>
        <p:spPr>
          <a:xfrm>
            <a:off x="5559552" y="2670048"/>
            <a:ext cx="3291840" cy="2249424"/>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17" name="Shape 15"/>
          <p:cNvSpPr/>
          <p:nvPr/>
        </p:nvSpPr>
        <p:spPr>
          <a:xfrm>
            <a:off x="5559552" y="2670048"/>
            <a:ext cx="64008" cy="2249424"/>
          </a:xfrm>
          <a:prstGeom prst="rect">
            <a:avLst/>
          </a:prstGeom>
          <a:solidFill>
            <a:srgbClr val="00D4AA"/>
          </a:solidFill>
          <a:ln w="12700">
            <a:solidFill>
              <a:srgbClr val="00D4AA"/>
            </a:solidFill>
            <a:prstDash val="solid"/>
          </a:ln>
        </p:spPr>
      </p:sp>
      <p:sp>
        <p:nvSpPr>
          <p:cNvPr id="18" name="Text 16"/>
          <p:cNvSpPr/>
          <p:nvPr/>
        </p:nvSpPr>
        <p:spPr>
          <a:xfrm>
            <a:off x="5742432" y="2816352"/>
            <a:ext cx="292608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The Differentiator</a:t>
            </a:r>
            <a:endParaRPr lang="en-US" sz="1100" dirty="0"/>
          </a:p>
        </p:txBody>
      </p:sp>
      <p:sp>
        <p:nvSpPr>
          <p:cNvPr id="19" name="Text 17"/>
          <p:cNvSpPr/>
          <p:nvPr/>
        </p:nvSpPr>
        <p:spPr>
          <a:xfrm>
            <a:off x="5742432" y="3145536"/>
            <a:ext cx="2926080" cy="1627632"/>
          </a:xfrm>
          <a:prstGeom prst="rect">
            <a:avLst/>
          </a:prstGeom>
          <a:noFill/>
          <a:ln/>
        </p:spPr>
        <p:txBody>
          <a:bodyPr wrap="square" lIns="0" tIns="0" rIns="0" bIns="0" rtlCol="0" anchor="ctr"/>
          <a:lstStyle/>
          <a:p>
            <a:pPr indent="0" marL="0">
              <a:buNone/>
            </a:pPr>
            <a:r>
              <a:rPr lang="en-US" sz="1300" b="1" dirty="0">
                <a:solidFill>
                  <a:srgbClr val="1E3A5F"/>
                </a:solidFill>
                <a:latin typeface="Calibri" pitchFamily="34" charset="0"/>
                <a:ea typeface="Calibri" pitchFamily="34" charset="-122"/>
                <a:cs typeface="Calibri" pitchFamily="34" charset="-120"/>
              </a:rPr>
              <a:t>Org memory across repos + strict packet discipline + IDE-in-the-loop + you hold the keys and the audit trail.</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1F35"/>
          </a:solidFill>
          <a:ln w="12700">
            <a:solidFill>
              <a:srgbClr val="0A1F35"/>
            </a:solidFill>
            <a:prstDash val="solid"/>
          </a:ln>
        </p:spPr>
      </p:sp>
      <p:sp>
        <p:nvSpPr>
          <p:cNvPr id="3" name="Shape 1"/>
          <p:cNvSpPr/>
          <p:nvPr/>
        </p:nvSpPr>
        <p:spPr>
          <a:xfrm>
            <a:off x="0" y="0"/>
            <a:ext cx="109728" cy="658368"/>
          </a:xfrm>
          <a:prstGeom prst="rect">
            <a:avLst/>
          </a:prstGeom>
          <a:solidFill>
            <a:srgbClr val="00D4AA"/>
          </a:solidFill>
          <a:ln w="12700">
            <a:solidFill>
              <a:srgbClr val="00D4AA"/>
            </a:solidFill>
            <a:prstDash val="solid"/>
          </a:ln>
        </p:spPr>
      </p:sp>
      <p:sp>
        <p:nvSpPr>
          <p:cNvPr id="4" name="Text 2"/>
          <p:cNvSpPr/>
          <p:nvPr/>
        </p:nvSpPr>
        <p:spPr>
          <a:xfrm>
            <a:off x="219456" y="0"/>
            <a:ext cx="685800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Canon's Three Layers</a:t>
            </a:r>
            <a:endParaRPr lang="en-US" sz="2100" dirty="0"/>
          </a:p>
        </p:txBody>
      </p:sp>
      <p:sp>
        <p:nvSpPr>
          <p:cNvPr id="5" name="Text 3"/>
          <p:cNvSpPr/>
          <p:nvPr/>
        </p:nvSpPr>
        <p:spPr>
          <a:xfrm>
            <a:off x="219456" y="0"/>
            <a:ext cx="8778240" cy="658368"/>
          </a:xfrm>
          <a:prstGeom prst="rect">
            <a:avLst/>
          </a:prstGeom>
          <a:noFill/>
          <a:ln/>
        </p:spPr>
        <p:txBody>
          <a:bodyPr wrap="square" lIns="0" tIns="0" rIns="0" bIns="0" rtlCol="0" anchor="ctr"/>
          <a:lstStyle/>
          <a:p>
            <a:pPr algn="r" indent="0" marL="0">
              <a:buNone/>
            </a:pPr>
            <a:r>
              <a:rPr lang="en-US" sz="1000" dirty="0">
                <a:solidFill>
                  <a:srgbClr val="4B6A8A"/>
                </a:solidFill>
                <a:latin typeface="Calibri" pitchFamily="34" charset="0"/>
                <a:ea typeface="Calibri" pitchFamily="34" charset="-122"/>
                <a:cs typeface="Calibri" pitchFamily="34" charset="-120"/>
              </a:rPr>
              <a:t>What Canon Is → Product Architecture</a:t>
            </a:r>
            <a:endParaRPr lang="en-US" sz="1000" dirty="0"/>
          </a:p>
        </p:txBody>
      </p:sp>
      <p:sp>
        <p:nvSpPr>
          <p:cNvPr id="6" name="Text 4"/>
          <p:cNvSpPr/>
          <p:nvPr/>
        </p:nvSpPr>
        <p:spPr>
          <a:xfrm>
            <a:off x="347472" y="749808"/>
            <a:ext cx="8412480" cy="320040"/>
          </a:xfrm>
          <a:prstGeom prst="rect">
            <a:avLst/>
          </a:prstGeom>
          <a:noFill/>
          <a:ln/>
        </p:spPr>
        <p:txBody>
          <a:bodyPr wrap="square" lIns="0" tIns="0" rIns="0" bIns="0" rtlCol="0" anchor="ctr"/>
          <a:lstStyle/>
          <a:p>
            <a:pPr indent="0" marL="0">
              <a:buNone/>
            </a:pPr>
            <a:r>
              <a:rPr lang="en-US" sz="1200" i="1" dirty="0">
                <a:solidFill>
                  <a:srgbClr val="7BA3C4"/>
                </a:solidFill>
                <a:latin typeface="Calibri" pitchFamily="34" charset="0"/>
                <a:ea typeface="Calibri" pitchFamily="34" charset="-122"/>
                <a:cs typeface="Calibri" pitchFamily="34" charset="-120"/>
              </a:rPr>
              <a:t>The first two layers are Canon's durable moat. The third is partly replaceable — and Cursor SDK is now the first proven external substrate for it.</a:t>
            </a:r>
            <a:endParaRPr lang="en-US" sz="1200" dirty="0"/>
          </a:p>
        </p:txBody>
      </p:sp>
      <p:sp>
        <p:nvSpPr>
          <p:cNvPr id="7" name="Shape 5"/>
          <p:cNvSpPr/>
          <p:nvPr/>
        </p:nvSpPr>
        <p:spPr>
          <a:xfrm>
            <a:off x="320040" y="1133856"/>
            <a:ext cx="2779776" cy="3767328"/>
          </a:xfrm>
          <a:prstGeom prst="rect">
            <a:avLst/>
          </a:prstGeom>
          <a:solidFill>
            <a:srgbClr val="0D1B2A"/>
          </a:solidFill>
          <a:ln w="10160">
            <a:solidFill>
              <a:srgbClr val="0891B2"/>
            </a:solidFill>
            <a:prstDash val="solid"/>
          </a:ln>
        </p:spPr>
      </p:sp>
      <p:sp>
        <p:nvSpPr>
          <p:cNvPr id="8" name="Shape 6"/>
          <p:cNvSpPr/>
          <p:nvPr/>
        </p:nvSpPr>
        <p:spPr>
          <a:xfrm>
            <a:off x="320040" y="1133856"/>
            <a:ext cx="2779776" cy="475488"/>
          </a:xfrm>
          <a:prstGeom prst="rect">
            <a:avLst/>
          </a:prstGeom>
          <a:solidFill>
            <a:srgbClr val="0891B2"/>
          </a:solidFill>
          <a:ln w="12700">
            <a:solidFill>
              <a:srgbClr val="0891B2"/>
            </a:solidFill>
            <a:prstDash val="solid"/>
          </a:ln>
        </p:spPr>
      </p:sp>
      <p:sp>
        <p:nvSpPr>
          <p:cNvPr id="9" name="Shape 7"/>
          <p:cNvSpPr/>
          <p:nvPr/>
        </p:nvSpPr>
        <p:spPr>
          <a:xfrm>
            <a:off x="393192" y="1170432"/>
            <a:ext cx="402336" cy="402336"/>
          </a:xfrm>
          <a:prstGeom prst="ellipse">
            <a:avLst/>
          </a:prstGeom>
          <a:solidFill>
            <a:srgbClr val="0891B2"/>
          </a:solidFill>
          <a:ln w="12700">
            <a:solidFill>
              <a:srgbClr val="0891B2"/>
            </a:solidFill>
            <a:prstDash val="solid"/>
          </a:ln>
        </p:spPr>
      </p:sp>
      <p:sp>
        <p:nvSpPr>
          <p:cNvPr id="10" name="Text 8"/>
          <p:cNvSpPr/>
          <p:nvPr/>
        </p:nvSpPr>
        <p:spPr>
          <a:xfrm>
            <a:off x="393192" y="1170432"/>
            <a:ext cx="402336" cy="4023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1" name="Text 9"/>
          <p:cNvSpPr/>
          <p:nvPr/>
        </p:nvSpPr>
        <p:spPr>
          <a:xfrm>
            <a:off x="868680" y="1133856"/>
            <a:ext cx="2176272"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Memory Plane</a:t>
            </a:r>
            <a:endParaRPr lang="en-US" sz="1200" dirty="0"/>
          </a:p>
        </p:txBody>
      </p:sp>
      <p:sp>
        <p:nvSpPr>
          <p:cNvPr id="12" name="Text 10"/>
          <p:cNvSpPr/>
          <p:nvPr/>
        </p:nvSpPr>
        <p:spPr>
          <a:xfrm>
            <a:off x="411480" y="1664208"/>
            <a:ext cx="2596896" cy="256032"/>
          </a:xfrm>
          <a:prstGeom prst="rect">
            <a:avLst/>
          </a:prstGeom>
          <a:noFill/>
          <a:ln/>
        </p:spPr>
        <p:txBody>
          <a:bodyPr wrap="square" lIns="0" tIns="0" rIns="0" bIns="0" rtlCol="0" anchor="ctr"/>
          <a:lstStyle/>
          <a:p>
            <a:pPr indent="0" marL="0">
              <a:buNone/>
            </a:pPr>
            <a:r>
              <a:rPr lang="en-US" sz="1000" i="1" dirty="0">
                <a:solidFill>
                  <a:srgbClr val="0891B2"/>
                </a:solidFill>
                <a:latin typeface="Calibri" pitchFamily="34" charset="0"/>
                <a:ea typeface="Calibri" pitchFamily="34" charset="-122"/>
                <a:cs typeface="Calibri" pitchFamily="34" charset="-120"/>
              </a:rPr>
              <a:t>Durable org-scoped context</a:t>
            </a:r>
            <a:endParaRPr lang="en-US" sz="1000" dirty="0"/>
          </a:p>
        </p:txBody>
      </p:sp>
      <p:sp>
        <p:nvSpPr>
          <p:cNvPr id="13" name="Text 11"/>
          <p:cNvSpPr/>
          <p:nvPr/>
        </p:nvSpPr>
        <p:spPr>
          <a:xfrm>
            <a:off x="411480" y="1956816"/>
            <a:ext cx="2596896" cy="4572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-&gt; Hybrid retrieval: MemPalace semantic + canonical events</a:t>
            </a:r>
            <a:endParaRPr lang="en-US" sz="950" dirty="0"/>
          </a:p>
        </p:txBody>
      </p:sp>
      <p:sp>
        <p:nvSpPr>
          <p:cNvPr id="14" name="Text 12"/>
          <p:cNvSpPr/>
          <p:nvPr/>
        </p:nvSpPr>
        <p:spPr>
          <a:xfrm>
            <a:off x="411480" y="2450592"/>
            <a:ext cx="2596896" cy="4572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-&gt; Tenant-scoped per company_id + repository_id</a:t>
            </a:r>
            <a:endParaRPr lang="en-US" sz="950" dirty="0"/>
          </a:p>
        </p:txBody>
      </p:sp>
      <p:sp>
        <p:nvSpPr>
          <p:cNvPr id="15" name="Text 13"/>
          <p:cNvSpPr/>
          <p:nvPr/>
        </p:nvSpPr>
        <p:spPr>
          <a:xfrm>
            <a:off x="411480" y="2944368"/>
            <a:ext cx="2596896" cy="4572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-&gt; Cross-repo coherence — same COMPANY_ID spans all repos</a:t>
            </a:r>
            <a:endParaRPr lang="en-US" sz="950" dirty="0"/>
          </a:p>
        </p:txBody>
      </p:sp>
      <p:sp>
        <p:nvSpPr>
          <p:cNvPr id="16" name="Text 14"/>
          <p:cNvSpPr/>
          <p:nvPr/>
        </p:nvSpPr>
        <p:spPr>
          <a:xfrm>
            <a:off x="411480" y="3438144"/>
            <a:ext cx="2596896" cy="4572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-&gt; Survives the chat window, session, and sprint boundary</a:t>
            </a:r>
            <a:endParaRPr lang="en-US" sz="950" dirty="0"/>
          </a:p>
        </p:txBody>
      </p:sp>
      <p:sp>
        <p:nvSpPr>
          <p:cNvPr id="17" name="Text 15"/>
          <p:cNvSpPr/>
          <p:nvPr/>
        </p:nvSpPr>
        <p:spPr>
          <a:xfrm>
            <a:off x="411480" y="3931920"/>
            <a:ext cx="2596896" cy="4572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-&gt; Evidence-cited — every retrieval logged with source telemetry</a:t>
            </a:r>
            <a:endParaRPr lang="en-US" sz="950" dirty="0"/>
          </a:p>
        </p:txBody>
      </p:sp>
      <p:sp>
        <p:nvSpPr>
          <p:cNvPr id="18" name="Shape 16"/>
          <p:cNvSpPr/>
          <p:nvPr/>
        </p:nvSpPr>
        <p:spPr>
          <a:xfrm>
            <a:off x="320040" y="4517136"/>
            <a:ext cx="2779776" cy="310896"/>
          </a:xfrm>
          <a:prstGeom prst="rect">
            <a:avLst/>
          </a:prstGeom>
          <a:solidFill>
            <a:srgbClr val="0891B2"/>
          </a:solidFill>
          <a:ln w="12700">
            <a:solidFill>
              <a:srgbClr val="0891B2"/>
            </a:solidFill>
            <a:prstDash val="solid"/>
          </a:ln>
        </p:spPr>
      </p:sp>
      <p:sp>
        <p:nvSpPr>
          <p:cNvPr id="19" name="Text 17"/>
          <p:cNvSpPr/>
          <p:nvPr/>
        </p:nvSpPr>
        <p:spPr>
          <a:xfrm>
            <a:off x="411480" y="4517136"/>
            <a:ext cx="2596896" cy="310896"/>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Calibri" pitchFamily="34" charset="0"/>
                <a:ea typeface="Calibri" pitchFamily="34" charset="-122"/>
                <a:cs typeface="Calibri" pitchFamily="34" charset="-120"/>
              </a:rPr>
              <a:t>CANON MOAT</a:t>
            </a:r>
            <a:endParaRPr lang="en-US" sz="900" dirty="0"/>
          </a:p>
        </p:txBody>
      </p:sp>
      <p:sp>
        <p:nvSpPr>
          <p:cNvPr id="20" name="Shape 18"/>
          <p:cNvSpPr/>
          <p:nvPr/>
        </p:nvSpPr>
        <p:spPr>
          <a:xfrm>
            <a:off x="3227832" y="1133856"/>
            <a:ext cx="2779776" cy="3767328"/>
          </a:xfrm>
          <a:prstGeom prst="rect">
            <a:avLst/>
          </a:prstGeom>
          <a:solidFill>
            <a:srgbClr val="0D1B2A"/>
          </a:solidFill>
          <a:ln w="10160">
            <a:solidFill>
              <a:srgbClr val="00D4AA"/>
            </a:solidFill>
            <a:prstDash val="solid"/>
          </a:ln>
        </p:spPr>
      </p:sp>
      <p:sp>
        <p:nvSpPr>
          <p:cNvPr id="21" name="Shape 19"/>
          <p:cNvSpPr/>
          <p:nvPr/>
        </p:nvSpPr>
        <p:spPr>
          <a:xfrm>
            <a:off x="3227832" y="1133856"/>
            <a:ext cx="2779776" cy="475488"/>
          </a:xfrm>
          <a:prstGeom prst="rect">
            <a:avLst/>
          </a:prstGeom>
          <a:solidFill>
            <a:srgbClr val="00D4AA"/>
          </a:solidFill>
          <a:ln w="12700">
            <a:solidFill>
              <a:srgbClr val="00D4AA"/>
            </a:solidFill>
            <a:prstDash val="solid"/>
          </a:ln>
        </p:spPr>
      </p:sp>
      <p:sp>
        <p:nvSpPr>
          <p:cNvPr id="22" name="Shape 20"/>
          <p:cNvSpPr/>
          <p:nvPr/>
        </p:nvSpPr>
        <p:spPr>
          <a:xfrm>
            <a:off x="3300984" y="1170432"/>
            <a:ext cx="402336" cy="402336"/>
          </a:xfrm>
          <a:prstGeom prst="ellipse">
            <a:avLst/>
          </a:prstGeom>
          <a:solidFill>
            <a:srgbClr val="00D4AA"/>
          </a:solidFill>
          <a:ln w="12700">
            <a:solidFill>
              <a:srgbClr val="00D4AA"/>
            </a:solidFill>
            <a:prstDash val="solid"/>
          </a:ln>
        </p:spPr>
      </p:sp>
      <p:sp>
        <p:nvSpPr>
          <p:cNvPr id="23" name="Text 21"/>
          <p:cNvSpPr/>
          <p:nvPr/>
        </p:nvSpPr>
        <p:spPr>
          <a:xfrm>
            <a:off x="3300984" y="1170432"/>
            <a:ext cx="402336" cy="4023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24" name="Text 22"/>
          <p:cNvSpPr/>
          <p:nvPr/>
        </p:nvSpPr>
        <p:spPr>
          <a:xfrm>
            <a:off x="3776472" y="1133856"/>
            <a:ext cx="2176272"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Governance / Evidence Plane</a:t>
            </a:r>
            <a:endParaRPr lang="en-US" sz="1200" dirty="0"/>
          </a:p>
        </p:txBody>
      </p:sp>
      <p:sp>
        <p:nvSpPr>
          <p:cNvPr id="25" name="Text 23"/>
          <p:cNvSpPr/>
          <p:nvPr/>
        </p:nvSpPr>
        <p:spPr>
          <a:xfrm>
            <a:off x="3319272" y="1664208"/>
            <a:ext cx="2596896" cy="256032"/>
          </a:xfrm>
          <a:prstGeom prst="rect">
            <a:avLst/>
          </a:prstGeom>
          <a:noFill/>
          <a:ln/>
        </p:spPr>
        <p:txBody>
          <a:bodyPr wrap="square" lIns="0" tIns="0" rIns="0" bIns="0" rtlCol="0" anchor="ctr"/>
          <a:lstStyle/>
          <a:p>
            <a:pPr indent="0" marL="0">
              <a:buNone/>
            </a:pPr>
            <a:r>
              <a:rPr lang="en-US" sz="1000" i="1" dirty="0">
                <a:solidFill>
                  <a:srgbClr val="00D4AA"/>
                </a:solidFill>
                <a:latin typeface="Calibri" pitchFamily="34" charset="0"/>
                <a:ea typeface="Calibri" pitchFamily="34" charset="-122"/>
                <a:cs typeface="Calibri" pitchFamily="34" charset="-120"/>
              </a:rPr>
              <a:t>Required steps. Auditable outcomes.</a:t>
            </a:r>
            <a:endParaRPr lang="en-US" sz="1000" dirty="0"/>
          </a:p>
        </p:txBody>
      </p:sp>
      <p:sp>
        <p:nvSpPr>
          <p:cNvPr id="26" name="Text 24"/>
          <p:cNvSpPr/>
          <p:nvPr/>
        </p:nvSpPr>
        <p:spPr>
          <a:xfrm>
            <a:off x="3319272" y="1956816"/>
            <a:ext cx="2596896" cy="4572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-&gt; Handoffs, DoR checks, checkpoints at every phase boundary</a:t>
            </a:r>
            <a:endParaRPr lang="en-US" sz="950" dirty="0"/>
          </a:p>
        </p:txBody>
      </p:sp>
      <p:sp>
        <p:nvSpPr>
          <p:cNvPr id="27" name="Text 25"/>
          <p:cNvSpPr/>
          <p:nvPr/>
        </p:nvSpPr>
        <p:spPr>
          <a:xfrm>
            <a:off x="3319272" y="2450592"/>
            <a:ext cx="2596896" cy="4572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-&gt; QA gates: every AC mapped to a covering test</a:t>
            </a:r>
            <a:endParaRPr lang="en-US" sz="950" dirty="0"/>
          </a:p>
        </p:txBody>
      </p:sp>
      <p:sp>
        <p:nvSpPr>
          <p:cNvPr id="28" name="Text 26"/>
          <p:cNvSpPr/>
          <p:nvPr/>
        </p:nvSpPr>
        <p:spPr>
          <a:xfrm>
            <a:off x="3319272" y="2944368"/>
            <a:ext cx="2596896" cy="4572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-&gt; Merge gates: ALL required (QA + flow-audit + CI + memory-health)</a:t>
            </a:r>
            <a:endParaRPr lang="en-US" sz="950" dirty="0"/>
          </a:p>
        </p:txBody>
      </p:sp>
      <p:sp>
        <p:nvSpPr>
          <p:cNvPr id="29" name="Text 27"/>
          <p:cNvSpPr/>
          <p:nvPr/>
        </p:nvSpPr>
        <p:spPr>
          <a:xfrm>
            <a:off x="3319272" y="3438144"/>
            <a:ext cx="2596896" cy="4572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-&gt; Audit trail: canonical events with company/repo/task/agent scope</a:t>
            </a:r>
            <a:endParaRPr lang="en-US" sz="950" dirty="0"/>
          </a:p>
        </p:txBody>
      </p:sp>
      <p:sp>
        <p:nvSpPr>
          <p:cNvPr id="30" name="Text 28"/>
          <p:cNvSpPr/>
          <p:nvPr/>
        </p:nvSpPr>
        <p:spPr>
          <a:xfrm>
            <a:off x="3319272" y="3931920"/>
            <a:ext cx="2596896" cy="4572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-&gt; Policy compliance state visible and exportable</a:t>
            </a:r>
            <a:endParaRPr lang="en-US" sz="950" dirty="0"/>
          </a:p>
        </p:txBody>
      </p:sp>
      <p:sp>
        <p:nvSpPr>
          <p:cNvPr id="31" name="Shape 29"/>
          <p:cNvSpPr/>
          <p:nvPr/>
        </p:nvSpPr>
        <p:spPr>
          <a:xfrm>
            <a:off x="3227832" y="4517136"/>
            <a:ext cx="2779776" cy="310896"/>
          </a:xfrm>
          <a:prstGeom prst="rect">
            <a:avLst/>
          </a:prstGeom>
          <a:solidFill>
            <a:srgbClr val="00D4AA"/>
          </a:solidFill>
          <a:ln w="12700">
            <a:solidFill>
              <a:srgbClr val="00D4AA"/>
            </a:solidFill>
            <a:prstDash val="solid"/>
          </a:ln>
        </p:spPr>
      </p:sp>
      <p:sp>
        <p:nvSpPr>
          <p:cNvPr id="32" name="Text 30"/>
          <p:cNvSpPr/>
          <p:nvPr/>
        </p:nvSpPr>
        <p:spPr>
          <a:xfrm>
            <a:off x="3319272" y="4517136"/>
            <a:ext cx="2596896" cy="310896"/>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Calibri" pitchFamily="34" charset="0"/>
                <a:ea typeface="Calibri" pitchFamily="34" charset="-122"/>
                <a:cs typeface="Calibri" pitchFamily="34" charset="-120"/>
              </a:rPr>
              <a:t>CANON MOAT</a:t>
            </a:r>
            <a:endParaRPr lang="en-US" sz="900" dirty="0"/>
          </a:p>
        </p:txBody>
      </p:sp>
      <p:sp>
        <p:nvSpPr>
          <p:cNvPr id="33" name="Shape 31"/>
          <p:cNvSpPr/>
          <p:nvPr/>
        </p:nvSpPr>
        <p:spPr>
          <a:xfrm>
            <a:off x="6135624" y="1133856"/>
            <a:ext cx="2779776" cy="3767328"/>
          </a:xfrm>
          <a:prstGeom prst="rect">
            <a:avLst/>
          </a:prstGeom>
          <a:solidFill>
            <a:srgbClr val="0D1B2A"/>
          </a:solidFill>
          <a:ln w="10160">
            <a:solidFill>
              <a:srgbClr val="6366F1"/>
            </a:solidFill>
            <a:prstDash val="solid"/>
          </a:ln>
        </p:spPr>
      </p:sp>
      <p:sp>
        <p:nvSpPr>
          <p:cNvPr id="34" name="Shape 32"/>
          <p:cNvSpPr/>
          <p:nvPr/>
        </p:nvSpPr>
        <p:spPr>
          <a:xfrm>
            <a:off x="6135624" y="1133856"/>
            <a:ext cx="2779776" cy="475488"/>
          </a:xfrm>
          <a:prstGeom prst="rect">
            <a:avLst/>
          </a:prstGeom>
          <a:solidFill>
            <a:srgbClr val="6366F1"/>
          </a:solidFill>
          <a:ln w="12700">
            <a:solidFill>
              <a:srgbClr val="6366F1"/>
            </a:solidFill>
            <a:prstDash val="solid"/>
          </a:ln>
        </p:spPr>
      </p:sp>
      <p:sp>
        <p:nvSpPr>
          <p:cNvPr id="35" name="Shape 33"/>
          <p:cNvSpPr/>
          <p:nvPr/>
        </p:nvSpPr>
        <p:spPr>
          <a:xfrm>
            <a:off x="6208776" y="1170432"/>
            <a:ext cx="402336" cy="402336"/>
          </a:xfrm>
          <a:prstGeom prst="ellipse">
            <a:avLst/>
          </a:prstGeom>
          <a:solidFill>
            <a:srgbClr val="6366F1"/>
          </a:solidFill>
          <a:ln w="12700">
            <a:solidFill>
              <a:srgbClr val="6366F1"/>
            </a:solidFill>
            <a:prstDash val="solid"/>
          </a:ln>
        </p:spPr>
      </p:sp>
      <p:sp>
        <p:nvSpPr>
          <p:cNvPr id="36" name="Text 34"/>
          <p:cNvSpPr/>
          <p:nvPr/>
        </p:nvSpPr>
        <p:spPr>
          <a:xfrm>
            <a:off x="6208776" y="1170432"/>
            <a:ext cx="402336" cy="4023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37" name="Text 35"/>
          <p:cNvSpPr/>
          <p:nvPr/>
        </p:nvSpPr>
        <p:spPr>
          <a:xfrm>
            <a:off x="6684264" y="1133856"/>
            <a:ext cx="2176272"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Execution Plane</a:t>
            </a:r>
            <a:endParaRPr lang="en-US" sz="1200" dirty="0"/>
          </a:p>
        </p:txBody>
      </p:sp>
      <p:sp>
        <p:nvSpPr>
          <p:cNvPr id="38" name="Text 36"/>
          <p:cNvSpPr/>
          <p:nvPr/>
        </p:nvSpPr>
        <p:spPr>
          <a:xfrm>
            <a:off x="6227064" y="1664208"/>
            <a:ext cx="2596896" cy="256032"/>
          </a:xfrm>
          <a:prstGeom prst="rect">
            <a:avLst/>
          </a:prstGeom>
          <a:noFill/>
          <a:ln/>
        </p:spPr>
        <p:txBody>
          <a:bodyPr wrap="square" lIns="0" tIns="0" rIns="0" bIns="0" rtlCol="0" anchor="ctr"/>
          <a:lstStyle/>
          <a:p>
            <a:pPr indent="0" marL="0">
              <a:buNone/>
            </a:pPr>
            <a:r>
              <a:rPr lang="en-US" sz="1000" i="1" dirty="0">
                <a:solidFill>
                  <a:srgbClr val="6366F1"/>
                </a:solidFill>
                <a:latin typeface="Calibri" pitchFamily="34" charset="0"/>
                <a:ea typeface="Calibri" pitchFamily="34" charset="-122"/>
                <a:cs typeface="Calibri" pitchFamily="34" charset="-120"/>
              </a:rPr>
              <a:t>Where agent work actually runs</a:t>
            </a:r>
            <a:endParaRPr lang="en-US" sz="1000" dirty="0"/>
          </a:p>
        </p:txBody>
      </p:sp>
      <p:sp>
        <p:nvSpPr>
          <p:cNvPr id="39" name="Text 37"/>
          <p:cNvSpPr/>
          <p:nvPr/>
        </p:nvSpPr>
        <p:spPr>
          <a:xfrm>
            <a:off x="6227064" y="1956816"/>
            <a:ext cx="2596896" cy="4572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-&gt; Local IDE agent (Cursor — current primary)</a:t>
            </a:r>
            <a:endParaRPr lang="en-US" sz="950" dirty="0"/>
          </a:p>
        </p:txBody>
      </p:sp>
      <p:sp>
        <p:nvSpPr>
          <p:cNvPr id="40" name="Text 38"/>
          <p:cNvSpPr/>
          <p:nvPr/>
        </p:nvSpPr>
        <p:spPr>
          <a:xfrm>
            <a:off x="6227064" y="2450592"/>
            <a:ext cx="2596896" cy="4572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-&gt; Container runtime (ECS Fargate — validated)</a:t>
            </a:r>
            <a:endParaRPr lang="en-US" sz="950" dirty="0"/>
          </a:p>
        </p:txBody>
      </p:sp>
      <p:sp>
        <p:nvSpPr>
          <p:cNvPr id="41" name="Text 39"/>
          <p:cNvSpPr/>
          <p:nvPr/>
        </p:nvSpPr>
        <p:spPr>
          <a:xfrm>
            <a:off x="6227064" y="2944368"/>
            <a:ext cx="2596896" cy="4572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-&gt; Remote Canon worker (Cursor SDK cloud — validated May 2026)</a:t>
            </a:r>
            <a:endParaRPr lang="en-US" sz="950" dirty="0"/>
          </a:p>
        </p:txBody>
      </p:sp>
      <p:sp>
        <p:nvSpPr>
          <p:cNvPr id="42" name="Text 40"/>
          <p:cNvSpPr/>
          <p:nvPr/>
        </p:nvSpPr>
        <p:spPr>
          <a:xfrm>
            <a:off x="6227064" y="3438144"/>
            <a:ext cx="2596896" cy="4572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-&gt; Hosted workspace (roadmap)</a:t>
            </a:r>
            <a:endParaRPr lang="en-US" sz="950" dirty="0"/>
          </a:p>
        </p:txBody>
      </p:sp>
      <p:sp>
        <p:nvSpPr>
          <p:cNvPr id="43" name="Text 41"/>
          <p:cNvSpPr/>
          <p:nvPr/>
        </p:nvSpPr>
        <p:spPr>
          <a:xfrm>
            <a:off x="6227064" y="3931920"/>
            <a:ext cx="2596896" cy="4572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-&gt; Execution location is replaceable; governance is not</a:t>
            </a:r>
            <a:endParaRPr lang="en-US" sz="950" dirty="0"/>
          </a:p>
        </p:txBody>
      </p:sp>
      <p:sp>
        <p:nvSpPr>
          <p:cNvPr id="44" name="Shape 42"/>
          <p:cNvSpPr/>
          <p:nvPr/>
        </p:nvSpPr>
        <p:spPr>
          <a:xfrm>
            <a:off x="6135624" y="4517136"/>
            <a:ext cx="2779776" cy="310896"/>
          </a:xfrm>
          <a:prstGeom prst="rect">
            <a:avLst/>
          </a:prstGeom>
          <a:solidFill>
            <a:srgbClr val="0F2035"/>
          </a:solidFill>
          <a:ln w="12700">
            <a:solidFill>
              <a:srgbClr val="6366F1"/>
            </a:solidFill>
            <a:prstDash val="solid"/>
          </a:ln>
        </p:spPr>
      </p:sp>
      <p:sp>
        <p:nvSpPr>
          <p:cNvPr id="45" name="Text 43"/>
          <p:cNvSpPr/>
          <p:nvPr/>
        </p:nvSpPr>
        <p:spPr>
          <a:xfrm>
            <a:off x="6227064" y="4517136"/>
            <a:ext cx="2596896" cy="310896"/>
          </a:xfrm>
          <a:prstGeom prst="rect">
            <a:avLst/>
          </a:prstGeom>
          <a:noFill/>
          <a:ln/>
        </p:spPr>
        <p:txBody>
          <a:bodyPr wrap="square" lIns="0" tIns="0" rIns="0" bIns="0" rtlCol="0" anchor="ctr"/>
          <a:lstStyle/>
          <a:p>
            <a:pPr algn="ctr" indent="0" marL="0">
              <a:buNone/>
            </a:pPr>
            <a:r>
              <a:rPr lang="en-US" sz="900" b="1" spc="300" kern="0" dirty="0">
                <a:solidFill>
                  <a:srgbClr val="4B7A9F"/>
                </a:solidFill>
                <a:latin typeface="Calibri" pitchFamily="34" charset="0"/>
                <a:ea typeface="Calibri" pitchFamily="34" charset="-122"/>
                <a:cs typeface="Calibri" pitchFamily="34" charset="-120"/>
              </a:rPr>
              <a:t>PARTLY REPLACEABLE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0"/>
            <a:ext cx="109728" cy="658368"/>
          </a:xfrm>
          <a:prstGeom prst="rect">
            <a:avLst/>
          </a:prstGeom>
          <a:solidFill>
            <a:srgbClr val="00D4AA"/>
          </a:solidFill>
          <a:ln w="12700">
            <a:solidFill>
              <a:srgbClr val="00D4AA"/>
            </a:solidFill>
            <a:prstDash val="solid"/>
          </a:ln>
        </p:spPr>
      </p:sp>
      <p:sp>
        <p:nvSpPr>
          <p:cNvPr id="4" name="Text 2"/>
          <p:cNvSpPr/>
          <p:nvPr/>
        </p:nvSpPr>
        <p:spPr>
          <a:xfrm>
            <a:off x="219456" y="0"/>
            <a:ext cx="685800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Two Adoption Modes</a:t>
            </a:r>
            <a:endParaRPr lang="en-US" sz="2100" dirty="0"/>
          </a:p>
        </p:txBody>
      </p:sp>
      <p:sp>
        <p:nvSpPr>
          <p:cNvPr id="5" name="Text 3"/>
          <p:cNvSpPr/>
          <p:nvPr/>
        </p:nvSpPr>
        <p:spPr>
          <a:xfrm>
            <a:off x="219456" y="0"/>
            <a:ext cx="8778240" cy="658368"/>
          </a:xfrm>
          <a:prstGeom prst="rect">
            <a:avLst/>
          </a:prstGeom>
          <a:noFill/>
          <a:ln/>
        </p:spPr>
        <p:txBody>
          <a:bodyPr wrap="square" lIns="0" tIns="0" rIns="0" bIns="0" rtlCol="0" anchor="ctr"/>
          <a:lstStyle/>
          <a:p>
            <a:pPr algn="r" indent="0" marL="0">
              <a:buNone/>
            </a:pPr>
            <a:r>
              <a:rPr lang="en-US" sz="1000" dirty="0">
                <a:solidFill>
                  <a:srgbClr val="4B6A8A"/>
                </a:solidFill>
                <a:latin typeface="Calibri" pitchFamily="34" charset="0"/>
                <a:ea typeface="Calibri" pitchFamily="34" charset="-122"/>
                <a:cs typeface="Calibri" pitchFamily="34" charset="-120"/>
              </a:rPr>
              <a:t>What Canon Is → How Teams Adopt It</a:t>
            </a:r>
            <a:endParaRPr lang="en-US" sz="1000" dirty="0"/>
          </a:p>
        </p:txBody>
      </p:sp>
      <p:sp>
        <p:nvSpPr>
          <p:cNvPr id="6" name="Text 4"/>
          <p:cNvSpPr/>
          <p:nvPr/>
        </p:nvSpPr>
        <p:spPr>
          <a:xfrm>
            <a:off x="365760" y="749808"/>
            <a:ext cx="8412480" cy="32004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Canon doesn't need to own every agent's inner loop. It needs to own the boundaries that determine whether work is real and shippable.</a:t>
            </a:r>
            <a:endParaRPr lang="en-US" sz="1300" dirty="0"/>
          </a:p>
        </p:txBody>
      </p:sp>
      <p:sp>
        <p:nvSpPr>
          <p:cNvPr id="7" name="Shape 5"/>
          <p:cNvSpPr/>
          <p:nvPr/>
        </p:nvSpPr>
        <p:spPr>
          <a:xfrm>
            <a:off x="365760" y="1152144"/>
            <a:ext cx="4078224" cy="349300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8" name="Shape 6"/>
          <p:cNvSpPr/>
          <p:nvPr/>
        </p:nvSpPr>
        <p:spPr>
          <a:xfrm>
            <a:off x="365760" y="1152144"/>
            <a:ext cx="64008" cy="3493008"/>
          </a:xfrm>
          <a:prstGeom prst="rect">
            <a:avLst/>
          </a:prstGeom>
          <a:solidFill>
            <a:srgbClr val="00D4AA"/>
          </a:solidFill>
          <a:ln w="12700">
            <a:solidFill>
              <a:srgbClr val="00D4AA"/>
            </a:solidFill>
            <a:prstDash val="solid"/>
          </a:ln>
        </p:spPr>
      </p:sp>
      <p:sp>
        <p:nvSpPr>
          <p:cNvPr id="9" name="Shape 7"/>
          <p:cNvSpPr/>
          <p:nvPr/>
        </p:nvSpPr>
        <p:spPr>
          <a:xfrm>
            <a:off x="365760" y="1152144"/>
            <a:ext cx="4078224" cy="420624"/>
          </a:xfrm>
          <a:prstGeom prst="rect">
            <a:avLst/>
          </a:prstGeom>
          <a:solidFill>
            <a:srgbClr val="00D4AA"/>
          </a:solidFill>
          <a:ln w="12700">
            <a:solidFill>
              <a:srgbClr val="00D4AA"/>
            </a:solidFill>
            <a:prstDash val="solid"/>
          </a:ln>
        </p:spPr>
      </p:sp>
      <p:sp>
        <p:nvSpPr>
          <p:cNvPr id="10" name="Text 8"/>
          <p:cNvSpPr/>
          <p:nvPr/>
        </p:nvSpPr>
        <p:spPr>
          <a:xfrm>
            <a:off x="457200" y="1152144"/>
            <a:ext cx="109728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Mode A</a:t>
            </a:r>
            <a:endParaRPr lang="en-US" sz="1200" dirty="0"/>
          </a:p>
        </p:txBody>
      </p:sp>
      <p:sp>
        <p:nvSpPr>
          <p:cNvPr id="11" name="Text 9"/>
          <p:cNvSpPr/>
          <p:nvPr/>
        </p:nvSpPr>
        <p:spPr>
          <a:xfrm>
            <a:off x="1554480" y="1152144"/>
            <a:ext cx="27432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Full Canon Workflow</a:t>
            </a:r>
            <a:endParaRPr lang="en-US" sz="1400" dirty="0"/>
          </a:p>
        </p:txBody>
      </p:sp>
      <p:sp>
        <p:nvSpPr>
          <p:cNvPr id="12" name="Text 10"/>
          <p:cNvSpPr/>
          <p:nvPr/>
        </p:nvSpPr>
        <p:spPr>
          <a:xfrm>
            <a:off x="548640" y="1645920"/>
            <a:ext cx="3749040" cy="274320"/>
          </a:xfrm>
          <a:prstGeom prst="rect">
            <a:avLst/>
          </a:prstGeom>
          <a:noFill/>
          <a:ln/>
        </p:spPr>
        <p:txBody>
          <a:bodyPr wrap="square" lIns="0" tIns="0" rIns="0" bIns="0" rtlCol="0" anchor="ctr"/>
          <a:lstStyle/>
          <a:p>
            <a:pPr indent="0" marL="0">
              <a:buNone/>
            </a:pPr>
            <a:r>
              <a:rPr lang="en-US" sz="1100" i="1" dirty="0">
                <a:solidFill>
                  <a:srgbClr val="1E3A5F"/>
                </a:solidFill>
                <a:latin typeface="Calibri" pitchFamily="34" charset="0"/>
                <a:ea typeface="Calibri" pitchFamily="34" charset="-122"/>
                <a:cs typeface="Calibri" pitchFamily="34" charset="-120"/>
              </a:rPr>
              <a:t>Canon owns the working model end-to-end.</a:t>
            </a:r>
            <a:endParaRPr lang="en-US" sz="1100" dirty="0"/>
          </a:p>
        </p:txBody>
      </p:sp>
      <p:sp>
        <p:nvSpPr>
          <p:cNvPr id="13" name="Shape 11"/>
          <p:cNvSpPr/>
          <p:nvPr/>
        </p:nvSpPr>
        <p:spPr>
          <a:xfrm>
            <a:off x="548640" y="1993392"/>
            <a:ext cx="54864" cy="329184"/>
          </a:xfrm>
          <a:prstGeom prst="rect">
            <a:avLst/>
          </a:prstGeom>
          <a:solidFill>
            <a:srgbClr val="00D4AA"/>
          </a:solidFill>
          <a:ln w="12700">
            <a:solidFill>
              <a:srgbClr val="00D4AA"/>
            </a:solidFill>
            <a:prstDash val="solid"/>
          </a:ln>
        </p:spPr>
      </p:sp>
      <p:sp>
        <p:nvSpPr>
          <p:cNvPr id="14" name="Text 12"/>
          <p:cNvSpPr/>
          <p:nvPr/>
        </p:nvSpPr>
        <p:spPr>
          <a:xfrm>
            <a:off x="694944" y="1993392"/>
            <a:ext cx="3621024"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Cursor hooks fire on every turn — preflight hydrates context, capture fires after response</a:t>
            </a:r>
            <a:endParaRPr lang="en-US" sz="1000" dirty="0"/>
          </a:p>
        </p:txBody>
      </p:sp>
      <p:sp>
        <p:nvSpPr>
          <p:cNvPr id="15" name="Shape 13"/>
          <p:cNvSpPr/>
          <p:nvPr/>
        </p:nvSpPr>
        <p:spPr>
          <a:xfrm>
            <a:off x="548640" y="2468880"/>
            <a:ext cx="54864" cy="329184"/>
          </a:xfrm>
          <a:prstGeom prst="rect">
            <a:avLst/>
          </a:prstGeom>
          <a:solidFill>
            <a:srgbClr val="00D4AA"/>
          </a:solidFill>
          <a:ln w="12700">
            <a:solidFill>
              <a:srgbClr val="00D4AA"/>
            </a:solidFill>
            <a:prstDash val="solid"/>
          </a:ln>
        </p:spPr>
      </p:sp>
      <p:sp>
        <p:nvSpPr>
          <p:cNvPr id="16" name="Text 14"/>
          <p:cNvSpPr/>
          <p:nvPr/>
        </p:nvSpPr>
        <p:spPr>
          <a:xfrm>
            <a:off x="694944" y="2468880"/>
            <a:ext cx="3621024"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Six-agent chain: project-planner -&gt; scoper -&gt; cursor-pilot -&gt; implementer -&gt; qa-gate -&gt; release-orchestrator</a:t>
            </a:r>
            <a:endParaRPr lang="en-US" sz="1000" dirty="0"/>
          </a:p>
        </p:txBody>
      </p:sp>
      <p:sp>
        <p:nvSpPr>
          <p:cNvPr id="17" name="Shape 15"/>
          <p:cNvSpPr/>
          <p:nvPr/>
        </p:nvSpPr>
        <p:spPr>
          <a:xfrm>
            <a:off x="548640" y="2944368"/>
            <a:ext cx="54864" cy="329184"/>
          </a:xfrm>
          <a:prstGeom prst="rect">
            <a:avLst/>
          </a:prstGeom>
          <a:solidFill>
            <a:srgbClr val="00D4AA"/>
          </a:solidFill>
          <a:ln w="12700">
            <a:solidFill>
              <a:srgbClr val="00D4AA"/>
            </a:solidFill>
            <a:prstDash val="solid"/>
          </a:ln>
        </p:spPr>
      </p:sp>
      <p:sp>
        <p:nvSpPr>
          <p:cNvPr id="18" name="Text 16"/>
          <p:cNvSpPr/>
          <p:nvPr/>
        </p:nvSpPr>
        <p:spPr>
          <a:xfrm>
            <a:off x="694944" y="2944368"/>
            <a:ext cx="3621024"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File-backed handoff packets at every phase boundary</a:t>
            </a:r>
            <a:endParaRPr lang="en-US" sz="1000" dirty="0"/>
          </a:p>
        </p:txBody>
      </p:sp>
      <p:sp>
        <p:nvSpPr>
          <p:cNvPr id="19" name="Shape 17"/>
          <p:cNvSpPr/>
          <p:nvPr/>
        </p:nvSpPr>
        <p:spPr>
          <a:xfrm>
            <a:off x="548640" y="3419856"/>
            <a:ext cx="54864" cy="329184"/>
          </a:xfrm>
          <a:prstGeom prst="rect">
            <a:avLst/>
          </a:prstGeom>
          <a:solidFill>
            <a:srgbClr val="00D4AA"/>
          </a:solidFill>
          <a:ln w="12700">
            <a:solidFill>
              <a:srgbClr val="00D4AA"/>
            </a:solidFill>
            <a:prstDash val="solid"/>
          </a:ln>
        </p:spPr>
      </p:sp>
      <p:sp>
        <p:nvSpPr>
          <p:cNvPr id="20" name="Text 18"/>
          <p:cNvSpPr/>
          <p:nvPr/>
        </p:nvSpPr>
        <p:spPr>
          <a:xfrm>
            <a:off x="694944" y="3419856"/>
            <a:ext cx="3621024"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QA gates, DoR telemetry, and merge gates enforced before any branch or PR is accepted</a:t>
            </a:r>
            <a:endParaRPr lang="en-US" sz="1000" dirty="0"/>
          </a:p>
        </p:txBody>
      </p:sp>
      <p:sp>
        <p:nvSpPr>
          <p:cNvPr id="21" name="Shape 19"/>
          <p:cNvSpPr/>
          <p:nvPr/>
        </p:nvSpPr>
        <p:spPr>
          <a:xfrm>
            <a:off x="548640" y="3895344"/>
            <a:ext cx="54864" cy="329184"/>
          </a:xfrm>
          <a:prstGeom prst="rect">
            <a:avLst/>
          </a:prstGeom>
          <a:solidFill>
            <a:srgbClr val="00D4AA"/>
          </a:solidFill>
          <a:ln w="12700">
            <a:solidFill>
              <a:srgbClr val="00D4AA"/>
            </a:solidFill>
            <a:prstDash val="solid"/>
          </a:ln>
        </p:spPr>
      </p:sp>
      <p:sp>
        <p:nvSpPr>
          <p:cNvPr id="22" name="Text 20"/>
          <p:cNvSpPr/>
          <p:nvPr/>
        </p:nvSpPr>
        <p:spPr>
          <a:xfrm>
            <a:off x="694944" y="3895344"/>
            <a:ext cx="3621024"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Full audit trail: canonical events + checkpoint history + memory-health evidence</a:t>
            </a:r>
            <a:endParaRPr lang="en-US" sz="1000" dirty="0"/>
          </a:p>
        </p:txBody>
      </p:sp>
      <p:sp>
        <p:nvSpPr>
          <p:cNvPr id="23" name="Shape 21"/>
          <p:cNvSpPr/>
          <p:nvPr/>
        </p:nvSpPr>
        <p:spPr>
          <a:xfrm>
            <a:off x="4700016" y="1152144"/>
            <a:ext cx="4078224" cy="349300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24" name="Shape 22"/>
          <p:cNvSpPr/>
          <p:nvPr/>
        </p:nvSpPr>
        <p:spPr>
          <a:xfrm>
            <a:off x="4700016" y="1152144"/>
            <a:ext cx="64008" cy="3493008"/>
          </a:xfrm>
          <a:prstGeom prst="rect">
            <a:avLst/>
          </a:prstGeom>
          <a:solidFill>
            <a:srgbClr val="6366F1"/>
          </a:solidFill>
          <a:ln w="12700">
            <a:solidFill>
              <a:srgbClr val="6366F1"/>
            </a:solidFill>
            <a:prstDash val="solid"/>
          </a:ln>
        </p:spPr>
      </p:sp>
      <p:sp>
        <p:nvSpPr>
          <p:cNvPr id="25" name="Shape 23"/>
          <p:cNvSpPr/>
          <p:nvPr/>
        </p:nvSpPr>
        <p:spPr>
          <a:xfrm>
            <a:off x="4700016" y="1152144"/>
            <a:ext cx="4078224" cy="420624"/>
          </a:xfrm>
          <a:prstGeom prst="rect">
            <a:avLst/>
          </a:prstGeom>
          <a:solidFill>
            <a:srgbClr val="6366F1"/>
          </a:solidFill>
          <a:ln w="12700">
            <a:solidFill>
              <a:srgbClr val="6366F1"/>
            </a:solidFill>
            <a:prstDash val="solid"/>
          </a:ln>
        </p:spPr>
      </p:sp>
      <p:sp>
        <p:nvSpPr>
          <p:cNvPr id="26" name="Text 24"/>
          <p:cNvSpPr/>
          <p:nvPr/>
        </p:nvSpPr>
        <p:spPr>
          <a:xfrm>
            <a:off x="4791456" y="1152144"/>
            <a:ext cx="109728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Mode B</a:t>
            </a:r>
            <a:endParaRPr lang="en-US" sz="1200" dirty="0"/>
          </a:p>
        </p:txBody>
      </p:sp>
      <p:sp>
        <p:nvSpPr>
          <p:cNvPr id="27" name="Text 25"/>
          <p:cNvSpPr/>
          <p:nvPr/>
        </p:nvSpPr>
        <p:spPr>
          <a:xfrm>
            <a:off x="5888736" y="1152144"/>
            <a:ext cx="27432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Governance-over-External-Agents</a:t>
            </a:r>
            <a:endParaRPr lang="en-US" sz="1200" dirty="0"/>
          </a:p>
        </p:txBody>
      </p:sp>
      <p:sp>
        <p:nvSpPr>
          <p:cNvPr id="28" name="Text 26"/>
          <p:cNvSpPr/>
          <p:nvPr/>
        </p:nvSpPr>
        <p:spPr>
          <a:xfrm>
            <a:off x="4882896" y="1645920"/>
            <a:ext cx="3749040" cy="274320"/>
          </a:xfrm>
          <a:prstGeom prst="rect">
            <a:avLst/>
          </a:prstGeom>
          <a:noFill/>
          <a:ln/>
        </p:spPr>
        <p:txBody>
          <a:bodyPr wrap="square" lIns="0" tIns="0" rIns="0" bIns="0" rtlCol="0" anchor="ctr"/>
          <a:lstStyle/>
          <a:p>
            <a:pPr indent="0" marL="0">
              <a:buNone/>
            </a:pPr>
            <a:r>
              <a:rPr lang="en-US" sz="1100" i="1" dirty="0">
                <a:solidFill>
                  <a:srgbClr val="1E3A5F"/>
                </a:solidFill>
                <a:latin typeface="Calibri" pitchFamily="34" charset="0"/>
                <a:ea typeface="Calibri" pitchFamily="34" charset="-122"/>
                <a:cs typeface="Calibri" pitchFamily="34" charset="-120"/>
              </a:rPr>
              <a:t>Teams keep their runtime. Canon owns the boundaries.</a:t>
            </a:r>
            <a:endParaRPr lang="en-US" sz="1100" dirty="0"/>
          </a:p>
        </p:txBody>
      </p:sp>
      <p:sp>
        <p:nvSpPr>
          <p:cNvPr id="29" name="Shape 27"/>
          <p:cNvSpPr/>
          <p:nvPr/>
        </p:nvSpPr>
        <p:spPr>
          <a:xfrm>
            <a:off x="4882896" y="1993392"/>
            <a:ext cx="54864" cy="329184"/>
          </a:xfrm>
          <a:prstGeom prst="rect">
            <a:avLst/>
          </a:prstGeom>
          <a:solidFill>
            <a:srgbClr val="6366F1"/>
          </a:solidFill>
          <a:ln w="12700">
            <a:solidFill>
              <a:srgbClr val="6366F1"/>
            </a:solidFill>
            <a:prstDash val="solid"/>
          </a:ln>
        </p:spPr>
      </p:sp>
      <p:sp>
        <p:nvSpPr>
          <p:cNvPr id="30" name="Text 28"/>
          <p:cNvSpPr/>
          <p:nvPr/>
        </p:nvSpPr>
        <p:spPr>
          <a:xfrm>
            <a:off x="5029200" y="1993392"/>
            <a:ext cx="3621024"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Teams keep their own models, tools, prompts, and agent orchestration flow</a:t>
            </a:r>
            <a:endParaRPr lang="en-US" sz="1000" dirty="0"/>
          </a:p>
        </p:txBody>
      </p:sp>
      <p:sp>
        <p:nvSpPr>
          <p:cNvPr id="31" name="Shape 29"/>
          <p:cNvSpPr/>
          <p:nvPr/>
        </p:nvSpPr>
        <p:spPr>
          <a:xfrm>
            <a:off x="4882896" y="2468880"/>
            <a:ext cx="54864" cy="329184"/>
          </a:xfrm>
          <a:prstGeom prst="rect">
            <a:avLst/>
          </a:prstGeom>
          <a:solidFill>
            <a:srgbClr val="6366F1"/>
          </a:solidFill>
          <a:ln w="12700">
            <a:solidFill>
              <a:srgbClr val="6366F1"/>
            </a:solidFill>
            <a:prstDash val="solid"/>
          </a:ln>
        </p:spPr>
      </p:sp>
      <p:sp>
        <p:nvSpPr>
          <p:cNvPr id="32" name="Text 30"/>
          <p:cNvSpPr/>
          <p:nvPr/>
        </p:nvSpPr>
        <p:spPr>
          <a:xfrm>
            <a:off x="5029200" y="2468880"/>
            <a:ext cx="3621024"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Canon sits above as the control plane — not inside the inner loop</a:t>
            </a:r>
            <a:endParaRPr lang="en-US" sz="1000" dirty="0"/>
          </a:p>
        </p:txBody>
      </p:sp>
      <p:sp>
        <p:nvSpPr>
          <p:cNvPr id="33" name="Shape 31"/>
          <p:cNvSpPr/>
          <p:nvPr/>
        </p:nvSpPr>
        <p:spPr>
          <a:xfrm>
            <a:off x="4882896" y="2944368"/>
            <a:ext cx="54864" cy="329184"/>
          </a:xfrm>
          <a:prstGeom prst="rect">
            <a:avLst/>
          </a:prstGeom>
          <a:solidFill>
            <a:srgbClr val="6366F1"/>
          </a:solidFill>
          <a:ln w="12700">
            <a:solidFill>
              <a:srgbClr val="6366F1"/>
            </a:solidFill>
            <a:prstDash val="solid"/>
          </a:ln>
        </p:spPr>
      </p:sp>
      <p:sp>
        <p:nvSpPr>
          <p:cNvPr id="34" name="Text 32"/>
          <p:cNvSpPr/>
          <p:nvPr/>
        </p:nvSpPr>
        <p:spPr>
          <a:xfrm>
            <a:off x="5029200" y="2944368"/>
            <a:ext cx="3621024"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Canon enforces: required task handoffs, checkpoint/state updates, evidence capture</a:t>
            </a:r>
            <a:endParaRPr lang="en-US" sz="1000" dirty="0"/>
          </a:p>
        </p:txBody>
      </p:sp>
      <p:sp>
        <p:nvSpPr>
          <p:cNvPr id="35" name="Shape 33"/>
          <p:cNvSpPr/>
          <p:nvPr/>
        </p:nvSpPr>
        <p:spPr>
          <a:xfrm>
            <a:off x="4882896" y="3419856"/>
            <a:ext cx="54864" cy="329184"/>
          </a:xfrm>
          <a:prstGeom prst="rect">
            <a:avLst/>
          </a:prstGeom>
          <a:solidFill>
            <a:srgbClr val="6366F1"/>
          </a:solidFill>
          <a:ln w="12700">
            <a:solidFill>
              <a:srgbClr val="6366F1"/>
            </a:solidFill>
            <a:prstDash val="solid"/>
          </a:ln>
        </p:spPr>
      </p:sp>
      <p:sp>
        <p:nvSpPr>
          <p:cNvPr id="36" name="Text 34"/>
          <p:cNvSpPr/>
          <p:nvPr/>
        </p:nvSpPr>
        <p:spPr>
          <a:xfrm>
            <a:off x="5029200" y="3419856"/>
            <a:ext cx="3621024"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Canon enforces: PR / merge / release gates and audit trail regardless of who ran the code</a:t>
            </a:r>
            <a:endParaRPr lang="en-US" sz="1000" dirty="0"/>
          </a:p>
        </p:txBody>
      </p:sp>
      <p:sp>
        <p:nvSpPr>
          <p:cNvPr id="37" name="Shape 35"/>
          <p:cNvSpPr/>
          <p:nvPr/>
        </p:nvSpPr>
        <p:spPr>
          <a:xfrm>
            <a:off x="4882896" y="3895344"/>
            <a:ext cx="54864" cy="329184"/>
          </a:xfrm>
          <a:prstGeom prst="rect">
            <a:avLst/>
          </a:prstGeom>
          <a:solidFill>
            <a:srgbClr val="6366F1"/>
          </a:solidFill>
          <a:ln w="12700">
            <a:solidFill>
              <a:srgbClr val="6366F1"/>
            </a:solidFill>
            <a:prstDash val="solid"/>
          </a:ln>
        </p:spPr>
      </p:sp>
      <p:sp>
        <p:nvSpPr>
          <p:cNvPr id="38" name="Text 36"/>
          <p:cNvSpPr/>
          <p:nvPr/>
        </p:nvSpPr>
        <p:spPr>
          <a:xfrm>
            <a:off x="5029200" y="3895344"/>
            <a:ext cx="3621024"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First validated path: Canon AWS infrastructure dispatches to Cursor SDK cloud execution</a:t>
            </a:r>
            <a:endParaRPr lang="en-US" sz="1000" dirty="0"/>
          </a:p>
        </p:txBody>
      </p:sp>
      <p:sp>
        <p:nvSpPr>
          <p:cNvPr id="39" name="Shape 37"/>
          <p:cNvSpPr/>
          <p:nvPr/>
        </p:nvSpPr>
        <p:spPr>
          <a:xfrm>
            <a:off x="365760" y="4773168"/>
            <a:ext cx="8412480" cy="256032"/>
          </a:xfrm>
          <a:prstGeom prst="rect">
            <a:avLst/>
          </a:prstGeom>
          <a:solidFill>
            <a:srgbClr val="0D1B2A"/>
          </a:solidFill>
          <a:ln w="12700">
            <a:solidFill>
              <a:srgbClr val="1E3A5F"/>
            </a:solidFill>
            <a:prstDash val="solid"/>
          </a:ln>
        </p:spPr>
      </p:sp>
      <p:sp>
        <p:nvSpPr>
          <p:cNvPr id="40" name="Text 38"/>
          <p:cNvSpPr/>
          <p:nvPr/>
        </p:nvSpPr>
        <p:spPr>
          <a:xfrm>
            <a:off x="530352" y="4773168"/>
            <a:ext cx="8229600" cy="256032"/>
          </a:xfrm>
          <a:prstGeom prst="rect">
            <a:avLst/>
          </a:prstGeom>
          <a:noFill/>
          <a:ln/>
        </p:spPr>
        <p:txBody>
          <a:bodyPr wrap="square" lIns="0" tIns="0" rIns="0" bIns="0" rtlCol="0" anchor="ctr"/>
          <a:lstStyle/>
          <a:p>
            <a:pPr indent="0" marL="0">
              <a:buNone/>
            </a:pPr>
            <a:r>
              <a:rPr lang="en-US" sz="1000" b="1" dirty="0">
                <a:solidFill>
                  <a:srgbClr val="7BA3C4"/>
                </a:solidFill>
                <a:latin typeface="Calibri" pitchFamily="34" charset="0"/>
                <a:ea typeface="Calibri" pitchFamily="34" charset="-122"/>
                <a:cs typeface="Calibri" pitchFamily="34" charset="-120"/>
              </a:rPr>
              <a:t>Both modes produce the same canonical events, checkpoint history, and evidence envelope. The shell can change. The governance model does not.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384048" cy="5143500"/>
          </a:xfrm>
          <a:prstGeom prst="rect">
            <a:avLst/>
          </a:prstGeom>
          <a:solidFill>
            <a:srgbClr val="00D4AA"/>
          </a:solidFill>
          <a:ln w="12700">
            <a:solidFill>
              <a:srgbClr val="00D4AA"/>
            </a:solidFill>
            <a:prstDash val="solid"/>
          </a:ln>
        </p:spPr>
      </p:sp>
      <p:sp>
        <p:nvSpPr>
          <p:cNvPr id="3" name="Text 1"/>
          <p:cNvSpPr/>
          <p:nvPr/>
        </p:nvSpPr>
        <p:spPr>
          <a:xfrm>
            <a:off x="5029200" y="-182880"/>
            <a:ext cx="4389120" cy="3840480"/>
          </a:xfrm>
          <a:prstGeom prst="rect">
            <a:avLst/>
          </a:prstGeom>
          <a:noFill/>
          <a:ln/>
        </p:spPr>
        <p:txBody>
          <a:bodyPr wrap="square" lIns="0" tIns="0" rIns="0" bIns="0" rtlCol="0" anchor="t"/>
          <a:lstStyle/>
          <a:p>
            <a:pPr algn="r" indent="0" marL="0">
              <a:buNone/>
            </a:pPr>
            <a:r>
              <a:rPr lang="en-US" sz="28000" b="1" dirty="0">
                <a:solidFill>
                  <a:srgbClr val="0A1F35"/>
                </a:solidFill>
                <a:latin typeface="Calibri" pitchFamily="34" charset="0"/>
                <a:ea typeface="Calibri" pitchFamily="34" charset="-122"/>
                <a:cs typeface="Calibri" pitchFamily="34" charset="-120"/>
              </a:rPr>
              <a:t>02</a:t>
            </a:r>
            <a:endParaRPr lang="en-US" sz="28000" dirty="0"/>
          </a:p>
        </p:txBody>
      </p:sp>
      <p:sp>
        <p:nvSpPr>
          <p:cNvPr id="4" name="Shape 2"/>
          <p:cNvSpPr/>
          <p:nvPr/>
        </p:nvSpPr>
        <p:spPr>
          <a:xfrm>
            <a:off x="566928" y="1536192"/>
            <a:ext cx="4114800" cy="36576"/>
          </a:xfrm>
          <a:prstGeom prst="rect">
            <a:avLst/>
          </a:prstGeom>
          <a:solidFill>
            <a:srgbClr val="00D4AA"/>
          </a:solidFill>
          <a:ln w="12700">
            <a:solidFill>
              <a:srgbClr val="00D4AA"/>
            </a:solidFill>
            <a:prstDash val="solid"/>
          </a:ln>
        </p:spPr>
      </p:sp>
      <p:sp>
        <p:nvSpPr>
          <p:cNvPr id="5" name="Text 3"/>
          <p:cNvSpPr/>
          <p:nvPr/>
        </p:nvSpPr>
        <p:spPr>
          <a:xfrm>
            <a:off x="566928" y="384048"/>
            <a:ext cx="1828800" cy="822960"/>
          </a:xfrm>
          <a:prstGeom prst="rect">
            <a:avLst/>
          </a:prstGeom>
          <a:noFill/>
          <a:ln/>
        </p:spPr>
        <p:txBody>
          <a:bodyPr wrap="square" lIns="0" tIns="0" rIns="0" bIns="0" rtlCol="0" anchor="ctr"/>
          <a:lstStyle/>
          <a:p>
            <a:pPr indent="0" marL="0">
              <a:buNone/>
            </a:pPr>
            <a:r>
              <a:rPr lang="en-US" sz="5200" b="1" dirty="0">
                <a:solidFill>
                  <a:srgbClr val="1A3050"/>
                </a:solidFill>
                <a:latin typeface="Calibri" pitchFamily="34" charset="0"/>
                <a:ea typeface="Calibri" pitchFamily="34" charset="-122"/>
                <a:cs typeface="Calibri" pitchFamily="34" charset="-120"/>
              </a:rPr>
              <a:t>02</a:t>
            </a:r>
            <a:endParaRPr lang="en-US" sz="5200" dirty="0"/>
          </a:p>
        </p:txBody>
      </p:sp>
      <p:sp>
        <p:nvSpPr>
          <p:cNvPr id="6" name="Text 4"/>
          <p:cNvSpPr/>
          <p:nvPr/>
        </p:nvSpPr>
        <p:spPr>
          <a:xfrm>
            <a:off x="566928" y="1115568"/>
            <a:ext cx="8229600" cy="457200"/>
          </a:xfrm>
          <a:prstGeom prst="rect">
            <a:avLst/>
          </a:prstGeom>
          <a:noFill/>
          <a:ln/>
        </p:spPr>
        <p:txBody>
          <a:bodyPr wrap="square" lIns="0" tIns="0" rIns="0" bIns="0" rtlCol="0" anchor="ctr"/>
          <a:lstStyle/>
          <a:p>
            <a:pPr indent="0" marL="0">
              <a:buNone/>
            </a:pPr>
            <a:r>
              <a:rPr lang="en-US" sz="1100" b="1" spc="500" kern="0" dirty="0">
                <a:solidFill>
                  <a:srgbClr val="00D4AA"/>
                </a:solidFill>
                <a:latin typeface="Calibri" pitchFamily="34" charset="0"/>
                <a:ea typeface="Calibri" pitchFamily="34" charset="-122"/>
                <a:cs typeface="Calibri" pitchFamily="34" charset="-120"/>
              </a:rPr>
              <a:t>HOW IT WORKS</a:t>
            </a:r>
            <a:endParaRPr lang="en-US" sz="1100" dirty="0"/>
          </a:p>
        </p:txBody>
      </p:sp>
      <p:sp>
        <p:nvSpPr>
          <p:cNvPr id="7" name="Text 5"/>
          <p:cNvSpPr/>
          <p:nvPr/>
        </p:nvSpPr>
        <p:spPr>
          <a:xfrm>
            <a:off x="566928" y="1572768"/>
            <a:ext cx="5943600" cy="141732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Architecture, Agent Chain</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&amp; Memory Model.</a:t>
            </a:r>
            <a:endParaRPr lang="en-US" sz="3600" dirty="0"/>
          </a:p>
        </p:txBody>
      </p:sp>
      <p:sp>
        <p:nvSpPr>
          <p:cNvPr id="8" name="Shape 6"/>
          <p:cNvSpPr/>
          <p:nvPr/>
        </p:nvSpPr>
        <p:spPr>
          <a:xfrm>
            <a:off x="566928" y="3108960"/>
            <a:ext cx="566928" cy="566928"/>
          </a:xfrm>
          <a:prstGeom prst="ellipse">
            <a:avLst/>
          </a:prstGeom>
          <a:solidFill>
            <a:srgbClr val="0891B2"/>
          </a:solidFill>
          <a:ln w="12700">
            <a:solidFill>
              <a:srgbClr val="0891B2"/>
            </a:solidFill>
            <a:prstDash val="solid"/>
          </a:ln>
        </p:spPr>
      </p:sp>
      <p:sp>
        <p:nvSpPr>
          <p:cNvPr id="9" name="Text 7"/>
          <p:cNvSpPr/>
          <p:nvPr/>
        </p:nvSpPr>
        <p:spPr>
          <a:xfrm>
            <a:off x="566928" y="3108960"/>
            <a:ext cx="566928"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0" name="Text 8"/>
          <p:cNvSpPr/>
          <p:nvPr/>
        </p:nvSpPr>
        <p:spPr>
          <a:xfrm>
            <a:off x="1225296" y="3108960"/>
            <a:ext cx="2057400" cy="566928"/>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Three-Plane Memory Model</a:t>
            </a:r>
            <a:endParaRPr lang="en-US" sz="1400" dirty="0"/>
          </a:p>
        </p:txBody>
      </p:sp>
      <p:sp>
        <p:nvSpPr>
          <p:cNvPr id="11" name="Shape 9"/>
          <p:cNvSpPr/>
          <p:nvPr/>
        </p:nvSpPr>
        <p:spPr>
          <a:xfrm>
            <a:off x="3383280" y="3108960"/>
            <a:ext cx="566928" cy="566928"/>
          </a:xfrm>
          <a:prstGeom prst="ellipse">
            <a:avLst/>
          </a:prstGeom>
          <a:solidFill>
            <a:srgbClr val="00D4AA"/>
          </a:solidFill>
          <a:ln w="12700">
            <a:solidFill>
              <a:srgbClr val="00D4AA"/>
            </a:solidFill>
            <a:prstDash val="solid"/>
          </a:ln>
        </p:spPr>
      </p:sp>
      <p:sp>
        <p:nvSpPr>
          <p:cNvPr id="12" name="Text 10"/>
          <p:cNvSpPr/>
          <p:nvPr/>
        </p:nvSpPr>
        <p:spPr>
          <a:xfrm>
            <a:off x="3383280" y="3108960"/>
            <a:ext cx="566928"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13" name="Text 11"/>
          <p:cNvSpPr/>
          <p:nvPr/>
        </p:nvSpPr>
        <p:spPr>
          <a:xfrm>
            <a:off x="4041648" y="3108960"/>
            <a:ext cx="2057400" cy="566928"/>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The Six-Agent Chain</a:t>
            </a:r>
            <a:endParaRPr lang="en-US" sz="1400" dirty="0"/>
          </a:p>
        </p:txBody>
      </p:sp>
      <p:sp>
        <p:nvSpPr>
          <p:cNvPr id="14" name="Shape 12"/>
          <p:cNvSpPr/>
          <p:nvPr/>
        </p:nvSpPr>
        <p:spPr>
          <a:xfrm>
            <a:off x="6199632" y="3108960"/>
            <a:ext cx="566928" cy="566928"/>
          </a:xfrm>
          <a:prstGeom prst="ellipse">
            <a:avLst/>
          </a:prstGeom>
          <a:solidFill>
            <a:srgbClr val="6366F1"/>
          </a:solidFill>
          <a:ln w="12700">
            <a:solidFill>
              <a:srgbClr val="6366F1"/>
            </a:solidFill>
            <a:prstDash val="solid"/>
          </a:ln>
        </p:spPr>
      </p:sp>
      <p:sp>
        <p:nvSpPr>
          <p:cNvPr id="15" name="Text 13"/>
          <p:cNvSpPr/>
          <p:nvPr/>
        </p:nvSpPr>
        <p:spPr>
          <a:xfrm>
            <a:off x="6199632" y="3108960"/>
            <a:ext cx="566928"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16" name="Text 14"/>
          <p:cNvSpPr/>
          <p:nvPr/>
        </p:nvSpPr>
        <p:spPr>
          <a:xfrm>
            <a:off x="6858000" y="3108960"/>
            <a:ext cx="2057400" cy="566928"/>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Handoff Packets &amp; Canonical Events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0"/>
            <a:ext cx="109728" cy="658368"/>
          </a:xfrm>
          <a:prstGeom prst="rect">
            <a:avLst/>
          </a:prstGeom>
          <a:solidFill>
            <a:srgbClr val="00D4AA"/>
          </a:solidFill>
          <a:ln w="12700">
            <a:solidFill>
              <a:srgbClr val="00D4AA"/>
            </a:solidFill>
            <a:prstDash val="solid"/>
          </a:ln>
        </p:spPr>
      </p:sp>
      <p:sp>
        <p:nvSpPr>
          <p:cNvPr id="4" name="Text 2"/>
          <p:cNvSpPr/>
          <p:nvPr/>
        </p:nvSpPr>
        <p:spPr>
          <a:xfrm>
            <a:off x="219456" y="0"/>
            <a:ext cx="685800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The Three-Plane Memory Architecture</a:t>
            </a:r>
            <a:endParaRPr lang="en-US" sz="2100" dirty="0"/>
          </a:p>
        </p:txBody>
      </p:sp>
      <p:sp>
        <p:nvSpPr>
          <p:cNvPr id="5" name="Text 3"/>
          <p:cNvSpPr/>
          <p:nvPr/>
        </p:nvSpPr>
        <p:spPr>
          <a:xfrm>
            <a:off x="219456" y="0"/>
            <a:ext cx="8778240" cy="658368"/>
          </a:xfrm>
          <a:prstGeom prst="rect">
            <a:avLst/>
          </a:prstGeom>
          <a:noFill/>
          <a:ln/>
        </p:spPr>
        <p:txBody>
          <a:bodyPr wrap="square" lIns="0" tIns="0" rIns="0" bIns="0" rtlCol="0" anchor="ctr"/>
          <a:lstStyle/>
          <a:p>
            <a:pPr algn="r" indent="0" marL="0">
              <a:buNone/>
            </a:pPr>
            <a:r>
              <a:rPr lang="en-US" sz="1000" dirty="0">
                <a:solidFill>
                  <a:srgbClr val="4B6A8A"/>
                </a:solidFill>
                <a:latin typeface="Calibri" pitchFamily="34" charset="0"/>
                <a:ea typeface="Calibri" pitchFamily="34" charset="-122"/>
                <a:cs typeface="Calibri" pitchFamily="34" charset="-120"/>
              </a:rPr>
              <a:t>How It Works → Memory Model</a:t>
            </a:r>
            <a:endParaRPr lang="en-US" sz="1000" dirty="0"/>
          </a:p>
        </p:txBody>
      </p:sp>
      <p:sp>
        <p:nvSpPr>
          <p:cNvPr id="6" name="Text 4"/>
          <p:cNvSpPr/>
          <p:nvPr/>
        </p:nvSpPr>
        <p:spPr>
          <a:xfrm>
            <a:off x="365760" y="749808"/>
            <a:ext cx="8412480" cy="310896"/>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Four distinct planes — each answering a different question about your work.</a:t>
            </a:r>
            <a:endParaRPr lang="en-US" sz="1300" dirty="0"/>
          </a:p>
        </p:txBody>
      </p:sp>
      <p:sp>
        <p:nvSpPr>
          <p:cNvPr id="7" name="Shape 5"/>
          <p:cNvSpPr/>
          <p:nvPr/>
        </p:nvSpPr>
        <p:spPr>
          <a:xfrm>
            <a:off x="201168" y="1143000"/>
            <a:ext cx="2103120" cy="367588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8" name="Shape 6"/>
          <p:cNvSpPr/>
          <p:nvPr/>
        </p:nvSpPr>
        <p:spPr>
          <a:xfrm>
            <a:off x="201168" y="1143000"/>
            <a:ext cx="2103120" cy="475488"/>
          </a:xfrm>
          <a:prstGeom prst="rect">
            <a:avLst/>
          </a:prstGeom>
          <a:solidFill>
            <a:srgbClr val="0891B2"/>
          </a:solidFill>
          <a:ln w="12700">
            <a:solidFill>
              <a:srgbClr val="0891B2"/>
            </a:solidFill>
            <a:prstDash val="solid"/>
          </a:ln>
        </p:spPr>
      </p:sp>
      <p:sp>
        <p:nvSpPr>
          <p:cNvPr id="9" name="Text 7"/>
          <p:cNvSpPr/>
          <p:nvPr/>
        </p:nvSpPr>
        <p:spPr>
          <a:xfrm>
            <a:off x="274320" y="1188720"/>
            <a:ext cx="1938528"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Plane A</a:t>
            </a:r>
            <a:endParaRPr lang="en-US" sz="1100" dirty="0"/>
          </a:p>
        </p:txBody>
      </p:sp>
      <p:sp>
        <p:nvSpPr>
          <p:cNvPr id="10" name="Text 8"/>
          <p:cNvSpPr/>
          <p:nvPr/>
        </p:nvSpPr>
        <p:spPr>
          <a:xfrm>
            <a:off x="292608" y="1682496"/>
            <a:ext cx="1920240" cy="438912"/>
          </a:xfrm>
          <a:prstGeom prst="rect">
            <a:avLst/>
          </a:prstGeom>
          <a:noFill/>
          <a:ln/>
        </p:spPr>
        <p:txBody>
          <a:bodyPr wrap="square" lIns="0" tIns="0" rIns="0" bIns="0" rtlCol="0" anchor="ctr"/>
          <a:lstStyle/>
          <a:p>
            <a:pPr indent="0" marL="0">
              <a:buNone/>
            </a:pPr>
            <a:r>
              <a:rPr lang="en-US" sz="1200" b="1" dirty="0">
                <a:solidFill>
                  <a:srgbClr val="0D1117"/>
                </a:solidFill>
                <a:latin typeface="Calibri" pitchFamily="34" charset="0"/>
                <a:ea typeface="Calibri" pitchFamily="34" charset="-122"/>
                <a:cs typeface="Calibri" pitchFamily="34" charset="-120"/>
              </a:rPr>
              <a:t>Code Graph Plane</a:t>
            </a:r>
            <a:endParaRPr lang="en-US" sz="1200" dirty="0"/>
          </a:p>
        </p:txBody>
      </p:sp>
      <p:sp>
        <p:nvSpPr>
          <p:cNvPr id="11" name="Text 9"/>
          <p:cNvSpPr/>
          <p:nvPr/>
        </p:nvSpPr>
        <p:spPr>
          <a:xfrm>
            <a:off x="292608" y="2103120"/>
            <a:ext cx="1920240" cy="347472"/>
          </a:xfrm>
          <a:prstGeom prst="rect">
            <a:avLst/>
          </a:prstGeom>
          <a:noFill/>
          <a:ln/>
        </p:spPr>
        <p:txBody>
          <a:bodyPr wrap="square" lIns="0" tIns="0" rIns="0" bIns="0" rtlCol="0" anchor="ctr"/>
          <a:lstStyle/>
          <a:p>
            <a:pPr indent="0" marL="0">
              <a:buNone/>
            </a:pPr>
            <a:r>
              <a:rPr lang="en-US" sz="1000" b="1" i="1" dirty="0">
                <a:solidFill>
                  <a:srgbClr val="0891B2"/>
                </a:solidFill>
                <a:latin typeface="Calibri" pitchFamily="34" charset="0"/>
                <a:ea typeface="Calibri" pitchFamily="34" charset="-122"/>
                <a:cs typeface="Calibri" pitchFamily="34" charset="-120"/>
              </a:rPr>
              <a:t>"What exists in the code?"</a:t>
            </a:r>
            <a:endParaRPr lang="en-US" sz="1000" dirty="0"/>
          </a:p>
        </p:txBody>
      </p:sp>
      <p:sp>
        <p:nvSpPr>
          <p:cNvPr id="12" name="Text 10"/>
          <p:cNvSpPr/>
          <p:nvPr/>
        </p:nvSpPr>
        <p:spPr>
          <a:xfrm>
            <a:off x="292608" y="2468880"/>
            <a:ext cx="1920240" cy="86868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Per-commit graph snapshots. Blast-radius analysis. Graph-first retrieval before any broad file reads.</a:t>
            </a:r>
            <a:endParaRPr lang="en-US" sz="1000" dirty="0"/>
          </a:p>
        </p:txBody>
      </p:sp>
      <p:sp>
        <p:nvSpPr>
          <p:cNvPr id="13" name="Shape 11"/>
          <p:cNvSpPr/>
          <p:nvPr/>
        </p:nvSpPr>
        <p:spPr>
          <a:xfrm>
            <a:off x="201168" y="3419856"/>
            <a:ext cx="2103120" cy="1389888"/>
          </a:xfrm>
          <a:prstGeom prst="rect">
            <a:avLst/>
          </a:prstGeom>
          <a:solidFill>
            <a:srgbClr val="F1F5F9"/>
          </a:solidFill>
          <a:ln w="5080">
            <a:solidFill>
              <a:srgbClr val="E2E8F0"/>
            </a:solidFill>
            <a:prstDash val="solid"/>
          </a:ln>
        </p:spPr>
      </p:sp>
      <p:sp>
        <p:nvSpPr>
          <p:cNvPr id="14" name="Text 12"/>
          <p:cNvSpPr/>
          <p:nvPr/>
        </p:nvSpPr>
        <p:spPr>
          <a:xfrm>
            <a:off x="292608" y="3474720"/>
            <a:ext cx="1920240" cy="1280160"/>
          </a:xfrm>
          <a:prstGeom prst="rect">
            <a:avLst/>
          </a:prstGeom>
          <a:noFill/>
          <a:ln/>
        </p:spPr>
        <p:txBody>
          <a:bodyPr wrap="square" lIns="0" tIns="0" rIns="0" bIns="0" rtlCol="0" anchor="ctr"/>
          <a:lstStyle/>
          <a:p>
            <a:pPr indent="0" marL="0">
              <a:buNone/>
            </a:pPr>
            <a:r>
              <a:rPr lang="en-US" sz="850" dirty="0">
                <a:solidFill>
                  <a:srgbClr val="64748B"/>
                </a:solidFill>
                <a:latin typeface="Courier New" pitchFamily="34" charset="0"/>
                <a:ea typeface="Courier New" pitchFamily="34" charset="-122"/>
                <a:cs typeface="Courier New" pitchFamily="34" charset="-120"/>
              </a:rPr>
              <a:t>Backend: axon-service</a:t>
            </a:r>
            <a:endParaRPr lang="en-US" sz="850" dirty="0"/>
          </a:p>
          <a:p>
            <a:pPr indent="0" marL="0">
              <a:buNone/>
            </a:pPr>
            <a:r>
              <a:rPr lang="en-US" sz="850" dirty="0">
                <a:solidFill>
                  <a:srgbClr val="64748B"/>
                </a:solidFill>
                <a:latin typeface="Courier New" pitchFamily="34" charset="0"/>
                <a:ea typeface="Courier New" pitchFamily="34" charset="-122"/>
                <a:cs typeface="Courier New" pitchFamily="34" charset="-120"/>
              </a:rPr>
              <a:t>Storage: S3 + DynamoDB</a:t>
            </a:r>
            <a:endParaRPr lang="en-US" sz="850" dirty="0"/>
          </a:p>
          <a:p>
            <a:pPr indent="0" marL="0">
              <a:buNone/>
            </a:pPr>
            <a:r>
              <a:rPr lang="en-US" sz="850" dirty="0">
                <a:solidFill>
                  <a:srgbClr val="64748B"/>
                </a:solidFill>
                <a:latin typeface="Courier New" pitchFamily="34" charset="0"/>
                <a:ea typeface="Courier New" pitchFamily="34" charset="-122"/>
                <a:cs typeface="Courier New" pitchFamily="34" charset="-120"/>
              </a:rPr>
              <a:t>CLI:     canon graph index|query|impact</a:t>
            </a:r>
            <a:endParaRPr lang="en-US" sz="850" dirty="0"/>
          </a:p>
        </p:txBody>
      </p:sp>
      <p:sp>
        <p:nvSpPr>
          <p:cNvPr id="15" name="Shape 13"/>
          <p:cNvSpPr/>
          <p:nvPr/>
        </p:nvSpPr>
        <p:spPr>
          <a:xfrm>
            <a:off x="2414016" y="1143000"/>
            <a:ext cx="2103120" cy="367588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16" name="Shape 14"/>
          <p:cNvSpPr/>
          <p:nvPr/>
        </p:nvSpPr>
        <p:spPr>
          <a:xfrm>
            <a:off x="2414016" y="1143000"/>
            <a:ext cx="2103120" cy="475488"/>
          </a:xfrm>
          <a:prstGeom prst="rect">
            <a:avLst/>
          </a:prstGeom>
          <a:solidFill>
            <a:srgbClr val="00D4AA"/>
          </a:solidFill>
          <a:ln w="12700">
            <a:solidFill>
              <a:srgbClr val="00D4AA"/>
            </a:solidFill>
            <a:prstDash val="solid"/>
          </a:ln>
        </p:spPr>
      </p:sp>
      <p:sp>
        <p:nvSpPr>
          <p:cNvPr id="17" name="Text 15"/>
          <p:cNvSpPr/>
          <p:nvPr/>
        </p:nvSpPr>
        <p:spPr>
          <a:xfrm>
            <a:off x="2487168" y="1188720"/>
            <a:ext cx="1938528"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Plane B</a:t>
            </a:r>
            <a:endParaRPr lang="en-US" sz="1100" dirty="0"/>
          </a:p>
        </p:txBody>
      </p:sp>
      <p:sp>
        <p:nvSpPr>
          <p:cNvPr id="18" name="Text 16"/>
          <p:cNvSpPr/>
          <p:nvPr/>
        </p:nvSpPr>
        <p:spPr>
          <a:xfrm>
            <a:off x="2505456" y="1682496"/>
            <a:ext cx="1920240" cy="438912"/>
          </a:xfrm>
          <a:prstGeom prst="rect">
            <a:avLst/>
          </a:prstGeom>
          <a:noFill/>
          <a:ln/>
        </p:spPr>
        <p:txBody>
          <a:bodyPr wrap="square" lIns="0" tIns="0" rIns="0" bIns="0" rtlCol="0" anchor="ctr"/>
          <a:lstStyle/>
          <a:p>
            <a:pPr indent="0" marL="0">
              <a:buNone/>
            </a:pPr>
            <a:r>
              <a:rPr lang="en-US" sz="1200" b="1" dirty="0">
                <a:solidFill>
                  <a:srgbClr val="0D1117"/>
                </a:solidFill>
                <a:latin typeface="Calibri" pitchFamily="34" charset="0"/>
                <a:ea typeface="Calibri" pitchFamily="34" charset="-122"/>
                <a:cs typeface="Calibri" pitchFamily="34" charset="-120"/>
              </a:rPr>
              <a:t>Operational State Plane</a:t>
            </a:r>
            <a:endParaRPr lang="en-US" sz="1200" dirty="0"/>
          </a:p>
        </p:txBody>
      </p:sp>
      <p:sp>
        <p:nvSpPr>
          <p:cNvPr id="19" name="Text 17"/>
          <p:cNvSpPr/>
          <p:nvPr/>
        </p:nvSpPr>
        <p:spPr>
          <a:xfrm>
            <a:off x="2505456" y="2103120"/>
            <a:ext cx="1920240" cy="347472"/>
          </a:xfrm>
          <a:prstGeom prst="rect">
            <a:avLst/>
          </a:prstGeom>
          <a:noFill/>
          <a:ln/>
        </p:spPr>
        <p:txBody>
          <a:bodyPr wrap="square" lIns="0" tIns="0" rIns="0" bIns="0" rtlCol="0" anchor="ctr"/>
          <a:lstStyle/>
          <a:p>
            <a:pPr indent="0" marL="0">
              <a:buNone/>
            </a:pPr>
            <a:r>
              <a:rPr lang="en-US" sz="1000" b="1" i="1" dirty="0">
                <a:solidFill>
                  <a:srgbClr val="00D4AA"/>
                </a:solidFill>
                <a:latin typeface="Calibri" pitchFamily="34" charset="0"/>
                <a:ea typeface="Calibri" pitchFamily="34" charset="-122"/>
                <a:cs typeface="Calibri" pitchFamily="34" charset="-120"/>
              </a:rPr>
              <a:t>"What is happening right now?"</a:t>
            </a:r>
            <a:endParaRPr lang="en-US" sz="1000" dirty="0"/>
          </a:p>
        </p:txBody>
      </p:sp>
      <p:sp>
        <p:nvSpPr>
          <p:cNvPr id="20" name="Text 18"/>
          <p:cNvSpPr/>
          <p:nvPr/>
        </p:nvSpPr>
        <p:spPr>
          <a:xfrm>
            <a:off x="2505456" y="2468880"/>
            <a:ext cx="1920240" cy="86868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Shared working memory across agents. Optimistic versioning + lease ownership per phase.</a:t>
            </a:r>
            <a:endParaRPr lang="en-US" sz="1000" dirty="0"/>
          </a:p>
        </p:txBody>
      </p:sp>
      <p:sp>
        <p:nvSpPr>
          <p:cNvPr id="21" name="Shape 19"/>
          <p:cNvSpPr/>
          <p:nvPr/>
        </p:nvSpPr>
        <p:spPr>
          <a:xfrm>
            <a:off x="2414016" y="3419856"/>
            <a:ext cx="2103120" cy="1389888"/>
          </a:xfrm>
          <a:prstGeom prst="rect">
            <a:avLst/>
          </a:prstGeom>
          <a:solidFill>
            <a:srgbClr val="F1F5F9"/>
          </a:solidFill>
          <a:ln w="5080">
            <a:solidFill>
              <a:srgbClr val="E2E8F0"/>
            </a:solidFill>
            <a:prstDash val="solid"/>
          </a:ln>
        </p:spPr>
      </p:sp>
      <p:sp>
        <p:nvSpPr>
          <p:cNvPr id="22" name="Text 20"/>
          <p:cNvSpPr/>
          <p:nvPr/>
        </p:nvSpPr>
        <p:spPr>
          <a:xfrm>
            <a:off x="2505456" y="3474720"/>
            <a:ext cx="1920240" cy="1280160"/>
          </a:xfrm>
          <a:prstGeom prst="rect">
            <a:avLst/>
          </a:prstGeom>
          <a:noFill/>
          <a:ln/>
        </p:spPr>
        <p:txBody>
          <a:bodyPr wrap="square" lIns="0" tIns="0" rIns="0" bIns="0" rtlCol="0" anchor="ctr"/>
          <a:lstStyle/>
          <a:p>
            <a:pPr indent="0" marL="0">
              <a:buNone/>
            </a:pPr>
            <a:r>
              <a:rPr lang="en-US" sz="850" dirty="0">
                <a:solidFill>
                  <a:srgbClr val="64748B"/>
                </a:solidFill>
                <a:latin typeface="Courier New" pitchFamily="34" charset="0"/>
                <a:ea typeface="Courier New" pitchFamily="34" charset="-122"/>
                <a:cs typeface="Courier New" pitchFamily="34" charset="-120"/>
              </a:rPr>
              <a:t>Backend: state-api</a:t>
            </a:r>
            <a:endParaRPr lang="en-US" sz="850" dirty="0"/>
          </a:p>
          <a:p>
            <a:pPr indent="0" marL="0">
              <a:buNone/>
            </a:pPr>
            <a:r>
              <a:rPr lang="en-US" sz="850" dirty="0">
                <a:solidFill>
                  <a:srgbClr val="64748B"/>
                </a:solidFill>
                <a:latin typeface="Courier New" pitchFamily="34" charset="0"/>
                <a:ea typeface="Courier New" pitchFamily="34" charset="-122"/>
                <a:cs typeface="Courier New" pitchFamily="34" charset="-120"/>
              </a:rPr>
              <a:t>Storage: DynamoDB (canon-state, PITR+SSE)</a:t>
            </a:r>
            <a:endParaRPr lang="en-US" sz="850" dirty="0"/>
          </a:p>
          <a:p>
            <a:pPr indent="0" marL="0">
              <a:buNone/>
            </a:pPr>
            <a:r>
              <a:rPr lang="en-US" sz="850" dirty="0">
                <a:solidFill>
                  <a:srgbClr val="64748B"/>
                </a:solidFill>
                <a:latin typeface="Courier New" pitchFamily="34" charset="0"/>
                <a:ea typeface="Courier New" pitchFamily="34" charset="-122"/>
                <a:cs typeface="Courier New" pitchFamily="34" charset="-120"/>
              </a:rPr>
              <a:t>CLI:     canon checkpoint read|write|lease-*</a:t>
            </a:r>
            <a:endParaRPr lang="en-US" sz="850" dirty="0"/>
          </a:p>
        </p:txBody>
      </p:sp>
      <p:sp>
        <p:nvSpPr>
          <p:cNvPr id="23" name="Shape 21"/>
          <p:cNvSpPr/>
          <p:nvPr/>
        </p:nvSpPr>
        <p:spPr>
          <a:xfrm>
            <a:off x="4626864" y="1143000"/>
            <a:ext cx="2103120" cy="367588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24" name="Shape 22"/>
          <p:cNvSpPr/>
          <p:nvPr/>
        </p:nvSpPr>
        <p:spPr>
          <a:xfrm>
            <a:off x="4626864" y="1143000"/>
            <a:ext cx="2103120" cy="475488"/>
          </a:xfrm>
          <a:prstGeom prst="rect">
            <a:avLst/>
          </a:prstGeom>
          <a:solidFill>
            <a:srgbClr val="6366F1"/>
          </a:solidFill>
          <a:ln w="12700">
            <a:solidFill>
              <a:srgbClr val="6366F1"/>
            </a:solidFill>
            <a:prstDash val="solid"/>
          </a:ln>
        </p:spPr>
      </p:sp>
      <p:sp>
        <p:nvSpPr>
          <p:cNvPr id="25" name="Text 23"/>
          <p:cNvSpPr/>
          <p:nvPr/>
        </p:nvSpPr>
        <p:spPr>
          <a:xfrm>
            <a:off x="4700016" y="1188720"/>
            <a:ext cx="1938528"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Plane C</a:t>
            </a:r>
            <a:endParaRPr lang="en-US" sz="1100" dirty="0"/>
          </a:p>
        </p:txBody>
      </p:sp>
      <p:sp>
        <p:nvSpPr>
          <p:cNvPr id="26" name="Text 24"/>
          <p:cNvSpPr/>
          <p:nvPr/>
        </p:nvSpPr>
        <p:spPr>
          <a:xfrm>
            <a:off x="4718304" y="1682496"/>
            <a:ext cx="1920240" cy="438912"/>
          </a:xfrm>
          <a:prstGeom prst="rect">
            <a:avLst/>
          </a:prstGeom>
          <a:noFill/>
          <a:ln/>
        </p:spPr>
        <p:txBody>
          <a:bodyPr wrap="square" lIns="0" tIns="0" rIns="0" bIns="0" rtlCol="0" anchor="ctr"/>
          <a:lstStyle/>
          <a:p>
            <a:pPr indent="0" marL="0">
              <a:buNone/>
            </a:pPr>
            <a:r>
              <a:rPr lang="en-US" sz="1200" b="1" dirty="0">
                <a:solidFill>
                  <a:srgbClr val="0D1117"/>
                </a:solidFill>
                <a:latin typeface="Calibri" pitchFamily="34" charset="0"/>
                <a:ea typeface="Calibri" pitchFamily="34" charset="-122"/>
                <a:cs typeface="Calibri" pitchFamily="34" charset="-120"/>
              </a:rPr>
              <a:t>Historical Knowledge</a:t>
            </a:r>
            <a:endParaRPr lang="en-US" sz="1200" dirty="0"/>
          </a:p>
        </p:txBody>
      </p:sp>
      <p:sp>
        <p:nvSpPr>
          <p:cNvPr id="27" name="Text 25"/>
          <p:cNvSpPr/>
          <p:nvPr/>
        </p:nvSpPr>
        <p:spPr>
          <a:xfrm>
            <a:off x="4718304" y="2103120"/>
            <a:ext cx="1920240" cy="347472"/>
          </a:xfrm>
          <a:prstGeom prst="rect">
            <a:avLst/>
          </a:prstGeom>
          <a:noFill/>
          <a:ln/>
        </p:spPr>
        <p:txBody>
          <a:bodyPr wrap="square" lIns="0" tIns="0" rIns="0" bIns="0" rtlCol="0" anchor="ctr"/>
          <a:lstStyle/>
          <a:p>
            <a:pPr indent="0" marL="0">
              <a:buNone/>
            </a:pPr>
            <a:r>
              <a:rPr lang="en-US" sz="1000" b="1" i="1" dirty="0">
                <a:solidFill>
                  <a:srgbClr val="6366F1"/>
                </a:solidFill>
                <a:latin typeface="Calibri" pitchFamily="34" charset="0"/>
                <a:ea typeface="Calibri" pitchFamily="34" charset="-122"/>
                <a:cs typeface="Calibri" pitchFamily="34" charset="-120"/>
              </a:rPr>
              <a:t>"What happened and why?"</a:t>
            </a:r>
            <a:endParaRPr lang="en-US" sz="1000" dirty="0"/>
          </a:p>
        </p:txBody>
      </p:sp>
      <p:sp>
        <p:nvSpPr>
          <p:cNvPr id="28" name="Text 26"/>
          <p:cNvSpPr/>
          <p:nvPr/>
        </p:nvSpPr>
        <p:spPr>
          <a:xfrm>
            <a:off x="4718304" y="2468880"/>
            <a:ext cx="1920240" cy="86868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Full auditability. Canonical artifacts + MemPalace semantic search. Tenant-scoped via HTTP headers.</a:t>
            </a:r>
            <a:endParaRPr lang="en-US" sz="1000" dirty="0"/>
          </a:p>
        </p:txBody>
      </p:sp>
      <p:sp>
        <p:nvSpPr>
          <p:cNvPr id="29" name="Shape 27"/>
          <p:cNvSpPr/>
          <p:nvPr/>
        </p:nvSpPr>
        <p:spPr>
          <a:xfrm>
            <a:off x="4626864" y="3419856"/>
            <a:ext cx="2103120" cy="1389888"/>
          </a:xfrm>
          <a:prstGeom prst="rect">
            <a:avLst/>
          </a:prstGeom>
          <a:solidFill>
            <a:srgbClr val="F1F5F9"/>
          </a:solidFill>
          <a:ln w="5080">
            <a:solidFill>
              <a:srgbClr val="E2E8F0"/>
            </a:solidFill>
            <a:prstDash val="solid"/>
          </a:ln>
        </p:spPr>
      </p:sp>
      <p:sp>
        <p:nvSpPr>
          <p:cNvPr id="30" name="Text 28"/>
          <p:cNvSpPr/>
          <p:nvPr/>
        </p:nvSpPr>
        <p:spPr>
          <a:xfrm>
            <a:off x="4718304" y="3474720"/>
            <a:ext cx="1920240" cy="1280160"/>
          </a:xfrm>
          <a:prstGeom prst="rect">
            <a:avLst/>
          </a:prstGeom>
          <a:noFill/>
          <a:ln/>
        </p:spPr>
        <p:txBody>
          <a:bodyPr wrap="square" lIns="0" tIns="0" rIns="0" bIns="0" rtlCol="0" anchor="ctr"/>
          <a:lstStyle/>
          <a:p>
            <a:pPr indent="0" marL="0">
              <a:buNone/>
            </a:pPr>
            <a:r>
              <a:rPr lang="en-US" sz="850" dirty="0">
                <a:solidFill>
                  <a:srgbClr val="64748B"/>
                </a:solidFill>
                <a:latin typeface="Courier New" pitchFamily="34" charset="0"/>
                <a:ea typeface="Courier New" pitchFamily="34" charset="-122"/>
                <a:cs typeface="Courier New" pitchFamily="34" charset="-120"/>
              </a:rPr>
              <a:t>Backend: knowledge-api + memory-adapter</a:t>
            </a:r>
            <a:endParaRPr lang="en-US" sz="850" dirty="0"/>
          </a:p>
          <a:p>
            <a:pPr indent="0" marL="0">
              <a:buNone/>
            </a:pPr>
            <a:r>
              <a:rPr lang="en-US" sz="850" dirty="0">
                <a:solidFill>
                  <a:srgbClr val="64748B"/>
                </a:solidFill>
                <a:latin typeface="Courier New" pitchFamily="34" charset="0"/>
                <a:ea typeface="Courier New" pitchFamily="34" charset="-122"/>
                <a:cs typeface="Courier New" pitchFamily="34" charset="-120"/>
              </a:rPr>
              <a:t>Storage: PostgreSQL + MemPalace</a:t>
            </a:r>
            <a:endParaRPr lang="en-US" sz="850" dirty="0"/>
          </a:p>
          <a:p>
            <a:pPr indent="0" marL="0">
              <a:buNone/>
            </a:pPr>
            <a:r>
              <a:rPr lang="en-US" sz="850" dirty="0">
                <a:solidFill>
                  <a:srgbClr val="64748B"/>
                </a:solidFill>
                <a:latin typeface="Courier New" pitchFamily="34" charset="0"/>
                <a:ea typeface="Courier New" pitchFamily="34" charset="-122"/>
                <a:cs typeface="Courier New" pitchFamily="34" charset="-120"/>
              </a:rPr>
              <a:t>CLI:     canon ask | preflight | capture</a:t>
            </a:r>
            <a:endParaRPr lang="en-US" sz="850" dirty="0"/>
          </a:p>
        </p:txBody>
      </p:sp>
      <p:sp>
        <p:nvSpPr>
          <p:cNvPr id="31" name="Shape 29"/>
          <p:cNvSpPr/>
          <p:nvPr/>
        </p:nvSpPr>
        <p:spPr>
          <a:xfrm>
            <a:off x="6839712" y="1143000"/>
            <a:ext cx="2103120" cy="367588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32" name="Shape 30"/>
          <p:cNvSpPr/>
          <p:nvPr/>
        </p:nvSpPr>
        <p:spPr>
          <a:xfrm>
            <a:off x="6839712" y="1143000"/>
            <a:ext cx="2103120" cy="475488"/>
          </a:xfrm>
          <a:prstGeom prst="rect">
            <a:avLst/>
          </a:prstGeom>
          <a:solidFill>
            <a:srgbClr val="F59E0B"/>
          </a:solidFill>
          <a:ln w="12700">
            <a:solidFill>
              <a:srgbClr val="F59E0B"/>
            </a:solidFill>
            <a:prstDash val="solid"/>
          </a:ln>
        </p:spPr>
      </p:sp>
      <p:sp>
        <p:nvSpPr>
          <p:cNvPr id="33" name="Text 31"/>
          <p:cNvSpPr/>
          <p:nvPr/>
        </p:nvSpPr>
        <p:spPr>
          <a:xfrm>
            <a:off x="6912864" y="1188720"/>
            <a:ext cx="1938528"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Plane D</a:t>
            </a:r>
            <a:endParaRPr lang="en-US" sz="1100" dirty="0"/>
          </a:p>
        </p:txBody>
      </p:sp>
      <p:sp>
        <p:nvSpPr>
          <p:cNvPr id="34" name="Text 32"/>
          <p:cNvSpPr/>
          <p:nvPr/>
        </p:nvSpPr>
        <p:spPr>
          <a:xfrm>
            <a:off x="6931152" y="1682496"/>
            <a:ext cx="1920240" cy="438912"/>
          </a:xfrm>
          <a:prstGeom prst="rect">
            <a:avLst/>
          </a:prstGeom>
          <a:noFill/>
          <a:ln/>
        </p:spPr>
        <p:txBody>
          <a:bodyPr wrap="square" lIns="0" tIns="0" rIns="0" bIns="0" rtlCol="0" anchor="ctr"/>
          <a:lstStyle/>
          <a:p>
            <a:pPr indent="0" marL="0">
              <a:buNone/>
            </a:pPr>
            <a:r>
              <a:rPr lang="en-US" sz="1200" b="1" dirty="0">
                <a:solidFill>
                  <a:srgbClr val="0D1117"/>
                </a:solidFill>
                <a:latin typeface="Calibri" pitchFamily="34" charset="0"/>
                <a:ea typeface="Calibri" pitchFamily="34" charset="-122"/>
                <a:cs typeface="Calibri" pitchFamily="34" charset="-120"/>
              </a:rPr>
              <a:t>Human Synthesis Plane</a:t>
            </a:r>
            <a:endParaRPr lang="en-US" sz="1200" dirty="0"/>
          </a:p>
        </p:txBody>
      </p:sp>
      <p:sp>
        <p:nvSpPr>
          <p:cNvPr id="35" name="Text 33"/>
          <p:cNvSpPr/>
          <p:nvPr/>
        </p:nvSpPr>
        <p:spPr>
          <a:xfrm>
            <a:off x="6931152" y="2103120"/>
            <a:ext cx="1920240" cy="347472"/>
          </a:xfrm>
          <a:prstGeom prst="rect">
            <a:avLst/>
          </a:prstGeom>
          <a:noFill/>
          <a:ln/>
        </p:spPr>
        <p:txBody>
          <a:bodyPr wrap="square" lIns="0" tIns="0" rIns="0" bIns="0" rtlCol="0" anchor="ctr"/>
          <a:lstStyle/>
          <a:p>
            <a:pPr indent="0" marL="0">
              <a:buNone/>
            </a:pPr>
            <a:r>
              <a:rPr lang="en-US" sz="1000" b="1" i="1" dirty="0">
                <a:solidFill>
                  <a:srgbClr val="F59E0B"/>
                </a:solidFill>
                <a:latin typeface="Calibri" pitchFamily="34" charset="0"/>
                <a:ea typeface="Calibri" pitchFamily="34" charset="-122"/>
                <a:cs typeface="Calibri" pitchFamily="34" charset="-120"/>
              </a:rPr>
              <a:t>"What matters for humans right now?"</a:t>
            </a:r>
            <a:endParaRPr lang="en-US" sz="1000" dirty="0"/>
          </a:p>
        </p:txBody>
      </p:sp>
      <p:sp>
        <p:nvSpPr>
          <p:cNvPr id="36" name="Text 34"/>
          <p:cNvSpPr/>
          <p:nvPr/>
        </p:nvSpPr>
        <p:spPr>
          <a:xfrm>
            <a:off x="6931152" y="2468880"/>
            <a:ext cx="1920240" cy="86868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Events → Obsidian markdown vault. Opaque SHA-256 shorthash paths. SSR web reader.</a:t>
            </a:r>
            <a:endParaRPr lang="en-US" sz="1000" dirty="0"/>
          </a:p>
        </p:txBody>
      </p:sp>
      <p:sp>
        <p:nvSpPr>
          <p:cNvPr id="37" name="Shape 35"/>
          <p:cNvSpPr/>
          <p:nvPr/>
        </p:nvSpPr>
        <p:spPr>
          <a:xfrm>
            <a:off x="6839712" y="3419856"/>
            <a:ext cx="2103120" cy="1389888"/>
          </a:xfrm>
          <a:prstGeom prst="rect">
            <a:avLst/>
          </a:prstGeom>
          <a:solidFill>
            <a:srgbClr val="F1F5F9"/>
          </a:solidFill>
          <a:ln w="5080">
            <a:solidFill>
              <a:srgbClr val="E2E8F0"/>
            </a:solidFill>
            <a:prstDash val="solid"/>
          </a:ln>
        </p:spPr>
      </p:sp>
      <p:sp>
        <p:nvSpPr>
          <p:cNvPr id="38" name="Text 36"/>
          <p:cNvSpPr/>
          <p:nvPr/>
        </p:nvSpPr>
        <p:spPr>
          <a:xfrm>
            <a:off x="6931152" y="3474720"/>
            <a:ext cx="1920240" cy="1280160"/>
          </a:xfrm>
          <a:prstGeom prst="rect">
            <a:avLst/>
          </a:prstGeom>
          <a:noFill/>
          <a:ln/>
        </p:spPr>
        <p:txBody>
          <a:bodyPr wrap="square" lIns="0" tIns="0" rIns="0" bIns="0" rtlCol="0" anchor="ctr"/>
          <a:lstStyle/>
          <a:p>
            <a:pPr indent="0" marL="0">
              <a:buNone/>
            </a:pPr>
            <a:r>
              <a:rPr lang="en-US" sz="850" dirty="0">
                <a:solidFill>
                  <a:srgbClr val="64748B"/>
                </a:solidFill>
                <a:latin typeface="Courier New" pitchFamily="34" charset="0"/>
                <a:ea typeface="Courier New" pitchFamily="34" charset="-122"/>
                <a:cs typeface="Courier New" pitchFamily="34" charset="-120"/>
              </a:rPr>
              <a:t>Backend: synthesis + synthesis-web</a:t>
            </a:r>
            <a:endParaRPr lang="en-US" sz="850" dirty="0"/>
          </a:p>
          <a:p>
            <a:pPr indent="0" marL="0">
              <a:buNone/>
            </a:pPr>
            <a:r>
              <a:rPr lang="en-US" sz="850" dirty="0">
                <a:solidFill>
                  <a:srgbClr val="64748B"/>
                </a:solidFill>
                <a:latin typeface="Courier New" pitchFamily="34" charset="0"/>
                <a:ea typeface="Courier New" pitchFamily="34" charset="-122"/>
                <a:cs typeface="Courier New" pitchFamily="34" charset="-120"/>
              </a:rPr>
              <a:t>Storage: S3 Vault (Obsidian-compatible)</a:t>
            </a:r>
            <a:endParaRPr lang="en-US" sz="850" dirty="0"/>
          </a:p>
          <a:p>
            <a:pPr indent="0" marL="0">
              <a:buNone/>
            </a:pPr>
            <a:r>
              <a:rPr lang="en-US" sz="850" dirty="0">
                <a:solidFill>
                  <a:srgbClr val="64748B"/>
                </a:solidFill>
                <a:latin typeface="Courier New" pitchFamily="34" charset="0"/>
                <a:ea typeface="Courier New" pitchFamily="34" charset="-122"/>
                <a:cs typeface="Courier New" pitchFamily="34" charset="-120"/>
              </a:rPr>
              <a:t>CLI:     canon synth publish|show | vault sync</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1F35"/>
          </a:solidFill>
          <a:ln w="12700">
            <a:solidFill>
              <a:srgbClr val="0A1F35"/>
            </a:solidFill>
            <a:prstDash val="solid"/>
          </a:ln>
        </p:spPr>
      </p:sp>
      <p:sp>
        <p:nvSpPr>
          <p:cNvPr id="3" name="Shape 1"/>
          <p:cNvSpPr/>
          <p:nvPr/>
        </p:nvSpPr>
        <p:spPr>
          <a:xfrm>
            <a:off x="0" y="0"/>
            <a:ext cx="109728" cy="658368"/>
          </a:xfrm>
          <a:prstGeom prst="rect">
            <a:avLst/>
          </a:prstGeom>
          <a:solidFill>
            <a:srgbClr val="00D4AA"/>
          </a:solidFill>
          <a:ln w="12700">
            <a:solidFill>
              <a:srgbClr val="00D4AA"/>
            </a:solidFill>
            <a:prstDash val="solid"/>
          </a:ln>
        </p:spPr>
      </p:sp>
      <p:sp>
        <p:nvSpPr>
          <p:cNvPr id="4" name="Text 2"/>
          <p:cNvSpPr/>
          <p:nvPr/>
        </p:nvSpPr>
        <p:spPr>
          <a:xfrm>
            <a:off x="219456" y="0"/>
            <a:ext cx="685800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The Six-Agent Chain</a:t>
            </a:r>
            <a:endParaRPr lang="en-US" sz="2100" dirty="0"/>
          </a:p>
        </p:txBody>
      </p:sp>
      <p:sp>
        <p:nvSpPr>
          <p:cNvPr id="5" name="Text 3"/>
          <p:cNvSpPr/>
          <p:nvPr/>
        </p:nvSpPr>
        <p:spPr>
          <a:xfrm>
            <a:off x="219456" y="0"/>
            <a:ext cx="8778240" cy="658368"/>
          </a:xfrm>
          <a:prstGeom prst="rect">
            <a:avLst/>
          </a:prstGeom>
          <a:noFill/>
          <a:ln/>
        </p:spPr>
        <p:txBody>
          <a:bodyPr wrap="square" lIns="0" tIns="0" rIns="0" bIns="0" rtlCol="0" anchor="ctr"/>
          <a:lstStyle/>
          <a:p>
            <a:pPr algn="r" indent="0" marL="0">
              <a:buNone/>
            </a:pPr>
            <a:r>
              <a:rPr lang="en-US" sz="1000" dirty="0">
                <a:solidFill>
                  <a:srgbClr val="4B6A8A"/>
                </a:solidFill>
                <a:latin typeface="Calibri" pitchFamily="34" charset="0"/>
                <a:ea typeface="Calibri" pitchFamily="34" charset="-122"/>
                <a:cs typeface="Calibri" pitchFamily="34" charset="-120"/>
              </a:rPr>
              <a:t>How It Works → Agent Pipeline</a:t>
            </a:r>
            <a:endParaRPr lang="en-US" sz="1000" dirty="0"/>
          </a:p>
        </p:txBody>
      </p:sp>
      <p:sp>
        <p:nvSpPr>
          <p:cNvPr id="6" name="Text 4"/>
          <p:cNvSpPr/>
          <p:nvPr/>
        </p:nvSpPr>
        <p:spPr>
          <a:xfrm>
            <a:off x="347472" y="749808"/>
            <a:ext cx="8412480" cy="310896"/>
          </a:xfrm>
          <a:prstGeom prst="rect">
            <a:avLst/>
          </a:prstGeom>
          <a:noFill/>
          <a:ln/>
        </p:spPr>
        <p:txBody>
          <a:bodyPr wrap="square" lIns="0" tIns="0" rIns="0" bIns="0" rtlCol="0" anchor="ctr"/>
          <a:lstStyle/>
          <a:p>
            <a:pPr indent="0" marL="0">
              <a:buNone/>
            </a:pPr>
            <a:r>
              <a:rPr lang="en-US" sz="1200" i="1" dirty="0">
                <a:solidFill>
                  <a:srgbClr val="7BA3C4"/>
                </a:solidFill>
                <a:latin typeface="Calibri" pitchFamily="34" charset="0"/>
                <a:ea typeface="Calibri" pitchFamily="34" charset="-122"/>
                <a:cs typeface="Calibri" pitchFamily="34" charset="-120"/>
              </a:rPr>
              <a:t>Strictly ordered. No skipping, no combining. Each agent produces a file-backed packet before the next begins.</a:t>
            </a:r>
            <a:endParaRPr lang="en-US" sz="1200" dirty="0"/>
          </a:p>
        </p:txBody>
      </p:sp>
      <p:sp>
        <p:nvSpPr>
          <p:cNvPr id="7" name="Shape 5"/>
          <p:cNvSpPr/>
          <p:nvPr/>
        </p:nvSpPr>
        <p:spPr>
          <a:xfrm>
            <a:off x="256032" y="1170432"/>
            <a:ext cx="1335024" cy="3547872"/>
          </a:xfrm>
          <a:prstGeom prst="rect">
            <a:avLst/>
          </a:prstGeom>
          <a:solidFill>
            <a:srgbClr val="0D1B2A"/>
          </a:solidFill>
          <a:ln w="10160">
            <a:solidFill>
              <a:srgbClr val="0891B2"/>
            </a:solidFill>
            <a:prstDash val="solid"/>
          </a:ln>
        </p:spPr>
      </p:sp>
      <p:sp>
        <p:nvSpPr>
          <p:cNvPr id="8" name="Shape 6"/>
          <p:cNvSpPr/>
          <p:nvPr/>
        </p:nvSpPr>
        <p:spPr>
          <a:xfrm>
            <a:off x="256032" y="1170432"/>
            <a:ext cx="1335024" cy="457200"/>
          </a:xfrm>
          <a:prstGeom prst="rect">
            <a:avLst/>
          </a:prstGeom>
          <a:solidFill>
            <a:srgbClr val="0891B2"/>
          </a:solidFill>
          <a:ln w="12700">
            <a:solidFill>
              <a:srgbClr val="0891B2"/>
            </a:solidFill>
            <a:prstDash val="solid"/>
          </a:ln>
        </p:spPr>
      </p:sp>
      <p:sp>
        <p:nvSpPr>
          <p:cNvPr id="9" name="Text 7"/>
          <p:cNvSpPr/>
          <p:nvPr/>
        </p:nvSpPr>
        <p:spPr>
          <a:xfrm>
            <a:off x="256032" y="1170432"/>
            <a:ext cx="1335024" cy="457200"/>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PLAN</a:t>
            </a:r>
            <a:endParaRPr lang="en-US" sz="1200" dirty="0"/>
          </a:p>
        </p:txBody>
      </p:sp>
      <p:sp>
        <p:nvSpPr>
          <p:cNvPr id="10" name="Text 8"/>
          <p:cNvSpPr/>
          <p:nvPr/>
        </p:nvSpPr>
        <p:spPr>
          <a:xfrm>
            <a:off x="310896" y="1682496"/>
            <a:ext cx="1207008" cy="347472"/>
          </a:xfrm>
          <a:prstGeom prst="rect">
            <a:avLst/>
          </a:prstGeom>
          <a:noFill/>
          <a:ln/>
        </p:spPr>
        <p:txBody>
          <a:bodyPr wrap="square" lIns="0" tIns="0" rIns="0" bIns="0" rtlCol="0" anchor="ctr"/>
          <a:lstStyle/>
          <a:p>
            <a:pPr indent="0" marL="0">
              <a:buNone/>
            </a:pPr>
            <a:r>
              <a:rPr lang="en-US" sz="850" dirty="0">
                <a:solidFill>
                  <a:srgbClr val="0891B2"/>
                </a:solidFill>
                <a:latin typeface="Courier New" pitchFamily="34" charset="0"/>
                <a:ea typeface="Courier New" pitchFamily="34" charset="-122"/>
                <a:cs typeface="Courier New" pitchFamily="34" charset="-120"/>
              </a:rPr>
              <a:t>project-planner</a:t>
            </a:r>
            <a:endParaRPr lang="en-US" sz="850" dirty="0"/>
          </a:p>
        </p:txBody>
      </p:sp>
      <p:sp>
        <p:nvSpPr>
          <p:cNvPr id="11" name="Text 9"/>
          <p:cNvSpPr/>
          <p:nvPr/>
        </p:nvSpPr>
        <p:spPr>
          <a:xfrm>
            <a:off x="329184" y="2048256"/>
            <a:ext cx="1188720" cy="2029968"/>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Decomposes initiatives into dependency-aware task backlogs with parallel groups.</a:t>
            </a:r>
            <a:endParaRPr lang="en-US" sz="1000" dirty="0"/>
          </a:p>
        </p:txBody>
      </p:sp>
      <p:sp>
        <p:nvSpPr>
          <p:cNvPr id="12" name="Shape 10"/>
          <p:cNvSpPr/>
          <p:nvPr/>
        </p:nvSpPr>
        <p:spPr>
          <a:xfrm>
            <a:off x="694944" y="4224528"/>
            <a:ext cx="438912" cy="438912"/>
          </a:xfrm>
          <a:prstGeom prst="ellipse">
            <a:avLst/>
          </a:prstGeom>
          <a:solidFill>
            <a:srgbClr val="0891B2"/>
          </a:solidFill>
          <a:ln w="12700">
            <a:solidFill>
              <a:srgbClr val="0891B2"/>
            </a:solidFill>
            <a:prstDash val="solid"/>
          </a:ln>
        </p:spPr>
      </p:sp>
      <p:sp>
        <p:nvSpPr>
          <p:cNvPr id="13" name="Text 11"/>
          <p:cNvSpPr/>
          <p:nvPr/>
        </p:nvSpPr>
        <p:spPr>
          <a:xfrm>
            <a:off x="694944" y="4224528"/>
            <a:ext cx="438912"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4" name="Shape 12"/>
          <p:cNvSpPr/>
          <p:nvPr/>
        </p:nvSpPr>
        <p:spPr>
          <a:xfrm>
            <a:off x="1591056" y="1975104"/>
            <a:ext cx="128016" cy="54864"/>
          </a:xfrm>
          <a:prstGeom prst="rect">
            <a:avLst/>
          </a:prstGeom>
          <a:solidFill>
            <a:srgbClr val="2D4A6A"/>
          </a:solidFill>
          <a:ln w="12700">
            <a:solidFill>
              <a:srgbClr val="2D4A6A"/>
            </a:solidFill>
            <a:prstDash val="solid"/>
          </a:ln>
        </p:spPr>
      </p:sp>
      <p:sp>
        <p:nvSpPr>
          <p:cNvPr id="15" name="Shape 13"/>
          <p:cNvSpPr/>
          <p:nvPr/>
        </p:nvSpPr>
        <p:spPr>
          <a:xfrm>
            <a:off x="1719072" y="1170432"/>
            <a:ext cx="1335024" cy="3547872"/>
          </a:xfrm>
          <a:prstGeom prst="rect">
            <a:avLst/>
          </a:prstGeom>
          <a:solidFill>
            <a:srgbClr val="0D1B2A"/>
          </a:solidFill>
          <a:ln w="10160">
            <a:solidFill>
              <a:srgbClr val="06B6D4"/>
            </a:solidFill>
            <a:prstDash val="solid"/>
          </a:ln>
        </p:spPr>
      </p:sp>
      <p:sp>
        <p:nvSpPr>
          <p:cNvPr id="16" name="Shape 14"/>
          <p:cNvSpPr/>
          <p:nvPr/>
        </p:nvSpPr>
        <p:spPr>
          <a:xfrm>
            <a:off x="1719072" y="1170432"/>
            <a:ext cx="1335024" cy="457200"/>
          </a:xfrm>
          <a:prstGeom prst="rect">
            <a:avLst/>
          </a:prstGeom>
          <a:solidFill>
            <a:srgbClr val="06B6D4"/>
          </a:solidFill>
          <a:ln w="12700">
            <a:solidFill>
              <a:srgbClr val="06B6D4"/>
            </a:solidFill>
            <a:prstDash val="solid"/>
          </a:ln>
        </p:spPr>
      </p:sp>
      <p:sp>
        <p:nvSpPr>
          <p:cNvPr id="17" name="Text 15"/>
          <p:cNvSpPr/>
          <p:nvPr/>
        </p:nvSpPr>
        <p:spPr>
          <a:xfrm>
            <a:off x="1719072" y="1170432"/>
            <a:ext cx="1335024" cy="457200"/>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SCOPE</a:t>
            </a:r>
            <a:endParaRPr lang="en-US" sz="1200" dirty="0"/>
          </a:p>
        </p:txBody>
      </p:sp>
      <p:sp>
        <p:nvSpPr>
          <p:cNvPr id="18" name="Text 16"/>
          <p:cNvSpPr/>
          <p:nvPr/>
        </p:nvSpPr>
        <p:spPr>
          <a:xfrm>
            <a:off x="1773936" y="1682496"/>
            <a:ext cx="1207008" cy="347472"/>
          </a:xfrm>
          <a:prstGeom prst="rect">
            <a:avLst/>
          </a:prstGeom>
          <a:noFill/>
          <a:ln/>
        </p:spPr>
        <p:txBody>
          <a:bodyPr wrap="square" lIns="0" tIns="0" rIns="0" bIns="0" rtlCol="0" anchor="ctr"/>
          <a:lstStyle/>
          <a:p>
            <a:pPr indent="0" marL="0">
              <a:buNone/>
            </a:pPr>
            <a:r>
              <a:rPr lang="en-US" sz="850" dirty="0">
                <a:solidFill>
                  <a:srgbClr val="06B6D4"/>
                </a:solidFill>
                <a:latin typeface="Courier New" pitchFamily="34" charset="0"/>
                <a:ea typeface="Courier New" pitchFamily="34" charset="-122"/>
                <a:cs typeface="Courier New" pitchFamily="34" charset="-120"/>
              </a:rPr>
              <a:t>scoper</a:t>
            </a:r>
            <a:endParaRPr lang="en-US" sz="850" dirty="0"/>
          </a:p>
        </p:txBody>
      </p:sp>
      <p:sp>
        <p:nvSpPr>
          <p:cNvPr id="19" name="Text 17"/>
          <p:cNvSpPr/>
          <p:nvPr/>
        </p:nvSpPr>
        <p:spPr>
          <a:xfrm>
            <a:off x="1792224" y="2048256"/>
            <a:ext cx="1188720" cy="2029968"/>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9-field DoR check. Hard fails if unresolvable. Emits HANDOFF_TO_CURSOR_PILOT.</a:t>
            </a:r>
            <a:endParaRPr lang="en-US" sz="1000" dirty="0"/>
          </a:p>
        </p:txBody>
      </p:sp>
      <p:sp>
        <p:nvSpPr>
          <p:cNvPr id="20" name="Shape 18"/>
          <p:cNvSpPr/>
          <p:nvPr/>
        </p:nvSpPr>
        <p:spPr>
          <a:xfrm>
            <a:off x="2157984" y="4224528"/>
            <a:ext cx="438912" cy="438912"/>
          </a:xfrm>
          <a:prstGeom prst="ellipse">
            <a:avLst/>
          </a:prstGeom>
          <a:solidFill>
            <a:srgbClr val="06B6D4"/>
          </a:solidFill>
          <a:ln w="12700">
            <a:solidFill>
              <a:srgbClr val="06B6D4"/>
            </a:solidFill>
            <a:prstDash val="solid"/>
          </a:ln>
        </p:spPr>
      </p:sp>
      <p:sp>
        <p:nvSpPr>
          <p:cNvPr id="21" name="Text 19"/>
          <p:cNvSpPr/>
          <p:nvPr/>
        </p:nvSpPr>
        <p:spPr>
          <a:xfrm>
            <a:off x="2157984" y="4224528"/>
            <a:ext cx="438912"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2" name="Shape 20"/>
          <p:cNvSpPr/>
          <p:nvPr/>
        </p:nvSpPr>
        <p:spPr>
          <a:xfrm>
            <a:off x="3054096" y="1975104"/>
            <a:ext cx="128016" cy="54864"/>
          </a:xfrm>
          <a:prstGeom prst="rect">
            <a:avLst/>
          </a:prstGeom>
          <a:solidFill>
            <a:srgbClr val="2D4A6A"/>
          </a:solidFill>
          <a:ln w="12700">
            <a:solidFill>
              <a:srgbClr val="2D4A6A"/>
            </a:solidFill>
            <a:prstDash val="solid"/>
          </a:ln>
        </p:spPr>
      </p:sp>
      <p:sp>
        <p:nvSpPr>
          <p:cNvPr id="23" name="Shape 21"/>
          <p:cNvSpPr/>
          <p:nvPr/>
        </p:nvSpPr>
        <p:spPr>
          <a:xfrm>
            <a:off x="3182112" y="1170432"/>
            <a:ext cx="1335024" cy="3547872"/>
          </a:xfrm>
          <a:prstGeom prst="rect">
            <a:avLst/>
          </a:prstGeom>
          <a:solidFill>
            <a:srgbClr val="0D1B2A"/>
          </a:solidFill>
          <a:ln w="10160">
            <a:solidFill>
              <a:srgbClr val="00D4AA"/>
            </a:solidFill>
            <a:prstDash val="solid"/>
          </a:ln>
        </p:spPr>
      </p:sp>
      <p:sp>
        <p:nvSpPr>
          <p:cNvPr id="24" name="Shape 22"/>
          <p:cNvSpPr/>
          <p:nvPr/>
        </p:nvSpPr>
        <p:spPr>
          <a:xfrm>
            <a:off x="3182112" y="1170432"/>
            <a:ext cx="1335024" cy="457200"/>
          </a:xfrm>
          <a:prstGeom prst="rect">
            <a:avLst/>
          </a:prstGeom>
          <a:solidFill>
            <a:srgbClr val="00D4AA"/>
          </a:solidFill>
          <a:ln w="12700">
            <a:solidFill>
              <a:srgbClr val="00D4AA"/>
            </a:solidFill>
            <a:prstDash val="solid"/>
          </a:ln>
        </p:spPr>
      </p:sp>
      <p:sp>
        <p:nvSpPr>
          <p:cNvPr id="25" name="Text 23"/>
          <p:cNvSpPr/>
          <p:nvPr/>
        </p:nvSpPr>
        <p:spPr>
          <a:xfrm>
            <a:off x="3182112" y="1170432"/>
            <a:ext cx="1335024" cy="457200"/>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PILOT</a:t>
            </a:r>
            <a:endParaRPr lang="en-US" sz="1200" dirty="0"/>
          </a:p>
        </p:txBody>
      </p:sp>
      <p:sp>
        <p:nvSpPr>
          <p:cNvPr id="26" name="Text 24"/>
          <p:cNvSpPr/>
          <p:nvPr/>
        </p:nvSpPr>
        <p:spPr>
          <a:xfrm>
            <a:off x="3236976" y="1682496"/>
            <a:ext cx="1207008" cy="347472"/>
          </a:xfrm>
          <a:prstGeom prst="rect">
            <a:avLst/>
          </a:prstGeom>
          <a:noFill/>
          <a:ln/>
        </p:spPr>
        <p:txBody>
          <a:bodyPr wrap="square" lIns="0" tIns="0" rIns="0" bIns="0" rtlCol="0" anchor="ctr"/>
          <a:lstStyle/>
          <a:p>
            <a:pPr indent="0" marL="0">
              <a:buNone/>
            </a:pPr>
            <a:r>
              <a:rPr lang="en-US" sz="850" dirty="0">
                <a:solidFill>
                  <a:srgbClr val="00D4AA"/>
                </a:solidFill>
                <a:latin typeface="Courier New" pitchFamily="34" charset="0"/>
                <a:ea typeface="Courier New" pitchFamily="34" charset="-122"/>
                <a:cs typeface="Courier New" pitchFamily="34" charset="-120"/>
              </a:rPr>
              <a:t>cursor-pilot</a:t>
            </a:r>
            <a:endParaRPr lang="en-US" sz="850" dirty="0"/>
          </a:p>
        </p:txBody>
      </p:sp>
      <p:sp>
        <p:nvSpPr>
          <p:cNvPr id="27" name="Text 25"/>
          <p:cNvSpPr/>
          <p:nvPr/>
        </p:nvSpPr>
        <p:spPr>
          <a:xfrm>
            <a:off x="3255264" y="2048256"/>
            <a:ext cx="1188720" cy="2029968"/>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Graph query + impact. Emits precise prompt + parallelization plan (ws1, ws2...).</a:t>
            </a:r>
            <a:endParaRPr lang="en-US" sz="1000" dirty="0"/>
          </a:p>
        </p:txBody>
      </p:sp>
      <p:sp>
        <p:nvSpPr>
          <p:cNvPr id="28" name="Shape 26"/>
          <p:cNvSpPr/>
          <p:nvPr/>
        </p:nvSpPr>
        <p:spPr>
          <a:xfrm>
            <a:off x="3621024" y="4224528"/>
            <a:ext cx="438912" cy="438912"/>
          </a:xfrm>
          <a:prstGeom prst="ellipse">
            <a:avLst/>
          </a:prstGeom>
          <a:solidFill>
            <a:srgbClr val="00D4AA"/>
          </a:solidFill>
          <a:ln w="12700">
            <a:solidFill>
              <a:srgbClr val="00D4AA"/>
            </a:solidFill>
            <a:prstDash val="solid"/>
          </a:ln>
        </p:spPr>
      </p:sp>
      <p:sp>
        <p:nvSpPr>
          <p:cNvPr id="29" name="Text 27"/>
          <p:cNvSpPr/>
          <p:nvPr/>
        </p:nvSpPr>
        <p:spPr>
          <a:xfrm>
            <a:off x="3621024" y="4224528"/>
            <a:ext cx="438912"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30" name="Shape 28"/>
          <p:cNvSpPr/>
          <p:nvPr/>
        </p:nvSpPr>
        <p:spPr>
          <a:xfrm>
            <a:off x="4517136" y="1975104"/>
            <a:ext cx="128016" cy="54864"/>
          </a:xfrm>
          <a:prstGeom prst="rect">
            <a:avLst/>
          </a:prstGeom>
          <a:solidFill>
            <a:srgbClr val="2D4A6A"/>
          </a:solidFill>
          <a:ln w="12700">
            <a:solidFill>
              <a:srgbClr val="2D4A6A"/>
            </a:solidFill>
            <a:prstDash val="solid"/>
          </a:ln>
        </p:spPr>
      </p:sp>
      <p:sp>
        <p:nvSpPr>
          <p:cNvPr id="31" name="Shape 29"/>
          <p:cNvSpPr/>
          <p:nvPr/>
        </p:nvSpPr>
        <p:spPr>
          <a:xfrm>
            <a:off x="4645152" y="1170432"/>
            <a:ext cx="1335024" cy="3547872"/>
          </a:xfrm>
          <a:prstGeom prst="rect">
            <a:avLst/>
          </a:prstGeom>
          <a:solidFill>
            <a:srgbClr val="0D1B2A"/>
          </a:solidFill>
          <a:ln w="10160">
            <a:solidFill>
              <a:srgbClr val="10B981"/>
            </a:solidFill>
            <a:prstDash val="solid"/>
          </a:ln>
        </p:spPr>
      </p:sp>
      <p:sp>
        <p:nvSpPr>
          <p:cNvPr id="32" name="Shape 30"/>
          <p:cNvSpPr/>
          <p:nvPr/>
        </p:nvSpPr>
        <p:spPr>
          <a:xfrm>
            <a:off x="4645152" y="1170432"/>
            <a:ext cx="1335024" cy="457200"/>
          </a:xfrm>
          <a:prstGeom prst="rect">
            <a:avLst/>
          </a:prstGeom>
          <a:solidFill>
            <a:srgbClr val="10B981"/>
          </a:solidFill>
          <a:ln w="12700">
            <a:solidFill>
              <a:srgbClr val="10B981"/>
            </a:solidFill>
            <a:prstDash val="solid"/>
          </a:ln>
        </p:spPr>
      </p:sp>
      <p:sp>
        <p:nvSpPr>
          <p:cNvPr id="33" name="Text 31"/>
          <p:cNvSpPr/>
          <p:nvPr/>
        </p:nvSpPr>
        <p:spPr>
          <a:xfrm>
            <a:off x="4645152" y="1170432"/>
            <a:ext cx="1335024" cy="457200"/>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IMPL</a:t>
            </a:r>
            <a:endParaRPr lang="en-US" sz="1200" dirty="0"/>
          </a:p>
        </p:txBody>
      </p:sp>
      <p:sp>
        <p:nvSpPr>
          <p:cNvPr id="34" name="Text 32"/>
          <p:cNvSpPr/>
          <p:nvPr/>
        </p:nvSpPr>
        <p:spPr>
          <a:xfrm>
            <a:off x="4700016" y="1682496"/>
            <a:ext cx="1207008" cy="347472"/>
          </a:xfrm>
          <a:prstGeom prst="rect">
            <a:avLst/>
          </a:prstGeom>
          <a:noFill/>
          <a:ln/>
        </p:spPr>
        <p:txBody>
          <a:bodyPr wrap="square" lIns="0" tIns="0" rIns="0" bIns="0" rtlCol="0" anchor="ctr"/>
          <a:lstStyle/>
          <a:p>
            <a:pPr indent="0" marL="0">
              <a:buNone/>
            </a:pPr>
            <a:r>
              <a:rPr lang="en-US" sz="850" dirty="0">
                <a:solidFill>
                  <a:srgbClr val="10B981"/>
                </a:solidFill>
                <a:latin typeface="Courier New" pitchFamily="34" charset="0"/>
                <a:ea typeface="Courier New" pitchFamily="34" charset="-122"/>
                <a:cs typeface="Courier New" pitchFamily="34" charset="-120"/>
              </a:rPr>
              <a:t>implementer</a:t>
            </a:r>
            <a:endParaRPr lang="en-US" sz="850" dirty="0"/>
          </a:p>
        </p:txBody>
      </p:sp>
      <p:sp>
        <p:nvSpPr>
          <p:cNvPr id="35" name="Text 33"/>
          <p:cNvSpPr/>
          <p:nvPr/>
        </p:nvSpPr>
        <p:spPr>
          <a:xfrm>
            <a:off x="4718304" y="2048256"/>
            <a:ext cx="1188720" cy="2029968"/>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Writes code. Conflict-aware checkpoint writes. Emits retrieval_breakdown event.</a:t>
            </a:r>
            <a:endParaRPr lang="en-US" sz="1000" dirty="0"/>
          </a:p>
        </p:txBody>
      </p:sp>
      <p:sp>
        <p:nvSpPr>
          <p:cNvPr id="36" name="Shape 34"/>
          <p:cNvSpPr/>
          <p:nvPr/>
        </p:nvSpPr>
        <p:spPr>
          <a:xfrm>
            <a:off x="5084064" y="4224528"/>
            <a:ext cx="438912" cy="438912"/>
          </a:xfrm>
          <a:prstGeom prst="ellipse">
            <a:avLst/>
          </a:prstGeom>
          <a:solidFill>
            <a:srgbClr val="10B981"/>
          </a:solidFill>
          <a:ln w="12700">
            <a:solidFill>
              <a:srgbClr val="10B981"/>
            </a:solidFill>
            <a:prstDash val="solid"/>
          </a:ln>
        </p:spPr>
      </p:sp>
      <p:sp>
        <p:nvSpPr>
          <p:cNvPr id="37" name="Text 35"/>
          <p:cNvSpPr/>
          <p:nvPr/>
        </p:nvSpPr>
        <p:spPr>
          <a:xfrm>
            <a:off x="5084064" y="4224528"/>
            <a:ext cx="438912"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38" name="Shape 36"/>
          <p:cNvSpPr/>
          <p:nvPr/>
        </p:nvSpPr>
        <p:spPr>
          <a:xfrm>
            <a:off x="5980176" y="1975104"/>
            <a:ext cx="128016" cy="54864"/>
          </a:xfrm>
          <a:prstGeom prst="rect">
            <a:avLst/>
          </a:prstGeom>
          <a:solidFill>
            <a:srgbClr val="2D4A6A"/>
          </a:solidFill>
          <a:ln w="12700">
            <a:solidFill>
              <a:srgbClr val="2D4A6A"/>
            </a:solidFill>
            <a:prstDash val="solid"/>
          </a:ln>
        </p:spPr>
      </p:sp>
      <p:sp>
        <p:nvSpPr>
          <p:cNvPr id="39" name="Shape 37"/>
          <p:cNvSpPr/>
          <p:nvPr/>
        </p:nvSpPr>
        <p:spPr>
          <a:xfrm>
            <a:off x="6108192" y="1170432"/>
            <a:ext cx="1335024" cy="3547872"/>
          </a:xfrm>
          <a:prstGeom prst="rect">
            <a:avLst/>
          </a:prstGeom>
          <a:solidFill>
            <a:srgbClr val="0D1B2A"/>
          </a:solidFill>
          <a:ln w="10160">
            <a:solidFill>
              <a:srgbClr val="F59E0B"/>
            </a:solidFill>
            <a:prstDash val="solid"/>
          </a:ln>
        </p:spPr>
      </p:sp>
      <p:sp>
        <p:nvSpPr>
          <p:cNvPr id="40" name="Shape 38"/>
          <p:cNvSpPr/>
          <p:nvPr/>
        </p:nvSpPr>
        <p:spPr>
          <a:xfrm>
            <a:off x="6108192" y="1170432"/>
            <a:ext cx="1335024" cy="457200"/>
          </a:xfrm>
          <a:prstGeom prst="rect">
            <a:avLst/>
          </a:prstGeom>
          <a:solidFill>
            <a:srgbClr val="F59E0B"/>
          </a:solidFill>
          <a:ln w="12700">
            <a:solidFill>
              <a:srgbClr val="F59E0B"/>
            </a:solidFill>
            <a:prstDash val="solid"/>
          </a:ln>
        </p:spPr>
      </p:sp>
      <p:sp>
        <p:nvSpPr>
          <p:cNvPr id="41" name="Text 39"/>
          <p:cNvSpPr/>
          <p:nvPr/>
        </p:nvSpPr>
        <p:spPr>
          <a:xfrm>
            <a:off x="6108192" y="1170432"/>
            <a:ext cx="1335024" cy="457200"/>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QA</a:t>
            </a:r>
            <a:endParaRPr lang="en-US" sz="1200" dirty="0"/>
          </a:p>
        </p:txBody>
      </p:sp>
      <p:sp>
        <p:nvSpPr>
          <p:cNvPr id="42" name="Text 40"/>
          <p:cNvSpPr/>
          <p:nvPr/>
        </p:nvSpPr>
        <p:spPr>
          <a:xfrm>
            <a:off x="6163056" y="1682496"/>
            <a:ext cx="1207008" cy="347472"/>
          </a:xfrm>
          <a:prstGeom prst="rect">
            <a:avLst/>
          </a:prstGeom>
          <a:noFill/>
          <a:ln/>
        </p:spPr>
        <p:txBody>
          <a:bodyPr wrap="square" lIns="0" tIns="0" rIns="0" bIns="0" rtlCol="0" anchor="ctr"/>
          <a:lstStyle/>
          <a:p>
            <a:pPr indent="0" marL="0">
              <a:buNone/>
            </a:pPr>
            <a:r>
              <a:rPr lang="en-US" sz="850" dirty="0">
                <a:solidFill>
                  <a:srgbClr val="F59E0B"/>
                </a:solidFill>
                <a:latin typeface="Courier New" pitchFamily="34" charset="0"/>
                <a:ea typeface="Courier New" pitchFamily="34" charset="-122"/>
                <a:cs typeface="Courier New" pitchFamily="34" charset="-120"/>
              </a:rPr>
              <a:t>qa-gate</a:t>
            </a:r>
            <a:endParaRPr lang="en-US" sz="850" dirty="0"/>
          </a:p>
        </p:txBody>
      </p:sp>
      <p:sp>
        <p:nvSpPr>
          <p:cNvPr id="43" name="Text 41"/>
          <p:cNvSpPr/>
          <p:nvPr/>
        </p:nvSpPr>
        <p:spPr>
          <a:xfrm>
            <a:off x="6181344" y="2048256"/>
            <a:ext cx="1188720" cy="2029968"/>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Maps every AC to a running test. Up to 3 fix-and-retest cycles. Emits GATE_RESULTS.</a:t>
            </a:r>
            <a:endParaRPr lang="en-US" sz="1000" dirty="0"/>
          </a:p>
        </p:txBody>
      </p:sp>
      <p:sp>
        <p:nvSpPr>
          <p:cNvPr id="44" name="Shape 42"/>
          <p:cNvSpPr/>
          <p:nvPr/>
        </p:nvSpPr>
        <p:spPr>
          <a:xfrm>
            <a:off x="6547104" y="4224528"/>
            <a:ext cx="438912" cy="438912"/>
          </a:xfrm>
          <a:prstGeom prst="ellipse">
            <a:avLst/>
          </a:prstGeom>
          <a:solidFill>
            <a:srgbClr val="F59E0B"/>
          </a:solidFill>
          <a:ln w="12700">
            <a:solidFill>
              <a:srgbClr val="F59E0B"/>
            </a:solidFill>
            <a:prstDash val="solid"/>
          </a:ln>
        </p:spPr>
      </p:sp>
      <p:sp>
        <p:nvSpPr>
          <p:cNvPr id="45" name="Text 43"/>
          <p:cNvSpPr/>
          <p:nvPr/>
        </p:nvSpPr>
        <p:spPr>
          <a:xfrm>
            <a:off x="6547104" y="4224528"/>
            <a:ext cx="438912"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46" name="Shape 44"/>
          <p:cNvSpPr/>
          <p:nvPr/>
        </p:nvSpPr>
        <p:spPr>
          <a:xfrm>
            <a:off x="7443216" y="1975104"/>
            <a:ext cx="128016" cy="54864"/>
          </a:xfrm>
          <a:prstGeom prst="rect">
            <a:avLst/>
          </a:prstGeom>
          <a:solidFill>
            <a:srgbClr val="2D4A6A"/>
          </a:solidFill>
          <a:ln w="12700">
            <a:solidFill>
              <a:srgbClr val="2D4A6A"/>
            </a:solidFill>
            <a:prstDash val="solid"/>
          </a:ln>
        </p:spPr>
      </p:sp>
      <p:sp>
        <p:nvSpPr>
          <p:cNvPr id="47" name="Shape 45"/>
          <p:cNvSpPr/>
          <p:nvPr/>
        </p:nvSpPr>
        <p:spPr>
          <a:xfrm>
            <a:off x="7571232" y="1170432"/>
            <a:ext cx="1335024" cy="3547872"/>
          </a:xfrm>
          <a:prstGeom prst="rect">
            <a:avLst/>
          </a:prstGeom>
          <a:solidFill>
            <a:srgbClr val="0D1B2A"/>
          </a:solidFill>
          <a:ln w="10160">
            <a:solidFill>
              <a:srgbClr val="EF4444"/>
            </a:solidFill>
            <a:prstDash val="solid"/>
          </a:ln>
        </p:spPr>
      </p:sp>
      <p:sp>
        <p:nvSpPr>
          <p:cNvPr id="48" name="Shape 46"/>
          <p:cNvSpPr/>
          <p:nvPr/>
        </p:nvSpPr>
        <p:spPr>
          <a:xfrm>
            <a:off x="7571232" y="1170432"/>
            <a:ext cx="1335024" cy="457200"/>
          </a:xfrm>
          <a:prstGeom prst="rect">
            <a:avLst/>
          </a:prstGeom>
          <a:solidFill>
            <a:srgbClr val="EF4444"/>
          </a:solidFill>
          <a:ln w="12700">
            <a:solidFill>
              <a:srgbClr val="EF4444"/>
            </a:solidFill>
            <a:prstDash val="solid"/>
          </a:ln>
        </p:spPr>
      </p:sp>
      <p:sp>
        <p:nvSpPr>
          <p:cNvPr id="49" name="Text 47"/>
          <p:cNvSpPr/>
          <p:nvPr/>
        </p:nvSpPr>
        <p:spPr>
          <a:xfrm>
            <a:off x="7571232" y="1170432"/>
            <a:ext cx="1335024" cy="457200"/>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SHIP</a:t>
            </a:r>
            <a:endParaRPr lang="en-US" sz="1200" dirty="0"/>
          </a:p>
        </p:txBody>
      </p:sp>
      <p:sp>
        <p:nvSpPr>
          <p:cNvPr id="50" name="Text 48"/>
          <p:cNvSpPr/>
          <p:nvPr/>
        </p:nvSpPr>
        <p:spPr>
          <a:xfrm>
            <a:off x="7626096" y="1682496"/>
            <a:ext cx="1207008" cy="347472"/>
          </a:xfrm>
          <a:prstGeom prst="rect">
            <a:avLst/>
          </a:prstGeom>
          <a:noFill/>
          <a:ln/>
        </p:spPr>
        <p:txBody>
          <a:bodyPr wrap="square" lIns="0" tIns="0" rIns="0" bIns="0" rtlCol="0" anchor="ctr"/>
          <a:lstStyle/>
          <a:p>
            <a:pPr indent="0" marL="0">
              <a:buNone/>
            </a:pPr>
            <a:r>
              <a:rPr lang="en-US" sz="850" dirty="0">
                <a:solidFill>
                  <a:srgbClr val="EF4444"/>
                </a:solidFill>
                <a:latin typeface="Courier New" pitchFamily="34" charset="0"/>
                <a:ea typeface="Courier New" pitchFamily="34" charset="-122"/>
                <a:cs typeface="Courier New" pitchFamily="34" charset="-120"/>
              </a:rPr>
              <a:t>release-orchestrator</a:t>
            </a:r>
            <a:endParaRPr lang="en-US" sz="850" dirty="0"/>
          </a:p>
        </p:txBody>
      </p:sp>
      <p:sp>
        <p:nvSpPr>
          <p:cNvPr id="51" name="Text 49"/>
          <p:cNvSpPr/>
          <p:nvPr/>
        </p:nvSpPr>
        <p:spPr>
          <a:xfrm>
            <a:off x="7644384" y="2048256"/>
            <a:ext cx="1188720" cy="2029968"/>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Branch/PR/merge/deploy governance. Cumulative merge gates. Slack escalation.</a:t>
            </a:r>
            <a:endParaRPr lang="en-US" sz="1000" dirty="0"/>
          </a:p>
        </p:txBody>
      </p:sp>
      <p:sp>
        <p:nvSpPr>
          <p:cNvPr id="52" name="Shape 50"/>
          <p:cNvSpPr/>
          <p:nvPr/>
        </p:nvSpPr>
        <p:spPr>
          <a:xfrm>
            <a:off x="8010144" y="4224528"/>
            <a:ext cx="438912" cy="438912"/>
          </a:xfrm>
          <a:prstGeom prst="ellipse">
            <a:avLst/>
          </a:prstGeom>
          <a:solidFill>
            <a:srgbClr val="EF4444"/>
          </a:solidFill>
          <a:ln w="12700">
            <a:solidFill>
              <a:srgbClr val="EF4444"/>
            </a:solidFill>
            <a:prstDash val="solid"/>
          </a:ln>
        </p:spPr>
      </p:sp>
      <p:sp>
        <p:nvSpPr>
          <p:cNvPr id="53" name="Text 51"/>
          <p:cNvSpPr/>
          <p:nvPr/>
        </p:nvSpPr>
        <p:spPr>
          <a:xfrm>
            <a:off x="8010144" y="4224528"/>
            <a:ext cx="438912"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54" name="Shape 52"/>
          <p:cNvSpPr/>
          <p:nvPr/>
        </p:nvSpPr>
        <p:spPr>
          <a:xfrm>
            <a:off x="256032" y="4773168"/>
            <a:ext cx="8631936" cy="256032"/>
          </a:xfrm>
          <a:prstGeom prst="rect">
            <a:avLst/>
          </a:prstGeom>
          <a:solidFill>
            <a:srgbClr val="0F2035"/>
          </a:solidFill>
          <a:ln w="12700">
            <a:solidFill>
              <a:srgbClr val="1E3A5F"/>
            </a:solidFill>
            <a:prstDash val="solid"/>
          </a:ln>
        </p:spPr>
      </p:sp>
      <p:sp>
        <p:nvSpPr>
          <p:cNvPr id="55" name="Text 53"/>
          <p:cNvSpPr/>
          <p:nvPr/>
        </p:nvSpPr>
        <p:spPr>
          <a:xfrm>
            <a:off x="411480" y="4782312"/>
            <a:ext cx="8321040" cy="237744"/>
          </a:xfrm>
          <a:prstGeom prst="rect">
            <a:avLst/>
          </a:prstGeom>
          <a:noFill/>
          <a:ln/>
        </p:spPr>
        <p:txBody>
          <a:bodyPr wrap="square" lIns="0" tIns="0" rIns="0" bIns="0" rtlCol="0" anchor="ctr"/>
          <a:lstStyle/>
          <a:p>
            <a:pPr indent="0" marL="0">
              <a:buNone/>
            </a:pPr>
            <a:r>
              <a:rPr lang="en-US" sz="1000" dirty="0">
                <a:solidFill>
                  <a:srgbClr val="4B7A9F"/>
                </a:solidFill>
                <a:latin typeface="Calibri" pitchFamily="34" charset="0"/>
                <a:ea typeface="Calibri" pitchFamily="34" charset="-122"/>
                <a:cs typeface="Calibri" pitchFamily="34" charset="-120"/>
              </a:rPr>
              <a:t>Every phase writes a checkpoint to state-api. No phase is 'done' until its packet exists on disk.</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0"/>
            <a:ext cx="109728" cy="658368"/>
          </a:xfrm>
          <a:prstGeom prst="rect">
            <a:avLst/>
          </a:prstGeom>
          <a:solidFill>
            <a:srgbClr val="00D4AA"/>
          </a:solidFill>
          <a:ln w="12700">
            <a:solidFill>
              <a:srgbClr val="00D4AA"/>
            </a:solidFill>
            <a:prstDash val="solid"/>
          </a:ln>
        </p:spPr>
      </p:sp>
      <p:sp>
        <p:nvSpPr>
          <p:cNvPr id="4" name="Text 2"/>
          <p:cNvSpPr/>
          <p:nvPr/>
        </p:nvSpPr>
        <p:spPr>
          <a:xfrm>
            <a:off x="219456" y="0"/>
            <a:ext cx="685800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Agent Chain — What Each Agent Actually Does</a:t>
            </a:r>
            <a:endParaRPr lang="en-US" sz="2100" dirty="0"/>
          </a:p>
        </p:txBody>
      </p:sp>
      <p:sp>
        <p:nvSpPr>
          <p:cNvPr id="5" name="Text 3"/>
          <p:cNvSpPr/>
          <p:nvPr/>
        </p:nvSpPr>
        <p:spPr>
          <a:xfrm>
            <a:off x="219456" y="0"/>
            <a:ext cx="8778240" cy="658368"/>
          </a:xfrm>
          <a:prstGeom prst="rect">
            <a:avLst/>
          </a:prstGeom>
          <a:noFill/>
          <a:ln/>
        </p:spPr>
        <p:txBody>
          <a:bodyPr wrap="square" lIns="0" tIns="0" rIns="0" bIns="0" rtlCol="0" anchor="ctr"/>
          <a:lstStyle/>
          <a:p>
            <a:pPr algn="r" indent="0" marL="0">
              <a:buNone/>
            </a:pPr>
            <a:r>
              <a:rPr lang="en-US" sz="1000" dirty="0">
                <a:solidFill>
                  <a:srgbClr val="4B6A8A"/>
                </a:solidFill>
                <a:latin typeface="Calibri" pitchFamily="34" charset="0"/>
                <a:ea typeface="Calibri" pitchFamily="34" charset="-122"/>
                <a:cs typeface="Calibri" pitchFamily="34" charset="-120"/>
              </a:rPr>
              <a:t>How It Works → Agent Detail</a:t>
            </a:r>
            <a:endParaRPr lang="en-US" sz="1000" dirty="0"/>
          </a:p>
        </p:txBody>
      </p:sp>
      <p:sp>
        <p:nvSpPr>
          <p:cNvPr id="6" name="Shape 4"/>
          <p:cNvSpPr/>
          <p:nvPr/>
        </p:nvSpPr>
        <p:spPr>
          <a:xfrm>
            <a:off x="320040" y="804672"/>
            <a:ext cx="4251960" cy="129844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320040" y="804672"/>
            <a:ext cx="64008" cy="1298448"/>
          </a:xfrm>
          <a:prstGeom prst="rect">
            <a:avLst/>
          </a:prstGeom>
          <a:solidFill>
            <a:srgbClr val="0891B2"/>
          </a:solidFill>
          <a:ln w="12700">
            <a:solidFill>
              <a:srgbClr val="0891B2"/>
            </a:solidFill>
            <a:prstDash val="solid"/>
          </a:ln>
        </p:spPr>
      </p:sp>
      <p:sp>
        <p:nvSpPr>
          <p:cNvPr id="8" name="Text 6"/>
          <p:cNvSpPr/>
          <p:nvPr/>
        </p:nvSpPr>
        <p:spPr>
          <a:xfrm>
            <a:off x="484632" y="896112"/>
            <a:ext cx="3931920" cy="320040"/>
          </a:xfrm>
          <a:prstGeom prst="rect">
            <a:avLst/>
          </a:prstGeom>
          <a:noFill/>
          <a:ln/>
        </p:spPr>
        <p:txBody>
          <a:bodyPr wrap="square" lIns="0" tIns="0" rIns="0" bIns="0" rtlCol="0" anchor="ctr"/>
          <a:lstStyle/>
          <a:p>
            <a:pPr indent="0" marL="0">
              <a:buNone/>
            </a:pPr>
            <a:r>
              <a:rPr lang="en-US" sz="1200" b="1" dirty="0">
                <a:solidFill>
                  <a:srgbClr val="0891B2"/>
                </a:solidFill>
                <a:latin typeface="Courier New" pitchFamily="34" charset="0"/>
                <a:ea typeface="Courier New" pitchFamily="34" charset="-122"/>
                <a:cs typeface="Courier New" pitchFamily="34" charset="-120"/>
              </a:rPr>
              <a:t>project-planner</a:t>
            </a:r>
            <a:endParaRPr lang="en-US" sz="1200" dirty="0"/>
          </a:p>
        </p:txBody>
      </p:sp>
      <p:sp>
        <p:nvSpPr>
          <p:cNvPr id="9" name="Text 7"/>
          <p:cNvSpPr/>
          <p:nvPr/>
        </p:nvSpPr>
        <p:spPr>
          <a:xfrm>
            <a:off x="484632" y="1225296"/>
            <a:ext cx="3931920" cy="80467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Canonical-first retrieval (not graph-first — intentional; see retrieval rationale doc). Emits PROJECT_EXECUTION_PLAN with epic_backlog, depends_on, can_run_parallel, parallel_group, and done_signal per task. Also emits optional JSON lane manifest for canon resume --lanes.</a:t>
            </a:r>
            <a:endParaRPr lang="en-US" sz="1000" dirty="0"/>
          </a:p>
        </p:txBody>
      </p:sp>
      <p:sp>
        <p:nvSpPr>
          <p:cNvPr id="10" name="Shape 8"/>
          <p:cNvSpPr/>
          <p:nvPr/>
        </p:nvSpPr>
        <p:spPr>
          <a:xfrm>
            <a:off x="4754880" y="804672"/>
            <a:ext cx="4251960" cy="129844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11" name="Shape 9"/>
          <p:cNvSpPr/>
          <p:nvPr/>
        </p:nvSpPr>
        <p:spPr>
          <a:xfrm>
            <a:off x="4754880" y="804672"/>
            <a:ext cx="64008" cy="1298448"/>
          </a:xfrm>
          <a:prstGeom prst="rect">
            <a:avLst/>
          </a:prstGeom>
          <a:solidFill>
            <a:srgbClr val="06B6D4"/>
          </a:solidFill>
          <a:ln w="12700">
            <a:solidFill>
              <a:srgbClr val="06B6D4"/>
            </a:solidFill>
            <a:prstDash val="solid"/>
          </a:ln>
        </p:spPr>
      </p:sp>
      <p:sp>
        <p:nvSpPr>
          <p:cNvPr id="12" name="Text 10"/>
          <p:cNvSpPr/>
          <p:nvPr/>
        </p:nvSpPr>
        <p:spPr>
          <a:xfrm>
            <a:off x="4919472" y="896112"/>
            <a:ext cx="3931920" cy="320040"/>
          </a:xfrm>
          <a:prstGeom prst="rect">
            <a:avLst/>
          </a:prstGeom>
          <a:noFill/>
          <a:ln/>
        </p:spPr>
        <p:txBody>
          <a:bodyPr wrap="square" lIns="0" tIns="0" rIns="0" bIns="0" rtlCol="0" anchor="ctr"/>
          <a:lstStyle/>
          <a:p>
            <a:pPr indent="0" marL="0">
              <a:buNone/>
            </a:pPr>
            <a:r>
              <a:rPr lang="en-US" sz="1200" b="1" dirty="0">
                <a:solidFill>
                  <a:srgbClr val="06B6D4"/>
                </a:solidFill>
                <a:latin typeface="Courier New" pitchFamily="34" charset="0"/>
                <a:ea typeface="Courier New" pitchFamily="34" charset="-122"/>
                <a:cs typeface="Courier New" pitchFamily="34" charset="-120"/>
              </a:rPr>
              <a:t>scoper</a:t>
            </a:r>
            <a:endParaRPr lang="en-US" sz="1200" dirty="0"/>
          </a:p>
        </p:txBody>
      </p:sp>
      <p:sp>
        <p:nvSpPr>
          <p:cNvPr id="13" name="Text 11"/>
          <p:cNvSpPr/>
          <p:nvPr/>
        </p:nvSpPr>
        <p:spPr>
          <a:xfrm>
            <a:off x="4919472" y="1225296"/>
            <a:ext cx="3931920" cy="80467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Graph-first retrieval. Enforces 9-field Definition of Ready. On fail: emits HANDOFF_NOT_READY + DOR_FAILURE_LOG written to disk + fires canon dor-log telemetry. Writes checkpoint --phase scoper on state-api with lease.</a:t>
            </a:r>
            <a:endParaRPr lang="en-US" sz="1000" dirty="0"/>
          </a:p>
        </p:txBody>
      </p:sp>
      <p:sp>
        <p:nvSpPr>
          <p:cNvPr id="14" name="Shape 12"/>
          <p:cNvSpPr/>
          <p:nvPr/>
        </p:nvSpPr>
        <p:spPr>
          <a:xfrm>
            <a:off x="320040" y="2221992"/>
            <a:ext cx="4251960" cy="129844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15" name="Shape 13"/>
          <p:cNvSpPr/>
          <p:nvPr/>
        </p:nvSpPr>
        <p:spPr>
          <a:xfrm>
            <a:off x="320040" y="2221992"/>
            <a:ext cx="64008" cy="1298448"/>
          </a:xfrm>
          <a:prstGeom prst="rect">
            <a:avLst/>
          </a:prstGeom>
          <a:solidFill>
            <a:srgbClr val="00D4AA"/>
          </a:solidFill>
          <a:ln w="12700">
            <a:solidFill>
              <a:srgbClr val="00D4AA"/>
            </a:solidFill>
            <a:prstDash val="solid"/>
          </a:ln>
        </p:spPr>
      </p:sp>
      <p:sp>
        <p:nvSpPr>
          <p:cNvPr id="16" name="Text 14"/>
          <p:cNvSpPr/>
          <p:nvPr/>
        </p:nvSpPr>
        <p:spPr>
          <a:xfrm>
            <a:off x="484632" y="2313432"/>
            <a:ext cx="3931920" cy="320040"/>
          </a:xfrm>
          <a:prstGeom prst="rect">
            <a:avLst/>
          </a:prstGeom>
          <a:noFill/>
          <a:ln/>
        </p:spPr>
        <p:txBody>
          <a:bodyPr wrap="square" lIns="0" tIns="0" rIns="0" bIns="0" rtlCol="0" anchor="ctr"/>
          <a:lstStyle/>
          <a:p>
            <a:pPr indent="0" marL="0">
              <a:buNone/>
            </a:pPr>
            <a:r>
              <a:rPr lang="en-US" sz="1200" b="1" dirty="0">
                <a:solidFill>
                  <a:srgbClr val="00D4AA"/>
                </a:solidFill>
                <a:latin typeface="Courier New" pitchFamily="34" charset="0"/>
                <a:ea typeface="Courier New" pitchFamily="34" charset="-122"/>
                <a:cs typeface="Courier New" pitchFamily="34" charset="-120"/>
              </a:rPr>
              <a:t>cursor-pilot</a:t>
            </a:r>
            <a:endParaRPr lang="en-US" sz="1200" dirty="0"/>
          </a:p>
        </p:txBody>
      </p:sp>
      <p:sp>
        <p:nvSpPr>
          <p:cNvPr id="17" name="Text 15"/>
          <p:cNvSpPr/>
          <p:nvPr/>
        </p:nvSpPr>
        <p:spPr>
          <a:xfrm>
            <a:off x="484632" y="2642616"/>
            <a:ext cx="3931920" cy="80467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Runs canon graph query AND graph impact to enumerate blast radius. Emits CURSOR_PILOT_PROMPT with ROLE/TASK/AC/CONTEXT/REASONING/PARALLELIZATION_PLAN/STOP_CONDITIONS. Maps workstreams (ws1, ws2...) for parallel implementers.</a:t>
            </a:r>
            <a:endParaRPr lang="en-US" sz="1000" dirty="0"/>
          </a:p>
        </p:txBody>
      </p:sp>
      <p:sp>
        <p:nvSpPr>
          <p:cNvPr id="18" name="Shape 16"/>
          <p:cNvSpPr/>
          <p:nvPr/>
        </p:nvSpPr>
        <p:spPr>
          <a:xfrm>
            <a:off x="4754880" y="2221992"/>
            <a:ext cx="4251960" cy="129844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19" name="Shape 17"/>
          <p:cNvSpPr/>
          <p:nvPr/>
        </p:nvSpPr>
        <p:spPr>
          <a:xfrm>
            <a:off x="4754880" y="2221992"/>
            <a:ext cx="64008" cy="1298448"/>
          </a:xfrm>
          <a:prstGeom prst="rect">
            <a:avLst/>
          </a:prstGeom>
          <a:solidFill>
            <a:srgbClr val="10B981"/>
          </a:solidFill>
          <a:ln w="12700">
            <a:solidFill>
              <a:srgbClr val="10B981"/>
            </a:solidFill>
            <a:prstDash val="solid"/>
          </a:ln>
        </p:spPr>
      </p:sp>
      <p:sp>
        <p:nvSpPr>
          <p:cNvPr id="20" name="Text 18"/>
          <p:cNvSpPr/>
          <p:nvPr/>
        </p:nvSpPr>
        <p:spPr>
          <a:xfrm>
            <a:off x="4919472" y="2313432"/>
            <a:ext cx="3931920" cy="320040"/>
          </a:xfrm>
          <a:prstGeom prst="rect">
            <a:avLst/>
          </a:prstGeom>
          <a:noFill/>
          <a:ln/>
        </p:spPr>
        <p:txBody>
          <a:bodyPr wrap="square" lIns="0" tIns="0" rIns="0" bIns="0" rtlCol="0" anchor="ctr"/>
          <a:lstStyle/>
          <a:p>
            <a:pPr indent="0" marL="0">
              <a:buNone/>
            </a:pPr>
            <a:r>
              <a:rPr lang="en-US" sz="1200" b="1" dirty="0">
                <a:solidFill>
                  <a:srgbClr val="10B981"/>
                </a:solidFill>
                <a:latin typeface="Courier New" pitchFamily="34" charset="0"/>
                <a:ea typeface="Courier New" pitchFamily="34" charset="-122"/>
                <a:cs typeface="Courier New" pitchFamily="34" charset="-120"/>
              </a:rPr>
              <a:t>implementer</a:t>
            </a:r>
            <a:endParaRPr lang="en-US" sz="1200" dirty="0"/>
          </a:p>
        </p:txBody>
      </p:sp>
      <p:sp>
        <p:nvSpPr>
          <p:cNvPr id="21" name="Text 19"/>
          <p:cNvSpPr/>
          <p:nvPr/>
        </p:nvSpPr>
        <p:spPr>
          <a:xfrm>
            <a:off x="4919472" y="2642616"/>
            <a:ext cx="3931920" cy="80467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Minimal-change policy — satisfies ACs, does not refactor unrelated areas. In parallel mode, owns only its assigned workstream. On version conflict (exit 1): re-reads checkpoint, retries with new state_version. Emits retrieval_breakdown canonical event.</a:t>
            </a:r>
            <a:endParaRPr lang="en-US" sz="1000" dirty="0"/>
          </a:p>
        </p:txBody>
      </p:sp>
      <p:sp>
        <p:nvSpPr>
          <p:cNvPr id="22" name="Shape 20"/>
          <p:cNvSpPr/>
          <p:nvPr/>
        </p:nvSpPr>
        <p:spPr>
          <a:xfrm>
            <a:off x="320040" y="3639312"/>
            <a:ext cx="4251960" cy="129844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23" name="Shape 21"/>
          <p:cNvSpPr/>
          <p:nvPr/>
        </p:nvSpPr>
        <p:spPr>
          <a:xfrm>
            <a:off x="320040" y="3639312"/>
            <a:ext cx="64008" cy="1298448"/>
          </a:xfrm>
          <a:prstGeom prst="rect">
            <a:avLst/>
          </a:prstGeom>
          <a:solidFill>
            <a:srgbClr val="F59E0B"/>
          </a:solidFill>
          <a:ln w="12700">
            <a:solidFill>
              <a:srgbClr val="F59E0B"/>
            </a:solidFill>
            <a:prstDash val="solid"/>
          </a:ln>
        </p:spPr>
      </p:sp>
      <p:sp>
        <p:nvSpPr>
          <p:cNvPr id="24" name="Text 22"/>
          <p:cNvSpPr/>
          <p:nvPr/>
        </p:nvSpPr>
        <p:spPr>
          <a:xfrm>
            <a:off x="484632" y="3730752"/>
            <a:ext cx="3931920" cy="320040"/>
          </a:xfrm>
          <a:prstGeom prst="rect">
            <a:avLst/>
          </a:prstGeom>
          <a:noFill/>
          <a:ln/>
        </p:spPr>
        <p:txBody>
          <a:bodyPr wrap="square" lIns="0" tIns="0" rIns="0" bIns="0" rtlCol="0" anchor="ctr"/>
          <a:lstStyle/>
          <a:p>
            <a:pPr indent="0" marL="0">
              <a:buNone/>
            </a:pPr>
            <a:r>
              <a:rPr lang="en-US" sz="1200" b="1" dirty="0">
                <a:solidFill>
                  <a:srgbClr val="F59E0B"/>
                </a:solidFill>
                <a:latin typeface="Courier New" pitchFamily="34" charset="0"/>
                <a:ea typeface="Courier New" pitchFamily="34" charset="-122"/>
                <a:cs typeface="Courier New" pitchFamily="34" charset="-120"/>
              </a:rPr>
              <a:t>qa-gate</a:t>
            </a:r>
            <a:endParaRPr lang="en-US" sz="1200" dirty="0"/>
          </a:p>
        </p:txBody>
      </p:sp>
      <p:sp>
        <p:nvSpPr>
          <p:cNvPr id="25" name="Text 23"/>
          <p:cNvSpPr/>
          <p:nvPr/>
        </p:nvSpPr>
        <p:spPr>
          <a:xfrm>
            <a:off x="484632" y="4059936"/>
            <a:ext cx="3931920" cy="80467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Reconciles changed files vs evidence citations. Maps every Acceptance Criterion to a covering test. Writes tests if missing. Up to 3 fix-and-retest cycles. Runs canon capture. Emits GATE_RESULTS: per-AC PASS | FAIL | MISSING_EVIDENCE.</a:t>
            </a:r>
            <a:endParaRPr lang="en-US" sz="1000" dirty="0"/>
          </a:p>
        </p:txBody>
      </p:sp>
      <p:sp>
        <p:nvSpPr>
          <p:cNvPr id="26" name="Shape 24"/>
          <p:cNvSpPr/>
          <p:nvPr/>
        </p:nvSpPr>
        <p:spPr>
          <a:xfrm>
            <a:off x="4754880" y="3639312"/>
            <a:ext cx="4251960" cy="129844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27" name="Shape 25"/>
          <p:cNvSpPr/>
          <p:nvPr/>
        </p:nvSpPr>
        <p:spPr>
          <a:xfrm>
            <a:off x="4754880" y="3639312"/>
            <a:ext cx="64008" cy="1298448"/>
          </a:xfrm>
          <a:prstGeom prst="rect">
            <a:avLst/>
          </a:prstGeom>
          <a:solidFill>
            <a:srgbClr val="EF4444"/>
          </a:solidFill>
          <a:ln w="12700">
            <a:solidFill>
              <a:srgbClr val="EF4444"/>
            </a:solidFill>
            <a:prstDash val="solid"/>
          </a:ln>
        </p:spPr>
      </p:sp>
      <p:sp>
        <p:nvSpPr>
          <p:cNvPr id="28" name="Text 26"/>
          <p:cNvSpPr/>
          <p:nvPr/>
        </p:nvSpPr>
        <p:spPr>
          <a:xfrm>
            <a:off x="4919472" y="3730752"/>
            <a:ext cx="3931920" cy="320040"/>
          </a:xfrm>
          <a:prstGeom prst="rect">
            <a:avLst/>
          </a:prstGeom>
          <a:noFill/>
          <a:ln/>
        </p:spPr>
        <p:txBody>
          <a:bodyPr wrap="square" lIns="0" tIns="0" rIns="0" bIns="0" rtlCol="0" anchor="ctr"/>
          <a:lstStyle/>
          <a:p>
            <a:pPr indent="0" marL="0">
              <a:buNone/>
            </a:pPr>
            <a:r>
              <a:rPr lang="en-US" sz="1200" b="1" dirty="0">
                <a:solidFill>
                  <a:srgbClr val="EF4444"/>
                </a:solidFill>
                <a:latin typeface="Courier New" pitchFamily="34" charset="0"/>
                <a:ea typeface="Courier New" pitchFamily="34" charset="-122"/>
                <a:cs typeface="Courier New" pitchFamily="34" charset="-120"/>
              </a:rPr>
              <a:t>release-orchestrator</a:t>
            </a:r>
            <a:endParaRPr lang="en-US" sz="1200" dirty="0"/>
          </a:p>
        </p:txBody>
      </p:sp>
      <p:sp>
        <p:nvSpPr>
          <p:cNvPr id="29" name="Text 27"/>
          <p:cNvSpPr/>
          <p:nvPr/>
        </p:nvSpPr>
        <p:spPr>
          <a:xfrm>
            <a:off x="4919472" y="4059936"/>
            <a:ext cx="3931920" cy="80467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Merge gates (ALL required): qa-gate PASS + canon qa-validate + sampled flow-audit + CI PASS + memory-health evidence + canon resume shows no incomplete phases. Fires Slack escalation on any blocker. Emits task_outcome canonical event.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1F35"/>
          </a:solidFill>
          <a:ln w="12700">
            <a:solidFill>
              <a:srgbClr val="0A1F35"/>
            </a:solidFill>
            <a:prstDash val="solid"/>
          </a:ln>
        </p:spPr>
      </p:sp>
      <p:sp>
        <p:nvSpPr>
          <p:cNvPr id="3" name="Shape 1"/>
          <p:cNvSpPr/>
          <p:nvPr/>
        </p:nvSpPr>
        <p:spPr>
          <a:xfrm>
            <a:off x="0" y="0"/>
            <a:ext cx="109728" cy="658368"/>
          </a:xfrm>
          <a:prstGeom prst="rect">
            <a:avLst/>
          </a:prstGeom>
          <a:solidFill>
            <a:srgbClr val="00D4AA"/>
          </a:solidFill>
          <a:ln w="12700">
            <a:solidFill>
              <a:srgbClr val="00D4AA"/>
            </a:solidFill>
            <a:prstDash val="solid"/>
          </a:ln>
        </p:spPr>
      </p:sp>
      <p:sp>
        <p:nvSpPr>
          <p:cNvPr id="4" name="Text 2"/>
          <p:cNvSpPr/>
          <p:nvPr/>
        </p:nvSpPr>
        <p:spPr>
          <a:xfrm>
            <a:off x="219456" y="0"/>
            <a:ext cx="685800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Handoff Packets &amp; Canonical Events</a:t>
            </a:r>
            <a:endParaRPr lang="en-US" sz="2100" dirty="0"/>
          </a:p>
        </p:txBody>
      </p:sp>
      <p:sp>
        <p:nvSpPr>
          <p:cNvPr id="5" name="Text 3"/>
          <p:cNvSpPr/>
          <p:nvPr/>
        </p:nvSpPr>
        <p:spPr>
          <a:xfrm>
            <a:off x="219456" y="0"/>
            <a:ext cx="8778240" cy="658368"/>
          </a:xfrm>
          <a:prstGeom prst="rect">
            <a:avLst/>
          </a:prstGeom>
          <a:noFill/>
          <a:ln/>
        </p:spPr>
        <p:txBody>
          <a:bodyPr wrap="square" lIns="0" tIns="0" rIns="0" bIns="0" rtlCol="0" anchor="ctr"/>
          <a:lstStyle/>
          <a:p>
            <a:pPr algn="r" indent="0" marL="0">
              <a:buNone/>
            </a:pPr>
            <a:r>
              <a:rPr lang="en-US" sz="1000" dirty="0">
                <a:solidFill>
                  <a:srgbClr val="4B6A8A"/>
                </a:solidFill>
                <a:latin typeface="Calibri" pitchFamily="34" charset="0"/>
                <a:ea typeface="Calibri" pitchFamily="34" charset="-122"/>
                <a:cs typeface="Calibri" pitchFamily="34" charset="-120"/>
              </a:rPr>
              <a:t>How It Works → Data Contracts</a:t>
            </a:r>
            <a:endParaRPr lang="en-US" sz="1000" dirty="0"/>
          </a:p>
        </p:txBody>
      </p:sp>
      <p:sp>
        <p:nvSpPr>
          <p:cNvPr id="6" name="Text 4"/>
          <p:cNvSpPr/>
          <p:nvPr/>
        </p:nvSpPr>
        <p:spPr>
          <a:xfrm>
            <a:off x="347472" y="749808"/>
            <a:ext cx="8412480" cy="310896"/>
          </a:xfrm>
          <a:prstGeom prst="rect">
            <a:avLst/>
          </a:prstGeom>
          <a:noFill/>
          <a:ln/>
        </p:spPr>
        <p:txBody>
          <a:bodyPr wrap="square" lIns="0" tIns="0" rIns="0" bIns="0" rtlCol="0" anchor="ctr"/>
          <a:lstStyle/>
          <a:p>
            <a:pPr indent="0" marL="0">
              <a:buNone/>
            </a:pPr>
            <a:r>
              <a:rPr lang="en-US" sz="1200" i="1" dirty="0">
                <a:solidFill>
                  <a:srgbClr val="7BA3C4"/>
                </a:solidFill>
                <a:latin typeface="Calibri" pitchFamily="34" charset="0"/>
                <a:ea typeface="Calibri" pitchFamily="34" charset="-122"/>
                <a:cs typeface="Calibri" pitchFamily="34" charset="-120"/>
              </a:rPr>
              <a:t>Packets on disk are the source of truth. Chat-only claims of completion are explicitly rejected by the governance rule.</a:t>
            </a:r>
            <a:endParaRPr lang="en-US" sz="1200" dirty="0"/>
          </a:p>
        </p:txBody>
      </p:sp>
      <p:sp>
        <p:nvSpPr>
          <p:cNvPr id="7" name="Shape 5"/>
          <p:cNvSpPr/>
          <p:nvPr/>
        </p:nvSpPr>
        <p:spPr>
          <a:xfrm>
            <a:off x="320040" y="1133856"/>
            <a:ext cx="4096512" cy="3822192"/>
          </a:xfrm>
          <a:prstGeom prst="rect">
            <a:avLst/>
          </a:prstGeom>
          <a:solidFill>
            <a:srgbClr val="0D1B2A"/>
          </a:solidFill>
          <a:ln w="6350">
            <a:solidFill>
              <a:srgbClr val="1E3A5F"/>
            </a:solidFill>
            <a:prstDash val="solid"/>
          </a:ln>
        </p:spPr>
      </p:sp>
      <p:sp>
        <p:nvSpPr>
          <p:cNvPr id="8" name="Text 6"/>
          <p:cNvSpPr/>
          <p:nvPr/>
        </p:nvSpPr>
        <p:spPr>
          <a:xfrm>
            <a:off x="475488" y="1234440"/>
            <a:ext cx="3794760" cy="320040"/>
          </a:xfrm>
          <a:prstGeom prst="rect">
            <a:avLst/>
          </a:prstGeom>
          <a:noFill/>
          <a:ln/>
        </p:spPr>
        <p:txBody>
          <a:bodyPr wrap="square" lIns="0" tIns="0" rIns="0" bIns="0" rtlCol="0" anchor="ctr"/>
          <a:lstStyle/>
          <a:p>
            <a:pPr indent="0" marL="0">
              <a:buNone/>
            </a:pPr>
            <a:r>
              <a:rPr lang="en-US" sz="1300" b="1" dirty="0">
                <a:solidFill>
                  <a:srgbClr val="00D4AA"/>
                </a:solidFill>
                <a:latin typeface="Calibri" pitchFamily="34" charset="0"/>
                <a:ea typeface="Calibri" pitchFamily="34" charset="-122"/>
                <a:cs typeface="Calibri" pitchFamily="34" charset="-120"/>
              </a:rPr>
              <a:t>Handoff Packet Structure</a:t>
            </a:r>
            <a:endParaRPr lang="en-US" sz="1300" dirty="0"/>
          </a:p>
        </p:txBody>
      </p:sp>
      <p:sp>
        <p:nvSpPr>
          <p:cNvPr id="9" name="Text 7"/>
          <p:cNvSpPr/>
          <p:nvPr/>
        </p:nvSpPr>
        <p:spPr>
          <a:xfrm>
            <a:off x="475488" y="1600200"/>
            <a:ext cx="3794760" cy="2606040"/>
          </a:xfrm>
          <a:prstGeom prst="rect">
            <a:avLst/>
          </a:prstGeom>
          <a:noFill/>
          <a:ln/>
        </p:spPr>
        <p:txBody>
          <a:bodyPr wrap="square" lIns="0" tIns="0" rIns="0" bIns="0" rtlCol="0" anchor="ctr"/>
          <a:lstStyle/>
          <a:p>
            <a:pPr indent="0" marL="0">
              <a:buNone/>
            </a:pPr>
            <a:r>
              <a:rPr lang="en-US" sz="1000" dirty="0">
                <a:solidFill>
                  <a:srgbClr val="7BA3C4"/>
                </a:solidFill>
                <a:latin typeface="Courier New" pitchFamily="34" charset="0"/>
                <a:ea typeface="Courier New" pitchFamily="34" charset="-122"/>
                <a:cs typeface="Courier New" pitchFamily="34" charset="-120"/>
              </a:rPr>
              <a:t>.cursor/handoffs/&lt;handoff_id&gt;/&lt;task_id&gt;/</a:t>
            </a:r>
            <a:endParaRPr lang="en-US" sz="1000" dirty="0"/>
          </a:p>
          <a:p>
            <a:pPr indent="0" marL="0">
              <a:buNone/>
            </a:pPr>
            <a:r>
              <a:rPr lang="en-US" sz="1000" dirty="0">
                <a:solidFill>
                  <a:srgbClr val="7BA3C4"/>
                </a:solidFill>
                <a:latin typeface="Courier New" pitchFamily="34" charset="0"/>
                <a:ea typeface="Courier New" pitchFamily="34" charset="-122"/>
                <a:cs typeface="Courier New" pitchFamily="34" charset="-120"/>
              </a:rPr>
              <a:t>  ├── scoper.md</a:t>
            </a:r>
            <a:endParaRPr lang="en-US" sz="1000" dirty="0"/>
          </a:p>
          <a:p>
            <a:pPr indent="0" marL="0">
              <a:buNone/>
            </a:pPr>
            <a:r>
              <a:rPr lang="en-US" sz="1000" dirty="0">
                <a:solidFill>
                  <a:srgbClr val="7BA3C4"/>
                </a:solidFill>
                <a:latin typeface="Courier New" pitchFamily="34" charset="0"/>
                <a:ea typeface="Courier New" pitchFamily="34" charset="-122"/>
                <a:cs typeface="Courier New" pitchFamily="34" charset="-120"/>
              </a:rPr>
              <a:t>  ├── cursor-pilot.md</a:t>
            </a:r>
            <a:endParaRPr lang="en-US" sz="1000" dirty="0"/>
          </a:p>
          <a:p>
            <a:pPr indent="0" marL="0">
              <a:buNone/>
            </a:pPr>
            <a:r>
              <a:rPr lang="en-US" sz="1000" dirty="0">
                <a:solidFill>
                  <a:srgbClr val="7BA3C4"/>
                </a:solidFill>
                <a:latin typeface="Courier New" pitchFamily="34" charset="0"/>
                <a:ea typeface="Courier New" pitchFamily="34" charset="-122"/>
                <a:cs typeface="Courier New" pitchFamily="34" charset="-120"/>
              </a:rPr>
              <a:t>  ├── qa-gate.md</a:t>
            </a:r>
            <a:endParaRPr lang="en-US" sz="1000" dirty="0"/>
          </a:p>
          <a:p>
            <a:pPr indent="0" marL="0">
              <a:buNone/>
            </a:pPr>
            <a:r>
              <a:rPr lang="en-US" sz="1000" dirty="0">
                <a:solidFill>
                  <a:srgbClr val="7BA3C4"/>
                </a:solidFill>
                <a:latin typeface="Courier New" pitchFamily="34" charset="0"/>
                <a:ea typeface="Courier New" pitchFamily="34" charset="-122"/>
                <a:cs typeface="Courier New" pitchFamily="34" charset="-120"/>
              </a:rPr>
              <a:t>  ├── release-status.md</a:t>
            </a:r>
            <a:endParaRPr lang="en-US" sz="1000" dirty="0"/>
          </a:p>
          <a:p>
            <a:pPr indent="0" marL="0">
              <a:buNone/>
            </a:pPr>
            <a:r>
              <a:rPr lang="en-US" sz="1000" dirty="0">
                <a:solidFill>
                  <a:srgbClr val="7BA3C4"/>
                </a:solidFill>
                <a:latin typeface="Courier New" pitchFamily="34" charset="0"/>
                <a:ea typeface="Courier New" pitchFamily="34" charset="-122"/>
                <a:cs typeface="Courier New" pitchFamily="34" charset="-120"/>
              </a:rPr>
              <a:t>  ├── memory-health.json</a:t>
            </a:r>
            <a:endParaRPr lang="en-US" sz="1000" dirty="0"/>
          </a:p>
          <a:p>
            <a:pPr indent="0" marL="0">
              <a:buNone/>
            </a:pPr>
            <a:r>
              <a:rPr lang="en-US" sz="1000" dirty="0">
                <a:solidFill>
                  <a:srgbClr val="7BA3C4"/>
                </a:solidFill>
                <a:latin typeface="Courier New" pitchFamily="34" charset="0"/>
                <a:ea typeface="Courier New" pitchFamily="34" charset="-122"/>
                <a:cs typeface="Courier New" pitchFamily="34" charset="-120"/>
              </a:rPr>
              <a:t>  ├── handoff-not-ready/</a:t>
            </a:r>
            <a:endParaRPr lang="en-US" sz="1000" dirty="0"/>
          </a:p>
          <a:p>
            <a:pPr indent="0" marL="0">
              <a:buNone/>
            </a:pPr>
            <a:r>
              <a:rPr lang="en-US" sz="1000" dirty="0">
                <a:solidFill>
                  <a:srgbClr val="7BA3C4"/>
                </a:solidFill>
                <a:latin typeface="Courier New" pitchFamily="34" charset="0"/>
                <a:ea typeface="Courier New" pitchFamily="34" charset="-122"/>
                <a:cs typeface="Courier New" pitchFamily="34" charset="-120"/>
              </a:rPr>
              <a:t>  │   └── &lt;stage&gt;-&lt;timestamp&gt;.md</a:t>
            </a:r>
            <a:endParaRPr lang="en-US" sz="1000" dirty="0"/>
          </a:p>
          <a:p>
            <a:pPr indent="0" marL="0">
              <a:buNone/>
            </a:pPr>
            <a:r>
              <a:rPr lang="en-US" sz="1000" dirty="0">
                <a:solidFill>
                  <a:srgbClr val="7BA3C4"/>
                </a:solidFill>
                <a:latin typeface="Courier New" pitchFamily="34" charset="0"/>
                <a:ea typeface="Courier New" pitchFamily="34" charset="-122"/>
                <a:cs typeface="Courier New" pitchFamily="34" charset="-120"/>
              </a:rPr>
              <a:t>  └── dor-failure/</a:t>
            </a:r>
            <a:endParaRPr lang="en-US" sz="1000" dirty="0"/>
          </a:p>
          <a:p>
            <a:pPr indent="0" marL="0">
              <a:buNone/>
            </a:pPr>
            <a:r>
              <a:rPr lang="en-US" sz="1000" dirty="0">
                <a:solidFill>
                  <a:srgbClr val="7BA3C4"/>
                </a:solidFill>
                <a:latin typeface="Courier New" pitchFamily="34" charset="0"/>
                <a:ea typeface="Courier New" pitchFamily="34" charset="-122"/>
                <a:cs typeface="Courier New" pitchFamily="34" charset="-120"/>
              </a:rPr>
              <a:t>      ├── &lt;stage&gt;-&lt;timestamp&gt;.json</a:t>
            </a:r>
            <a:endParaRPr lang="en-US" sz="1000" dirty="0"/>
          </a:p>
          <a:p>
            <a:pPr indent="0" marL="0">
              <a:buNone/>
            </a:pPr>
            <a:r>
              <a:rPr lang="en-US" sz="1000" dirty="0">
                <a:solidFill>
                  <a:srgbClr val="7BA3C4"/>
                </a:solidFill>
                <a:latin typeface="Courier New" pitchFamily="34" charset="0"/>
                <a:ea typeface="Courier New" pitchFamily="34" charset="-122"/>
                <a:cs typeface="Courier New" pitchFamily="34" charset="-120"/>
              </a:rPr>
              <a:t>      └── &lt;stage&gt;-&lt;timestamp&gt;.status</a:t>
            </a:r>
            <a:endParaRPr lang="en-US" sz="1000" dirty="0"/>
          </a:p>
        </p:txBody>
      </p:sp>
      <p:sp>
        <p:nvSpPr>
          <p:cNvPr id="10" name="Shape 8"/>
          <p:cNvSpPr/>
          <p:nvPr/>
        </p:nvSpPr>
        <p:spPr>
          <a:xfrm>
            <a:off x="320040" y="4279392"/>
            <a:ext cx="4096512" cy="502920"/>
          </a:xfrm>
          <a:prstGeom prst="rect">
            <a:avLst/>
          </a:prstGeom>
          <a:solidFill>
            <a:srgbClr val="0F2035"/>
          </a:solidFill>
          <a:ln w="12700">
            <a:solidFill>
              <a:srgbClr val="1E3A5F"/>
            </a:solidFill>
            <a:prstDash val="solid"/>
          </a:ln>
        </p:spPr>
      </p:sp>
      <p:sp>
        <p:nvSpPr>
          <p:cNvPr id="11" name="Text 9"/>
          <p:cNvSpPr/>
          <p:nvPr/>
        </p:nvSpPr>
        <p:spPr>
          <a:xfrm>
            <a:off x="457200" y="4297680"/>
            <a:ext cx="3931920" cy="475488"/>
          </a:xfrm>
          <a:prstGeom prst="rect">
            <a:avLst/>
          </a:prstGeom>
          <a:noFill/>
          <a:ln/>
        </p:spPr>
        <p:txBody>
          <a:bodyPr wrap="square" lIns="0" tIns="0" rIns="0" bIns="0" rtlCol="0" anchor="ctr"/>
          <a:lstStyle/>
          <a:p>
            <a:pPr indent="0" marL="0">
              <a:buNone/>
            </a:pPr>
            <a:r>
              <a:rPr lang="en-US" sz="1000" i="1" dirty="0">
                <a:solidFill>
                  <a:srgbClr val="4B7A9F"/>
                </a:solidFill>
                <a:latin typeface="Calibri" pitchFamily="34" charset="0"/>
                <a:ea typeface="Calibri" pitchFamily="34" charset="-122"/>
                <a:cs typeface="Calibri" pitchFamily="34" charset="-120"/>
              </a:rPr>
              <a:t>Canon was built using Canon. 7 waves of handoff history on disk — .cursor/handoffs/canon-memory-v1/</a:t>
            </a:r>
            <a:endParaRPr lang="en-US" sz="1000" dirty="0"/>
          </a:p>
        </p:txBody>
      </p:sp>
      <p:sp>
        <p:nvSpPr>
          <p:cNvPr id="12" name="Shape 10"/>
          <p:cNvSpPr/>
          <p:nvPr/>
        </p:nvSpPr>
        <p:spPr>
          <a:xfrm>
            <a:off x="4590288" y="1133856"/>
            <a:ext cx="4224528" cy="3822192"/>
          </a:xfrm>
          <a:prstGeom prst="rect">
            <a:avLst/>
          </a:prstGeom>
          <a:solidFill>
            <a:srgbClr val="0D1B2A"/>
          </a:solidFill>
          <a:ln w="6350">
            <a:solidFill>
              <a:srgbClr val="1E3A5F"/>
            </a:solidFill>
            <a:prstDash val="solid"/>
          </a:ln>
        </p:spPr>
      </p:sp>
      <p:sp>
        <p:nvSpPr>
          <p:cNvPr id="13" name="Text 11"/>
          <p:cNvSpPr/>
          <p:nvPr/>
        </p:nvSpPr>
        <p:spPr>
          <a:xfrm>
            <a:off x="4736592" y="1234440"/>
            <a:ext cx="3931920" cy="320040"/>
          </a:xfrm>
          <a:prstGeom prst="rect">
            <a:avLst/>
          </a:prstGeom>
          <a:noFill/>
          <a:ln/>
        </p:spPr>
        <p:txBody>
          <a:bodyPr wrap="square" lIns="0" tIns="0" rIns="0" bIns="0" rtlCol="0" anchor="ctr"/>
          <a:lstStyle/>
          <a:p>
            <a:pPr indent="0" marL="0">
              <a:buNone/>
            </a:pPr>
            <a:r>
              <a:rPr lang="en-US" sz="1300" b="1" dirty="0">
                <a:solidFill>
                  <a:srgbClr val="6366F1"/>
                </a:solidFill>
                <a:latin typeface="Calibri" pitchFamily="34" charset="0"/>
                <a:ea typeface="Calibri" pitchFamily="34" charset="-122"/>
                <a:cs typeface="Calibri" pitchFamily="34" charset="-120"/>
              </a:rPr>
              <a:t>CanonicalEvent Envelope</a:t>
            </a:r>
            <a:endParaRPr lang="en-US" sz="1300" dirty="0"/>
          </a:p>
        </p:txBody>
      </p:sp>
      <p:sp>
        <p:nvSpPr>
          <p:cNvPr id="14" name="Text 12"/>
          <p:cNvSpPr/>
          <p:nvPr/>
        </p:nvSpPr>
        <p:spPr>
          <a:xfrm>
            <a:off x="4736592" y="1600200"/>
            <a:ext cx="3931920" cy="3200400"/>
          </a:xfrm>
          <a:prstGeom prst="rect">
            <a:avLst/>
          </a:prstGeom>
          <a:noFill/>
          <a:ln/>
        </p:spPr>
        <p:txBody>
          <a:bodyPr wrap="square" lIns="0" tIns="0" rIns="0" bIns="0" rtlCol="0" anchor="ctr"/>
          <a:lstStyle/>
          <a:p>
            <a:pPr indent="0" marL="0">
              <a:buNone/>
            </a:pPr>
            <a:r>
              <a:rPr lang="en-US" sz="900" dirty="0">
                <a:solidFill>
                  <a:srgbClr val="7BA3C4"/>
                </a:solidFill>
                <a:latin typeface="Courier New" pitchFamily="34" charset="0"/>
                <a:ea typeface="Courier New" pitchFamily="34" charset="-122"/>
                <a:cs typeface="Courier New" pitchFamily="34" charset="-120"/>
              </a:rPr>
              <a:t>schema_version: int        # always 1</a:t>
            </a:r>
            <a:endParaRPr lang="en-US" sz="900" dirty="0"/>
          </a:p>
          <a:p>
            <a:pPr indent="0" marL="0">
              <a:buNone/>
            </a:pPr>
            <a:r>
              <a:rPr lang="en-US" sz="900" dirty="0">
                <a:solidFill>
                  <a:srgbClr val="7BA3C4"/>
                </a:solidFill>
                <a:latin typeface="Courier New" pitchFamily="34" charset="0"/>
                <a:ea typeface="Courier New" pitchFamily="34" charset="-122"/>
                <a:cs typeface="Courier New" pitchFamily="34" charset="-120"/>
              </a:rPr>
              <a:t>event_id:        str        # ev-&lt;uuid&gt;</a:t>
            </a:r>
            <a:endParaRPr lang="en-US" sz="900" dirty="0"/>
          </a:p>
          <a:p>
            <a:pPr indent="0" marL="0">
              <a:buNone/>
            </a:pPr>
            <a:r>
              <a:rPr lang="en-US" sz="900" dirty="0">
                <a:solidFill>
                  <a:srgbClr val="7BA3C4"/>
                </a:solidFill>
                <a:latin typeface="Courier New" pitchFamily="34" charset="0"/>
                <a:ea typeface="Courier New" pitchFamily="34" charset="-122"/>
                <a:cs typeface="Courier New" pitchFamily="34" charset="-120"/>
              </a:rPr>
              <a:t>parent_event_id: str        # chain trace</a:t>
            </a:r>
            <a:endParaRPr lang="en-US" sz="900" dirty="0"/>
          </a:p>
          <a:p>
            <a:pPr indent="0" marL="0">
              <a:buNone/>
            </a:pPr>
            <a:r>
              <a:rPr lang="en-US" sz="900" dirty="0">
                <a:solidFill>
                  <a:srgbClr val="7BA3C4"/>
                </a:solidFill>
                <a:latin typeface="Courier New" pitchFamily="34" charset="0"/>
                <a:ea typeface="Courier New" pitchFamily="34" charset="-122"/>
                <a:cs typeface="Courier New" pitchFamily="34" charset="-120"/>
              </a:rPr>
              <a:t>event_type:      str        # retrieval_breakdown</a:t>
            </a:r>
            <a:endParaRPr lang="en-US" sz="900" dirty="0"/>
          </a:p>
          <a:p>
            <a:pPr indent="0" marL="0">
              <a:buNone/>
            </a:pPr>
            <a:r>
              <a:rPr lang="en-US" sz="900" dirty="0">
                <a:solidFill>
                  <a:srgbClr val="7BA3C4"/>
                </a:solidFill>
                <a:latin typeface="Courier New" pitchFamily="34" charset="0"/>
                <a:ea typeface="Courier New" pitchFamily="34" charset="-122"/>
                <a:cs typeface="Courier New" pitchFamily="34" charset="-120"/>
              </a:rPr>
              <a:t>                            # checkpoint_write</a:t>
            </a:r>
            <a:endParaRPr lang="en-US" sz="900" dirty="0"/>
          </a:p>
          <a:p>
            <a:pPr indent="0" marL="0">
              <a:buNone/>
            </a:pPr>
            <a:r>
              <a:rPr lang="en-US" sz="900" dirty="0">
                <a:solidFill>
                  <a:srgbClr val="7BA3C4"/>
                </a:solidFill>
                <a:latin typeface="Courier New" pitchFamily="34" charset="0"/>
                <a:ea typeface="Courier New" pitchFamily="34" charset="-122"/>
                <a:cs typeface="Courier New" pitchFamily="34" charset="-120"/>
              </a:rPr>
              <a:t>                            # lease_stall_detected</a:t>
            </a:r>
            <a:endParaRPr lang="en-US" sz="900" dirty="0"/>
          </a:p>
          <a:p>
            <a:pPr indent="0" marL="0">
              <a:buNone/>
            </a:pPr>
            <a:r>
              <a:rPr lang="en-US" sz="900" dirty="0">
                <a:solidFill>
                  <a:srgbClr val="7BA3C4"/>
                </a:solidFill>
                <a:latin typeface="Courier New" pitchFamily="34" charset="0"/>
                <a:ea typeface="Courier New" pitchFamily="34" charset="-122"/>
                <a:cs typeface="Courier New" pitchFamily="34" charset="-120"/>
              </a:rPr>
              <a:t>                            # task_outcome</a:t>
            </a:r>
            <a:endParaRPr lang="en-US" sz="900" dirty="0"/>
          </a:p>
          <a:p>
            <a:pPr indent="0" marL="0">
              <a:buNone/>
            </a:pPr>
            <a:r>
              <a:rPr lang="en-US" sz="900" dirty="0">
                <a:solidFill>
                  <a:srgbClr val="7BA3C4"/>
                </a:solidFill>
                <a:latin typeface="Courier New" pitchFamily="34" charset="0"/>
                <a:ea typeface="Courier New" pitchFamily="34" charset="-122"/>
                <a:cs typeface="Courier New" pitchFamily="34" charset="-120"/>
              </a:rPr>
              <a:t>company_id:      str        # tenant company</a:t>
            </a:r>
            <a:endParaRPr lang="en-US" sz="900" dirty="0"/>
          </a:p>
          <a:p>
            <a:pPr indent="0" marL="0">
              <a:buNone/>
            </a:pPr>
            <a:r>
              <a:rPr lang="en-US" sz="900" dirty="0">
                <a:solidFill>
                  <a:srgbClr val="7BA3C4"/>
                </a:solidFill>
                <a:latin typeface="Courier New" pitchFamily="34" charset="0"/>
                <a:ea typeface="Courier New" pitchFamily="34" charset="-122"/>
                <a:cs typeface="Courier New" pitchFamily="34" charset="-120"/>
              </a:rPr>
              <a:t>repository_id:   str        # repo scope</a:t>
            </a:r>
            <a:endParaRPr lang="en-US" sz="900" dirty="0"/>
          </a:p>
          <a:p>
            <a:pPr indent="0" marL="0">
              <a:buNone/>
            </a:pPr>
            <a:r>
              <a:rPr lang="en-US" sz="900" dirty="0">
                <a:solidFill>
                  <a:srgbClr val="7BA3C4"/>
                </a:solidFill>
                <a:latin typeface="Courier New" pitchFamily="34" charset="0"/>
                <a:ea typeface="Courier New" pitchFamily="34" charset="-122"/>
                <a:cs typeface="Courier New" pitchFamily="34" charset="-120"/>
              </a:rPr>
              <a:t>plan_id:         str        # execution plan</a:t>
            </a:r>
            <a:endParaRPr lang="en-US" sz="900" dirty="0"/>
          </a:p>
          <a:p>
            <a:pPr indent="0" marL="0">
              <a:buNone/>
            </a:pPr>
            <a:r>
              <a:rPr lang="en-US" sz="900" dirty="0">
                <a:solidFill>
                  <a:srgbClr val="7BA3C4"/>
                </a:solidFill>
                <a:latin typeface="Courier New" pitchFamily="34" charset="0"/>
                <a:ea typeface="Courier New" pitchFamily="34" charset="-122"/>
                <a:cs typeface="Courier New" pitchFamily="34" charset="-120"/>
              </a:rPr>
              <a:t>task_id:         str        # task within plan</a:t>
            </a:r>
            <a:endParaRPr lang="en-US" sz="900" dirty="0"/>
          </a:p>
          <a:p>
            <a:pPr indent="0" marL="0">
              <a:buNone/>
            </a:pPr>
            <a:r>
              <a:rPr lang="en-US" sz="900" dirty="0">
                <a:solidFill>
                  <a:srgbClr val="7BA3C4"/>
                </a:solidFill>
                <a:latin typeface="Courier New" pitchFamily="34" charset="0"/>
                <a:ea typeface="Courier New" pitchFamily="34" charset="-122"/>
                <a:cs typeface="Courier New" pitchFamily="34" charset="-120"/>
              </a:rPr>
              <a:t>handoff_id:      str        # session</a:t>
            </a:r>
            <a:endParaRPr lang="en-US" sz="900" dirty="0"/>
          </a:p>
          <a:p>
            <a:pPr indent="0" marL="0">
              <a:buNone/>
            </a:pPr>
            <a:r>
              <a:rPr lang="en-US" sz="900" dirty="0">
                <a:solidFill>
                  <a:srgbClr val="7BA3C4"/>
                </a:solidFill>
                <a:latin typeface="Courier New" pitchFamily="34" charset="0"/>
                <a:ea typeface="Courier New" pitchFamily="34" charset="-122"/>
                <a:cs typeface="Courier New" pitchFamily="34" charset="-120"/>
              </a:rPr>
              <a:t>agent_name:      str        # scoper, qa-gate...</a:t>
            </a:r>
            <a:endParaRPr lang="en-US" sz="900" dirty="0"/>
          </a:p>
          <a:p>
            <a:pPr indent="0" marL="0">
              <a:buNone/>
            </a:pPr>
            <a:r>
              <a:rPr lang="en-US" sz="900" dirty="0">
                <a:solidFill>
                  <a:srgbClr val="7BA3C4"/>
                </a:solidFill>
                <a:latin typeface="Courier New" pitchFamily="34" charset="0"/>
                <a:ea typeface="Courier New" pitchFamily="34" charset="-122"/>
                <a:cs typeface="Courier New" pitchFamily="34" charset="-120"/>
              </a:rPr>
              <a:t>model:           str        # AI model used</a:t>
            </a:r>
            <a:endParaRPr lang="en-US" sz="900" dirty="0"/>
          </a:p>
          <a:p>
            <a:pPr indent="0" marL="0">
              <a:buNone/>
            </a:pPr>
            <a:r>
              <a:rPr lang="en-US" sz="900" dirty="0">
                <a:solidFill>
                  <a:srgbClr val="7BA3C4"/>
                </a:solidFill>
                <a:latin typeface="Courier New" pitchFamily="34" charset="0"/>
                <a:ea typeface="Courier New" pitchFamily="34" charset="-122"/>
                <a:cs typeface="Courier New" pitchFamily="34" charset="-120"/>
              </a:rPr>
              <a:t>actor_id:        str        # human actor (8-char)</a:t>
            </a:r>
            <a:endParaRPr lang="en-US" sz="900" dirty="0"/>
          </a:p>
          <a:p>
            <a:pPr indent="0" marL="0">
              <a:buNone/>
            </a:pPr>
            <a:r>
              <a:rPr lang="en-US" sz="900" dirty="0">
                <a:solidFill>
                  <a:srgbClr val="7BA3C4"/>
                </a:solidFill>
                <a:latin typeface="Courier New" pitchFamily="34" charset="0"/>
                <a:ea typeface="Courier New" pitchFamily="34" charset="-122"/>
                <a:cs typeface="Courier New" pitchFamily="34" charset="-120"/>
              </a:rPr>
              <a:t>state_version:   int        # checkpoint version</a:t>
            </a:r>
            <a:endParaRPr lang="en-US" sz="900" dirty="0"/>
          </a:p>
          <a:p>
            <a:pPr indent="0" marL="0">
              <a:buNone/>
            </a:pPr>
            <a:r>
              <a:rPr lang="en-US" sz="900" dirty="0">
                <a:solidFill>
                  <a:srgbClr val="7BA3C4"/>
                </a:solidFill>
                <a:latin typeface="Courier New" pitchFamily="34" charset="0"/>
                <a:ea typeface="Courier New" pitchFamily="34" charset="-122"/>
                <a:cs typeface="Courier New" pitchFamily="34" charset="-120"/>
              </a:rPr>
              <a:t>payload:         Mapping    # event-specific data</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0"/>
            <a:ext cx="109728" cy="658368"/>
          </a:xfrm>
          <a:prstGeom prst="rect">
            <a:avLst/>
          </a:prstGeom>
          <a:solidFill>
            <a:srgbClr val="00D4AA"/>
          </a:solidFill>
          <a:ln w="12700">
            <a:solidFill>
              <a:srgbClr val="00D4AA"/>
            </a:solidFill>
            <a:prstDash val="solid"/>
          </a:ln>
        </p:spPr>
      </p:sp>
      <p:sp>
        <p:nvSpPr>
          <p:cNvPr id="4" name="Text 2"/>
          <p:cNvSpPr/>
          <p:nvPr/>
        </p:nvSpPr>
        <p:spPr>
          <a:xfrm>
            <a:off x="219456" y="0"/>
            <a:ext cx="685800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Cursor Integration — The Hook System</a:t>
            </a:r>
            <a:endParaRPr lang="en-US" sz="2100" dirty="0"/>
          </a:p>
        </p:txBody>
      </p:sp>
      <p:sp>
        <p:nvSpPr>
          <p:cNvPr id="5" name="Text 3"/>
          <p:cNvSpPr/>
          <p:nvPr/>
        </p:nvSpPr>
        <p:spPr>
          <a:xfrm>
            <a:off x="219456" y="0"/>
            <a:ext cx="8778240" cy="658368"/>
          </a:xfrm>
          <a:prstGeom prst="rect">
            <a:avLst/>
          </a:prstGeom>
          <a:noFill/>
          <a:ln/>
        </p:spPr>
        <p:txBody>
          <a:bodyPr wrap="square" lIns="0" tIns="0" rIns="0" bIns="0" rtlCol="0" anchor="ctr"/>
          <a:lstStyle/>
          <a:p>
            <a:pPr algn="r" indent="0" marL="0">
              <a:buNone/>
            </a:pPr>
            <a:r>
              <a:rPr lang="en-US" sz="1000" dirty="0">
                <a:solidFill>
                  <a:srgbClr val="4B6A8A"/>
                </a:solidFill>
                <a:latin typeface="Calibri" pitchFamily="34" charset="0"/>
                <a:ea typeface="Calibri" pitchFamily="34" charset="-122"/>
                <a:cs typeface="Calibri" pitchFamily="34" charset="-120"/>
              </a:rPr>
              <a:t>How It Works → IDE Layer</a:t>
            </a:r>
            <a:endParaRPr lang="en-US" sz="1000" dirty="0"/>
          </a:p>
        </p:txBody>
      </p:sp>
      <p:sp>
        <p:nvSpPr>
          <p:cNvPr id="6" name="Text 4"/>
          <p:cNvSpPr/>
          <p:nvPr/>
        </p:nvSpPr>
        <p:spPr>
          <a:xfrm>
            <a:off x="365760" y="749808"/>
            <a:ext cx="8412480" cy="32004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Every editor turn triggers pre/post hooks. Memory is hydrated before the model sees anything, captured after every response.</a:t>
            </a:r>
            <a:endParaRPr lang="en-US" sz="1300" dirty="0"/>
          </a:p>
        </p:txBody>
      </p:sp>
      <p:sp>
        <p:nvSpPr>
          <p:cNvPr id="7" name="Shape 5"/>
          <p:cNvSpPr/>
          <p:nvPr/>
        </p:nvSpPr>
        <p:spPr>
          <a:xfrm>
            <a:off x="274320" y="1188720"/>
            <a:ext cx="1316736" cy="896112"/>
          </a:xfrm>
          <a:prstGeom prst="rect">
            <a:avLst/>
          </a:prstGeom>
          <a:solidFill>
            <a:srgbClr val="334155"/>
          </a:solidFill>
          <a:ln w="12700">
            <a:solidFill>
              <a:srgbClr val="334155"/>
            </a:solidFill>
            <a:prstDash val="solid"/>
          </a:ln>
        </p:spPr>
      </p:sp>
      <p:sp>
        <p:nvSpPr>
          <p:cNvPr id="8" name="Text 6"/>
          <p:cNvSpPr/>
          <p:nvPr/>
        </p:nvSpPr>
        <p:spPr>
          <a:xfrm>
            <a:off x="274320" y="1188720"/>
            <a:ext cx="1316736" cy="8961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User</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Prompt</a:t>
            </a:r>
            <a:endParaRPr lang="en-US" sz="1000" dirty="0"/>
          </a:p>
        </p:txBody>
      </p:sp>
      <p:sp>
        <p:nvSpPr>
          <p:cNvPr id="9" name="Shape 7"/>
          <p:cNvSpPr/>
          <p:nvPr/>
        </p:nvSpPr>
        <p:spPr>
          <a:xfrm>
            <a:off x="1591056" y="1591056"/>
            <a:ext cx="128016" cy="54864"/>
          </a:xfrm>
          <a:prstGeom prst="rect">
            <a:avLst/>
          </a:prstGeom>
          <a:solidFill>
            <a:srgbClr val="64748B"/>
          </a:solidFill>
          <a:ln w="12700">
            <a:solidFill>
              <a:srgbClr val="64748B"/>
            </a:solidFill>
            <a:prstDash val="solid"/>
          </a:ln>
        </p:spPr>
      </p:sp>
      <p:sp>
        <p:nvSpPr>
          <p:cNvPr id="10" name="Shape 8"/>
          <p:cNvSpPr/>
          <p:nvPr/>
        </p:nvSpPr>
        <p:spPr>
          <a:xfrm>
            <a:off x="1719072" y="1188720"/>
            <a:ext cx="1316736" cy="896112"/>
          </a:xfrm>
          <a:prstGeom prst="rect">
            <a:avLst/>
          </a:prstGeom>
          <a:solidFill>
            <a:srgbClr val="0891B2"/>
          </a:solidFill>
          <a:ln w="12700">
            <a:solidFill>
              <a:srgbClr val="0891B2"/>
            </a:solidFill>
            <a:prstDash val="solid"/>
          </a:ln>
        </p:spPr>
      </p:sp>
      <p:sp>
        <p:nvSpPr>
          <p:cNvPr id="11" name="Text 9"/>
          <p:cNvSpPr/>
          <p:nvPr/>
        </p:nvSpPr>
        <p:spPr>
          <a:xfrm>
            <a:off x="1719072" y="1188720"/>
            <a:ext cx="1316736" cy="8961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beforeSubmitPrompt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hooks</a:t>
            </a:r>
            <a:endParaRPr lang="en-US" sz="1000" dirty="0"/>
          </a:p>
        </p:txBody>
      </p:sp>
      <p:sp>
        <p:nvSpPr>
          <p:cNvPr id="12" name="Shape 10"/>
          <p:cNvSpPr/>
          <p:nvPr/>
        </p:nvSpPr>
        <p:spPr>
          <a:xfrm>
            <a:off x="3035808" y="1591056"/>
            <a:ext cx="128016" cy="54864"/>
          </a:xfrm>
          <a:prstGeom prst="rect">
            <a:avLst/>
          </a:prstGeom>
          <a:solidFill>
            <a:srgbClr val="64748B"/>
          </a:solidFill>
          <a:ln w="12700">
            <a:solidFill>
              <a:srgbClr val="64748B"/>
            </a:solidFill>
            <a:prstDash val="solid"/>
          </a:ln>
        </p:spPr>
      </p:sp>
      <p:sp>
        <p:nvSpPr>
          <p:cNvPr id="13" name="Shape 11"/>
          <p:cNvSpPr/>
          <p:nvPr/>
        </p:nvSpPr>
        <p:spPr>
          <a:xfrm>
            <a:off x="3163824" y="1188720"/>
            <a:ext cx="1316736" cy="896112"/>
          </a:xfrm>
          <a:prstGeom prst="rect">
            <a:avLst/>
          </a:prstGeom>
          <a:solidFill>
            <a:srgbClr val="0569A8"/>
          </a:solidFill>
          <a:ln w="12700">
            <a:solidFill>
              <a:srgbClr val="0569A8"/>
            </a:solidFill>
            <a:prstDash val="solid"/>
          </a:ln>
        </p:spPr>
      </p:sp>
      <p:sp>
        <p:nvSpPr>
          <p:cNvPr id="14" name="Text 12"/>
          <p:cNvSpPr/>
          <p:nvPr/>
        </p:nvSpPr>
        <p:spPr>
          <a:xfrm>
            <a:off x="3163824" y="1188720"/>
            <a:ext cx="1316736" cy="8961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context-latest.md</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hydrated</a:t>
            </a:r>
            <a:endParaRPr lang="en-US" sz="1000" dirty="0"/>
          </a:p>
        </p:txBody>
      </p:sp>
      <p:sp>
        <p:nvSpPr>
          <p:cNvPr id="15" name="Shape 13"/>
          <p:cNvSpPr/>
          <p:nvPr/>
        </p:nvSpPr>
        <p:spPr>
          <a:xfrm>
            <a:off x="4480560" y="1591056"/>
            <a:ext cx="128016" cy="54864"/>
          </a:xfrm>
          <a:prstGeom prst="rect">
            <a:avLst/>
          </a:prstGeom>
          <a:solidFill>
            <a:srgbClr val="64748B"/>
          </a:solidFill>
          <a:ln w="12700">
            <a:solidFill>
              <a:srgbClr val="64748B"/>
            </a:solidFill>
            <a:prstDash val="solid"/>
          </a:ln>
        </p:spPr>
      </p:sp>
      <p:sp>
        <p:nvSpPr>
          <p:cNvPr id="16" name="Shape 14"/>
          <p:cNvSpPr/>
          <p:nvPr/>
        </p:nvSpPr>
        <p:spPr>
          <a:xfrm>
            <a:off x="4608576" y="1188720"/>
            <a:ext cx="1316736" cy="896112"/>
          </a:xfrm>
          <a:prstGeom prst="rect">
            <a:avLst/>
          </a:prstGeom>
          <a:solidFill>
            <a:srgbClr val="1E3A5F"/>
          </a:solidFill>
          <a:ln w="12700">
            <a:solidFill>
              <a:srgbClr val="1E3A5F"/>
            </a:solidFill>
            <a:prstDash val="solid"/>
          </a:ln>
        </p:spPr>
      </p:sp>
      <p:sp>
        <p:nvSpPr>
          <p:cNvPr id="17" name="Text 15"/>
          <p:cNvSpPr/>
          <p:nvPr/>
        </p:nvSpPr>
        <p:spPr>
          <a:xfrm>
            <a:off x="4608576" y="1188720"/>
            <a:ext cx="1316736" cy="8961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Cursor +</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AI Model</a:t>
            </a:r>
            <a:endParaRPr lang="en-US" sz="1000" dirty="0"/>
          </a:p>
        </p:txBody>
      </p:sp>
      <p:sp>
        <p:nvSpPr>
          <p:cNvPr id="18" name="Shape 16"/>
          <p:cNvSpPr/>
          <p:nvPr/>
        </p:nvSpPr>
        <p:spPr>
          <a:xfrm>
            <a:off x="5925312" y="1591056"/>
            <a:ext cx="128016" cy="54864"/>
          </a:xfrm>
          <a:prstGeom prst="rect">
            <a:avLst/>
          </a:prstGeom>
          <a:solidFill>
            <a:srgbClr val="64748B"/>
          </a:solidFill>
          <a:ln w="12700">
            <a:solidFill>
              <a:srgbClr val="64748B"/>
            </a:solidFill>
            <a:prstDash val="solid"/>
          </a:ln>
        </p:spPr>
      </p:sp>
      <p:sp>
        <p:nvSpPr>
          <p:cNvPr id="19" name="Shape 17"/>
          <p:cNvSpPr/>
          <p:nvPr/>
        </p:nvSpPr>
        <p:spPr>
          <a:xfrm>
            <a:off x="6053328" y="1188720"/>
            <a:ext cx="1316736" cy="896112"/>
          </a:xfrm>
          <a:prstGeom prst="rect">
            <a:avLst/>
          </a:prstGeom>
          <a:solidFill>
            <a:srgbClr val="059669"/>
          </a:solidFill>
          <a:ln w="12700">
            <a:solidFill>
              <a:srgbClr val="059669"/>
            </a:solidFill>
            <a:prstDash val="solid"/>
          </a:ln>
        </p:spPr>
      </p:sp>
      <p:sp>
        <p:nvSpPr>
          <p:cNvPr id="20" name="Text 18"/>
          <p:cNvSpPr/>
          <p:nvPr/>
        </p:nvSpPr>
        <p:spPr>
          <a:xfrm>
            <a:off x="6053328" y="1188720"/>
            <a:ext cx="1316736" cy="8961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afterAgentResponse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hooks</a:t>
            </a:r>
            <a:endParaRPr lang="en-US" sz="1000" dirty="0"/>
          </a:p>
        </p:txBody>
      </p:sp>
      <p:sp>
        <p:nvSpPr>
          <p:cNvPr id="21" name="Shape 19"/>
          <p:cNvSpPr/>
          <p:nvPr/>
        </p:nvSpPr>
        <p:spPr>
          <a:xfrm>
            <a:off x="7370064" y="1591056"/>
            <a:ext cx="128016" cy="54864"/>
          </a:xfrm>
          <a:prstGeom prst="rect">
            <a:avLst/>
          </a:prstGeom>
          <a:solidFill>
            <a:srgbClr val="64748B"/>
          </a:solidFill>
          <a:ln w="12700">
            <a:solidFill>
              <a:srgbClr val="64748B"/>
            </a:solidFill>
            <a:prstDash val="solid"/>
          </a:ln>
        </p:spPr>
      </p:sp>
      <p:sp>
        <p:nvSpPr>
          <p:cNvPr id="22" name="Shape 20"/>
          <p:cNvSpPr/>
          <p:nvPr/>
        </p:nvSpPr>
        <p:spPr>
          <a:xfrm>
            <a:off x="7498080" y="1188720"/>
            <a:ext cx="1316736" cy="896112"/>
          </a:xfrm>
          <a:prstGeom prst="rect">
            <a:avLst/>
          </a:prstGeom>
          <a:solidFill>
            <a:srgbClr val="047857"/>
          </a:solidFill>
          <a:ln w="12700">
            <a:solidFill>
              <a:srgbClr val="047857"/>
            </a:solidFill>
            <a:prstDash val="solid"/>
          </a:ln>
        </p:spPr>
      </p:sp>
      <p:sp>
        <p:nvSpPr>
          <p:cNvPr id="23" name="Text 21"/>
          <p:cNvSpPr/>
          <p:nvPr/>
        </p:nvSpPr>
        <p:spPr>
          <a:xfrm>
            <a:off x="7498080" y="1188720"/>
            <a:ext cx="1316736" cy="8961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Memory</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Captured</a:t>
            </a:r>
            <a:endParaRPr lang="en-US" sz="1000" dirty="0"/>
          </a:p>
        </p:txBody>
      </p:sp>
      <p:sp>
        <p:nvSpPr>
          <p:cNvPr id="24" name="Shape 22"/>
          <p:cNvSpPr/>
          <p:nvPr/>
        </p:nvSpPr>
        <p:spPr>
          <a:xfrm>
            <a:off x="292608" y="2231136"/>
            <a:ext cx="2816352" cy="269748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25" name="Shape 23"/>
          <p:cNvSpPr/>
          <p:nvPr/>
        </p:nvSpPr>
        <p:spPr>
          <a:xfrm>
            <a:off x="292608" y="2231136"/>
            <a:ext cx="64008" cy="2697480"/>
          </a:xfrm>
          <a:prstGeom prst="rect">
            <a:avLst/>
          </a:prstGeom>
          <a:solidFill>
            <a:srgbClr val="0891B2"/>
          </a:solidFill>
          <a:ln w="12700">
            <a:solidFill>
              <a:srgbClr val="0891B2"/>
            </a:solidFill>
            <a:prstDash val="solid"/>
          </a:ln>
        </p:spPr>
      </p:sp>
      <p:sp>
        <p:nvSpPr>
          <p:cNvPr id="26" name="Text 24"/>
          <p:cNvSpPr/>
          <p:nvPr/>
        </p:nvSpPr>
        <p:spPr>
          <a:xfrm>
            <a:off x="457200" y="2340864"/>
            <a:ext cx="2514600" cy="347472"/>
          </a:xfrm>
          <a:prstGeom prst="rect">
            <a:avLst/>
          </a:prstGeom>
          <a:noFill/>
          <a:ln/>
        </p:spPr>
        <p:txBody>
          <a:bodyPr wrap="square" lIns="0" tIns="0" rIns="0" bIns="0" rtlCol="0" anchor="ctr"/>
          <a:lstStyle/>
          <a:p>
            <a:pPr indent="0" marL="0">
              <a:buNone/>
            </a:pPr>
            <a:r>
              <a:rPr lang="en-US" sz="1100" b="1" dirty="0">
                <a:solidFill>
                  <a:srgbClr val="0891B2"/>
                </a:solidFill>
                <a:latin typeface="Courier New" pitchFamily="34" charset="0"/>
                <a:ea typeface="Courier New" pitchFamily="34" charset="-122"/>
                <a:cs typeface="Courier New" pitchFamily="34" charset="-120"/>
              </a:rPr>
              <a:t>memory-preflight.sh</a:t>
            </a:r>
            <a:endParaRPr lang="en-US" sz="1100" dirty="0"/>
          </a:p>
        </p:txBody>
      </p:sp>
      <p:sp>
        <p:nvSpPr>
          <p:cNvPr id="27" name="Shape 25"/>
          <p:cNvSpPr/>
          <p:nvPr/>
        </p:nvSpPr>
        <p:spPr>
          <a:xfrm>
            <a:off x="457200" y="2706624"/>
            <a:ext cx="1097280" cy="201168"/>
          </a:xfrm>
          <a:prstGeom prst="rect">
            <a:avLst/>
          </a:prstGeom>
          <a:solidFill>
            <a:srgbClr val="0891B2"/>
          </a:solidFill>
          <a:ln w="12700">
            <a:solidFill>
              <a:srgbClr val="0891B2"/>
            </a:solidFill>
            <a:prstDash val="solid"/>
          </a:ln>
        </p:spPr>
      </p:sp>
      <p:sp>
        <p:nvSpPr>
          <p:cNvPr id="28" name="Text 26"/>
          <p:cNvSpPr/>
          <p:nvPr/>
        </p:nvSpPr>
        <p:spPr>
          <a:xfrm>
            <a:off x="457200" y="2706624"/>
            <a:ext cx="109728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beforeSubmitPrompt</a:t>
            </a:r>
            <a:endParaRPr lang="en-US" sz="800" dirty="0"/>
          </a:p>
        </p:txBody>
      </p:sp>
      <p:sp>
        <p:nvSpPr>
          <p:cNvPr id="29" name="Text 27"/>
          <p:cNvSpPr/>
          <p:nvPr/>
        </p:nvSpPr>
        <p:spPr>
          <a:xfrm>
            <a:off x="457200" y="2980944"/>
            <a:ext cx="2514600" cy="59436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Runs canon preflight → hydrates context-latest.md + context-latest.json</a:t>
            </a:r>
            <a:endParaRPr lang="en-US" sz="1000" dirty="0"/>
          </a:p>
        </p:txBody>
      </p:sp>
      <p:sp>
        <p:nvSpPr>
          <p:cNvPr id="30" name="Text 28"/>
          <p:cNvSpPr/>
          <p:nvPr/>
        </p:nvSpPr>
        <p:spPr>
          <a:xfrm>
            <a:off x="457200" y="3602736"/>
            <a:ext cx="2514600" cy="59436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Runs canon version-check --quiet → hard-fail if CLI &lt; repo pin</a:t>
            </a:r>
            <a:endParaRPr lang="en-US" sz="1000" dirty="0"/>
          </a:p>
        </p:txBody>
      </p:sp>
      <p:sp>
        <p:nvSpPr>
          <p:cNvPr id="31" name="Text 29"/>
          <p:cNvSpPr/>
          <p:nvPr/>
        </p:nvSpPr>
        <p:spPr>
          <a:xfrm>
            <a:off x="457200" y="4224528"/>
            <a:ext cx="2514600" cy="59436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MemPalace semantic search (up to 6 results) + knowledge-api current-truth artifacts</a:t>
            </a:r>
            <a:endParaRPr lang="en-US" sz="1000" dirty="0"/>
          </a:p>
        </p:txBody>
      </p:sp>
      <p:sp>
        <p:nvSpPr>
          <p:cNvPr id="32" name="Shape 30"/>
          <p:cNvSpPr/>
          <p:nvPr/>
        </p:nvSpPr>
        <p:spPr>
          <a:xfrm>
            <a:off x="3255264" y="2231136"/>
            <a:ext cx="2816352" cy="269748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33" name="Shape 31"/>
          <p:cNvSpPr/>
          <p:nvPr/>
        </p:nvSpPr>
        <p:spPr>
          <a:xfrm>
            <a:off x="3255264" y="2231136"/>
            <a:ext cx="64008" cy="2697480"/>
          </a:xfrm>
          <a:prstGeom prst="rect">
            <a:avLst/>
          </a:prstGeom>
          <a:solidFill>
            <a:srgbClr val="6366F1"/>
          </a:solidFill>
          <a:ln w="12700">
            <a:solidFill>
              <a:srgbClr val="6366F1"/>
            </a:solidFill>
            <a:prstDash val="solid"/>
          </a:ln>
        </p:spPr>
      </p:sp>
      <p:sp>
        <p:nvSpPr>
          <p:cNvPr id="34" name="Text 32"/>
          <p:cNvSpPr/>
          <p:nvPr/>
        </p:nvSpPr>
        <p:spPr>
          <a:xfrm>
            <a:off x="3419856" y="2340864"/>
            <a:ext cx="2514600" cy="347472"/>
          </a:xfrm>
          <a:prstGeom prst="rect">
            <a:avLst/>
          </a:prstGeom>
          <a:noFill/>
          <a:ln/>
        </p:spPr>
        <p:txBody>
          <a:bodyPr wrap="square" lIns="0" tIns="0" rIns="0" bIns="0" rtlCol="0" anchor="ctr"/>
          <a:lstStyle/>
          <a:p>
            <a:pPr indent="0" marL="0">
              <a:buNone/>
            </a:pPr>
            <a:r>
              <a:rPr lang="en-US" sz="1100" b="1" dirty="0">
                <a:solidFill>
                  <a:srgbClr val="6366F1"/>
                </a:solidFill>
                <a:latin typeface="Courier New" pitchFamily="34" charset="0"/>
                <a:ea typeface="Courier New" pitchFamily="34" charset="-122"/>
                <a:cs typeface="Courier New" pitchFamily="34" charset="-120"/>
              </a:rPr>
              <a:t>vault-sync-preflight.sh</a:t>
            </a:r>
            <a:endParaRPr lang="en-US" sz="1100" dirty="0"/>
          </a:p>
        </p:txBody>
      </p:sp>
      <p:sp>
        <p:nvSpPr>
          <p:cNvPr id="35" name="Shape 33"/>
          <p:cNvSpPr/>
          <p:nvPr/>
        </p:nvSpPr>
        <p:spPr>
          <a:xfrm>
            <a:off x="3419856" y="2706624"/>
            <a:ext cx="1097280" cy="201168"/>
          </a:xfrm>
          <a:prstGeom prst="rect">
            <a:avLst/>
          </a:prstGeom>
          <a:solidFill>
            <a:srgbClr val="6366F1"/>
          </a:solidFill>
          <a:ln w="12700">
            <a:solidFill>
              <a:srgbClr val="6366F1"/>
            </a:solidFill>
            <a:prstDash val="solid"/>
          </a:ln>
        </p:spPr>
      </p:sp>
      <p:sp>
        <p:nvSpPr>
          <p:cNvPr id="36" name="Text 34"/>
          <p:cNvSpPr/>
          <p:nvPr/>
        </p:nvSpPr>
        <p:spPr>
          <a:xfrm>
            <a:off x="3419856" y="2706624"/>
            <a:ext cx="109728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beforeSubmitPrompt</a:t>
            </a:r>
            <a:endParaRPr lang="en-US" sz="800" dirty="0"/>
          </a:p>
        </p:txBody>
      </p:sp>
      <p:sp>
        <p:nvSpPr>
          <p:cNvPr id="37" name="Text 35"/>
          <p:cNvSpPr/>
          <p:nvPr/>
        </p:nvSpPr>
        <p:spPr>
          <a:xfrm>
            <a:off x="3419856" y="2980944"/>
            <a:ext cx="2514600" cy="59436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Smoke-refresh local vault/ from S3 before context load</a:t>
            </a:r>
            <a:endParaRPr lang="en-US" sz="1000" dirty="0"/>
          </a:p>
        </p:txBody>
      </p:sp>
      <p:sp>
        <p:nvSpPr>
          <p:cNvPr id="38" name="Text 36"/>
          <p:cNvSpPr/>
          <p:nvPr/>
        </p:nvSpPr>
        <p:spPr>
          <a:xfrm>
            <a:off x="3419856" y="3602736"/>
            <a:ext cx="2514600" cy="59436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Ensures synthesis plane is current for every turn</a:t>
            </a:r>
            <a:endParaRPr lang="en-US" sz="1000" dirty="0"/>
          </a:p>
        </p:txBody>
      </p:sp>
      <p:sp>
        <p:nvSpPr>
          <p:cNvPr id="39" name="Shape 37"/>
          <p:cNvSpPr/>
          <p:nvPr/>
        </p:nvSpPr>
        <p:spPr>
          <a:xfrm>
            <a:off x="6217920" y="2231136"/>
            <a:ext cx="2816352" cy="269748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40" name="Shape 38"/>
          <p:cNvSpPr/>
          <p:nvPr/>
        </p:nvSpPr>
        <p:spPr>
          <a:xfrm>
            <a:off x="6217920" y="2231136"/>
            <a:ext cx="64008" cy="2697480"/>
          </a:xfrm>
          <a:prstGeom prst="rect">
            <a:avLst/>
          </a:prstGeom>
          <a:solidFill>
            <a:srgbClr val="059669"/>
          </a:solidFill>
          <a:ln w="12700">
            <a:solidFill>
              <a:srgbClr val="059669"/>
            </a:solidFill>
            <a:prstDash val="solid"/>
          </a:ln>
        </p:spPr>
      </p:sp>
      <p:sp>
        <p:nvSpPr>
          <p:cNvPr id="41" name="Text 39"/>
          <p:cNvSpPr/>
          <p:nvPr/>
        </p:nvSpPr>
        <p:spPr>
          <a:xfrm>
            <a:off x="6382512" y="2340864"/>
            <a:ext cx="2514600" cy="347472"/>
          </a:xfrm>
          <a:prstGeom prst="rect">
            <a:avLst/>
          </a:prstGeom>
          <a:noFill/>
          <a:ln/>
        </p:spPr>
        <p:txBody>
          <a:bodyPr wrap="square" lIns="0" tIns="0" rIns="0" bIns="0" rtlCol="0" anchor="ctr"/>
          <a:lstStyle/>
          <a:p>
            <a:pPr indent="0" marL="0">
              <a:buNone/>
            </a:pPr>
            <a:r>
              <a:rPr lang="en-US" sz="1100" b="1" dirty="0">
                <a:solidFill>
                  <a:srgbClr val="059669"/>
                </a:solidFill>
                <a:latin typeface="Courier New" pitchFamily="34" charset="0"/>
                <a:ea typeface="Courier New" pitchFamily="34" charset="-122"/>
                <a:cs typeface="Courier New" pitchFamily="34" charset="-120"/>
              </a:rPr>
              <a:t>memory-capture.sh</a:t>
            </a:r>
            <a:endParaRPr lang="en-US" sz="1100" dirty="0"/>
          </a:p>
        </p:txBody>
      </p:sp>
      <p:sp>
        <p:nvSpPr>
          <p:cNvPr id="42" name="Shape 40"/>
          <p:cNvSpPr/>
          <p:nvPr/>
        </p:nvSpPr>
        <p:spPr>
          <a:xfrm>
            <a:off x="6382512" y="2706624"/>
            <a:ext cx="1097280" cy="201168"/>
          </a:xfrm>
          <a:prstGeom prst="rect">
            <a:avLst/>
          </a:prstGeom>
          <a:solidFill>
            <a:srgbClr val="059669"/>
          </a:solidFill>
          <a:ln w="12700">
            <a:solidFill>
              <a:srgbClr val="059669"/>
            </a:solidFill>
            <a:prstDash val="solid"/>
          </a:ln>
        </p:spPr>
      </p:sp>
      <p:sp>
        <p:nvSpPr>
          <p:cNvPr id="43" name="Text 41"/>
          <p:cNvSpPr/>
          <p:nvPr/>
        </p:nvSpPr>
        <p:spPr>
          <a:xfrm>
            <a:off x="6382512" y="2706624"/>
            <a:ext cx="109728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afterAgentResponse</a:t>
            </a:r>
            <a:endParaRPr lang="en-US" sz="800" dirty="0"/>
          </a:p>
        </p:txBody>
      </p:sp>
      <p:sp>
        <p:nvSpPr>
          <p:cNvPr id="44" name="Text 42"/>
          <p:cNvSpPr/>
          <p:nvPr/>
        </p:nvSpPr>
        <p:spPr>
          <a:xfrm>
            <a:off x="6382512" y="2980944"/>
            <a:ext cx="2514600" cy="59436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Runs canon capture --hook-input &lt;payload&gt;</a:t>
            </a:r>
            <a:endParaRPr lang="en-US" sz="1000" dirty="0"/>
          </a:p>
        </p:txBody>
      </p:sp>
      <p:sp>
        <p:nvSpPr>
          <p:cNvPr id="45" name="Text 43"/>
          <p:cNvSpPr/>
          <p:nvPr/>
        </p:nvSpPr>
        <p:spPr>
          <a:xfrm>
            <a:off x="6382512" y="3602736"/>
            <a:ext cx="2514600" cy="59436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Credential recovery: retries once on AWS error; writes credential-recovery-needed.txt on persistent fail</a:t>
            </a:r>
            <a:endParaRPr lang="en-US" sz="1000" dirty="0"/>
          </a:p>
        </p:txBody>
      </p:sp>
      <p:sp>
        <p:nvSpPr>
          <p:cNvPr id="46" name="Text 44"/>
          <p:cNvSpPr/>
          <p:nvPr/>
        </p:nvSpPr>
        <p:spPr>
          <a:xfrm>
            <a:off x="6382512" y="4224528"/>
            <a:ext cx="2514600" cy="59436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Always exits 0 — NEVER blocks the editor under any circumstance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0"/>
            <a:ext cx="109728" cy="658368"/>
          </a:xfrm>
          <a:prstGeom prst="rect">
            <a:avLst/>
          </a:prstGeom>
          <a:solidFill>
            <a:srgbClr val="00D4AA"/>
          </a:solidFill>
          <a:ln w="12700">
            <a:solidFill>
              <a:srgbClr val="00D4AA"/>
            </a:solidFill>
            <a:prstDash val="solid"/>
          </a:ln>
        </p:spPr>
      </p:sp>
      <p:sp>
        <p:nvSpPr>
          <p:cNvPr id="4" name="Text 2"/>
          <p:cNvSpPr/>
          <p:nvPr/>
        </p:nvSpPr>
        <p:spPr>
          <a:xfrm>
            <a:off x="219456" y="0"/>
            <a:ext cx="685800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Durable Memory — canon ask &amp; canon preflight</a:t>
            </a:r>
            <a:endParaRPr lang="en-US" sz="2100" dirty="0"/>
          </a:p>
        </p:txBody>
      </p:sp>
      <p:sp>
        <p:nvSpPr>
          <p:cNvPr id="5" name="Text 3"/>
          <p:cNvSpPr/>
          <p:nvPr/>
        </p:nvSpPr>
        <p:spPr>
          <a:xfrm>
            <a:off x="219456" y="0"/>
            <a:ext cx="8778240" cy="658368"/>
          </a:xfrm>
          <a:prstGeom prst="rect">
            <a:avLst/>
          </a:prstGeom>
          <a:noFill/>
          <a:ln/>
        </p:spPr>
        <p:txBody>
          <a:bodyPr wrap="square" lIns="0" tIns="0" rIns="0" bIns="0" rtlCol="0" anchor="ctr"/>
          <a:lstStyle/>
          <a:p>
            <a:pPr algn="r" indent="0" marL="0">
              <a:buNone/>
            </a:pPr>
            <a:r>
              <a:rPr lang="en-US" sz="1000" dirty="0">
                <a:solidFill>
                  <a:srgbClr val="4B6A8A"/>
                </a:solidFill>
                <a:latin typeface="Calibri" pitchFamily="34" charset="0"/>
                <a:ea typeface="Calibri" pitchFamily="34" charset="-122"/>
                <a:cs typeface="Calibri" pitchFamily="34" charset="-120"/>
              </a:rPr>
              <a:t>Key Capabilities → Memory</a:t>
            </a:r>
            <a:endParaRPr lang="en-US" sz="1000" dirty="0"/>
          </a:p>
        </p:txBody>
      </p:sp>
      <p:sp>
        <p:nvSpPr>
          <p:cNvPr id="6" name="Shape 4"/>
          <p:cNvSpPr/>
          <p:nvPr/>
        </p:nvSpPr>
        <p:spPr>
          <a:xfrm>
            <a:off x="320040" y="786384"/>
            <a:ext cx="4114800" cy="413308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320040" y="786384"/>
            <a:ext cx="64008" cy="4133088"/>
          </a:xfrm>
          <a:prstGeom prst="rect">
            <a:avLst/>
          </a:prstGeom>
          <a:solidFill>
            <a:srgbClr val="00D4AA"/>
          </a:solidFill>
          <a:ln w="12700">
            <a:solidFill>
              <a:srgbClr val="00D4AA"/>
            </a:solidFill>
            <a:prstDash val="solid"/>
          </a:ln>
        </p:spPr>
      </p:sp>
      <p:sp>
        <p:nvSpPr>
          <p:cNvPr id="8" name="Text 6"/>
          <p:cNvSpPr/>
          <p:nvPr/>
        </p:nvSpPr>
        <p:spPr>
          <a:xfrm>
            <a:off x="502920" y="932688"/>
            <a:ext cx="3749040" cy="384048"/>
          </a:xfrm>
          <a:prstGeom prst="rect">
            <a:avLst/>
          </a:prstGeom>
          <a:noFill/>
          <a:ln/>
        </p:spPr>
        <p:txBody>
          <a:bodyPr wrap="square" lIns="0" tIns="0" rIns="0" bIns="0" rtlCol="0" anchor="ctr"/>
          <a:lstStyle/>
          <a:p>
            <a:pPr indent="0" marL="0">
              <a:buNone/>
            </a:pPr>
            <a:r>
              <a:rPr lang="en-US" sz="1800" b="1" dirty="0">
                <a:solidFill>
                  <a:srgbClr val="00D4AA"/>
                </a:solidFill>
                <a:latin typeface="Courier New" pitchFamily="34" charset="0"/>
                <a:ea typeface="Courier New" pitchFamily="34" charset="-122"/>
                <a:cs typeface="Courier New" pitchFamily="34" charset="-120"/>
              </a:rPr>
              <a:t>canon ask</a:t>
            </a:r>
            <a:endParaRPr lang="en-US" sz="1800" dirty="0"/>
          </a:p>
        </p:txBody>
      </p:sp>
      <p:sp>
        <p:nvSpPr>
          <p:cNvPr id="9" name="Text 7"/>
          <p:cNvSpPr/>
          <p:nvPr/>
        </p:nvSpPr>
        <p:spPr>
          <a:xfrm>
            <a:off x="502920" y="1316736"/>
            <a:ext cx="374904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Hybrid retrieval engine</a:t>
            </a:r>
            <a:endParaRPr lang="en-US" sz="1200" dirty="0"/>
          </a:p>
        </p:txBody>
      </p:sp>
      <p:sp>
        <p:nvSpPr>
          <p:cNvPr id="10" name="Shape 8"/>
          <p:cNvSpPr/>
          <p:nvPr/>
        </p:nvSpPr>
        <p:spPr>
          <a:xfrm>
            <a:off x="502920" y="1719072"/>
            <a:ext cx="292608" cy="292608"/>
          </a:xfrm>
          <a:prstGeom prst="ellipse">
            <a:avLst/>
          </a:prstGeom>
          <a:solidFill>
            <a:srgbClr val="0891B2"/>
          </a:solidFill>
          <a:ln w="12700">
            <a:solidFill>
              <a:srgbClr val="0891B2"/>
            </a:solidFill>
            <a:prstDash val="solid"/>
          </a:ln>
        </p:spPr>
      </p:sp>
      <p:sp>
        <p:nvSpPr>
          <p:cNvPr id="11" name="Text 9"/>
          <p:cNvSpPr/>
          <p:nvPr/>
        </p:nvSpPr>
        <p:spPr>
          <a:xfrm>
            <a:off x="502920" y="1719072"/>
            <a:ext cx="292608" cy="292608"/>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1</a:t>
            </a:r>
            <a:endParaRPr lang="en-US" sz="600" dirty="0"/>
          </a:p>
        </p:txBody>
      </p:sp>
      <p:sp>
        <p:nvSpPr>
          <p:cNvPr id="12" name="Text 10"/>
          <p:cNvSpPr/>
          <p:nvPr/>
        </p:nvSpPr>
        <p:spPr>
          <a:xfrm>
            <a:off x="868680" y="1700784"/>
            <a:ext cx="3401568" cy="6858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Query knowledge-api for canonical artifact IDs → fetch each body → score with token-overlap scorer (baseline 0.45 + 0.12 per token hit, max 1.0)</a:t>
            </a:r>
            <a:endParaRPr lang="en-US" sz="1000" dirty="0"/>
          </a:p>
        </p:txBody>
      </p:sp>
      <p:sp>
        <p:nvSpPr>
          <p:cNvPr id="13" name="Shape 11"/>
          <p:cNvSpPr/>
          <p:nvPr/>
        </p:nvSpPr>
        <p:spPr>
          <a:xfrm>
            <a:off x="502920" y="2432304"/>
            <a:ext cx="292608" cy="292608"/>
          </a:xfrm>
          <a:prstGeom prst="ellipse">
            <a:avLst/>
          </a:prstGeom>
          <a:solidFill>
            <a:srgbClr val="00D4AA"/>
          </a:solidFill>
          <a:ln w="12700">
            <a:solidFill>
              <a:srgbClr val="00D4AA"/>
            </a:solidFill>
            <a:prstDash val="solid"/>
          </a:ln>
        </p:spPr>
      </p:sp>
      <p:sp>
        <p:nvSpPr>
          <p:cNvPr id="14" name="Text 12"/>
          <p:cNvSpPr/>
          <p:nvPr/>
        </p:nvSpPr>
        <p:spPr>
          <a:xfrm>
            <a:off x="502920" y="2432304"/>
            <a:ext cx="292608" cy="292608"/>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2</a:t>
            </a:r>
            <a:endParaRPr lang="en-US" sz="600" dirty="0"/>
          </a:p>
        </p:txBody>
      </p:sp>
      <p:sp>
        <p:nvSpPr>
          <p:cNvPr id="15" name="Text 13"/>
          <p:cNvSpPr/>
          <p:nvPr/>
        </p:nvSpPr>
        <p:spPr>
          <a:xfrm>
            <a:off x="868680" y="2414016"/>
            <a:ext cx="3401568" cy="6858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Query memory-adapter POST /memory/search for MemPalace semantic hits → classify status: ok / degraded / unreachable / not_configured</a:t>
            </a:r>
            <a:endParaRPr lang="en-US" sz="1000" dirty="0"/>
          </a:p>
        </p:txBody>
      </p:sp>
      <p:sp>
        <p:nvSpPr>
          <p:cNvPr id="16" name="Shape 14"/>
          <p:cNvSpPr/>
          <p:nvPr/>
        </p:nvSpPr>
        <p:spPr>
          <a:xfrm>
            <a:off x="502920" y="3145536"/>
            <a:ext cx="292608" cy="292608"/>
          </a:xfrm>
          <a:prstGeom prst="ellipse">
            <a:avLst/>
          </a:prstGeom>
          <a:solidFill>
            <a:srgbClr val="6366F1"/>
          </a:solidFill>
          <a:ln w="12700">
            <a:solidFill>
              <a:srgbClr val="6366F1"/>
            </a:solidFill>
            <a:prstDash val="solid"/>
          </a:ln>
        </p:spPr>
      </p:sp>
      <p:sp>
        <p:nvSpPr>
          <p:cNvPr id="17" name="Text 15"/>
          <p:cNvSpPr/>
          <p:nvPr/>
        </p:nvSpPr>
        <p:spPr>
          <a:xfrm>
            <a:off x="502920" y="3145536"/>
            <a:ext cx="292608" cy="292608"/>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3</a:t>
            </a:r>
            <a:endParaRPr lang="en-US" sz="600" dirty="0"/>
          </a:p>
        </p:txBody>
      </p:sp>
      <p:sp>
        <p:nvSpPr>
          <p:cNvPr id="18" name="Text 16"/>
          <p:cNvSpPr/>
          <p:nvPr/>
        </p:nvSpPr>
        <p:spPr>
          <a:xfrm>
            <a:off x="868680" y="3127248"/>
            <a:ext cx="3401568" cy="6858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Merge results: canonical hits rank first by source priority, then by score. Max 10 results returned.</a:t>
            </a:r>
            <a:endParaRPr lang="en-US" sz="1000" dirty="0"/>
          </a:p>
        </p:txBody>
      </p:sp>
      <p:sp>
        <p:nvSpPr>
          <p:cNvPr id="19" name="Shape 17"/>
          <p:cNvSpPr/>
          <p:nvPr/>
        </p:nvSpPr>
        <p:spPr>
          <a:xfrm>
            <a:off x="502920" y="3858768"/>
            <a:ext cx="292608" cy="292608"/>
          </a:xfrm>
          <a:prstGeom prst="ellipse">
            <a:avLst/>
          </a:prstGeom>
          <a:solidFill>
            <a:srgbClr val="F59E0B"/>
          </a:solidFill>
          <a:ln w="12700">
            <a:solidFill>
              <a:srgbClr val="F59E0B"/>
            </a:solidFill>
            <a:prstDash val="solid"/>
          </a:ln>
        </p:spPr>
      </p:sp>
      <p:sp>
        <p:nvSpPr>
          <p:cNvPr id="20" name="Text 18"/>
          <p:cNvSpPr/>
          <p:nvPr/>
        </p:nvSpPr>
        <p:spPr>
          <a:xfrm>
            <a:off x="502920" y="3858768"/>
            <a:ext cx="292608" cy="292608"/>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4</a:t>
            </a:r>
            <a:endParaRPr lang="en-US" sz="600" dirty="0"/>
          </a:p>
        </p:txBody>
      </p:sp>
      <p:sp>
        <p:nvSpPr>
          <p:cNvPr id="21" name="Text 19"/>
          <p:cNvSpPr/>
          <p:nvPr/>
        </p:nvSpPr>
        <p:spPr>
          <a:xfrm>
            <a:off x="868680" y="3840480"/>
            <a:ext cx="3401568" cy="6858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On degraded MemPalace: append retry record to .canon/memory/mempalace-retry-queue.jsonl (no auto-replay in v1)</a:t>
            </a:r>
            <a:endParaRPr lang="en-US" sz="1000" dirty="0"/>
          </a:p>
        </p:txBody>
      </p:sp>
      <p:sp>
        <p:nvSpPr>
          <p:cNvPr id="22" name="Shape 20"/>
          <p:cNvSpPr/>
          <p:nvPr/>
        </p:nvSpPr>
        <p:spPr>
          <a:xfrm>
            <a:off x="4645152" y="786384"/>
            <a:ext cx="4160520" cy="413308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23" name="Shape 21"/>
          <p:cNvSpPr/>
          <p:nvPr/>
        </p:nvSpPr>
        <p:spPr>
          <a:xfrm>
            <a:off x="4645152" y="786384"/>
            <a:ext cx="64008" cy="4133088"/>
          </a:xfrm>
          <a:prstGeom prst="rect">
            <a:avLst/>
          </a:prstGeom>
          <a:solidFill>
            <a:srgbClr val="6366F1"/>
          </a:solidFill>
          <a:ln w="12700">
            <a:solidFill>
              <a:srgbClr val="6366F1"/>
            </a:solidFill>
            <a:prstDash val="solid"/>
          </a:ln>
        </p:spPr>
      </p:sp>
      <p:sp>
        <p:nvSpPr>
          <p:cNvPr id="24" name="Text 22"/>
          <p:cNvSpPr/>
          <p:nvPr/>
        </p:nvSpPr>
        <p:spPr>
          <a:xfrm>
            <a:off x="4828032" y="932688"/>
            <a:ext cx="3749040" cy="384048"/>
          </a:xfrm>
          <a:prstGeom prst="rect">
            <a:avLst/>
          </a:prstGeom>
          <a:noFill/>
          <a:ln/>
        </p:spPr>
        <p:txBody>
          <a:bodyPr wrap="square" lIns="0" tIns="0" rIns="0" bIns="0" rtlCol="0" anchor="ctr"/>
          <a:lstStyle/>
          <a:p>
            <a:pPr indent="0" marL="0">
              <a:buNone/>
            </a:pPr>
            <a:r>
              <a:rPr lang="en-US" sz="1800" b="1" dirty="0">
                <a:solidFill>
                  <a:srgbClr val="6366F1"/>
                </a:solidFill>
                <a:latin typeface="Courier New" pitchFamily="34" charset="0"/>
                <a:ea typeface="Courier New" pitchFamily="34" charset="-122"/>
                <a:cs typeface="Courier New" pitchFamily="34" charset="-120"/>
              </a:rPr>
              <a:t>canon preflight</a:t>
            </a:r>
            <a:endParaRPr lang="en-US" sz="1800" dirty="0"/>
          </a:p>
        </p:txBody>
      </p:sp>
      <p:sp>
        <p:nvSpPr>
          <p:cNvPr id="25" name="Text 23"/>
          <p:cNvSpPr/>
          <p:nvPr/>
        </p:nvSpPr>
        <p:spPr>
          <a:xfrm>
            <a:off x="4828032" y="1316736"/>
            <a:ext cx="374904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Pre-turn context hydration</a:t>
            </a:r>
            <a:endParaRPr lang="en-US" sz="1200" dirty="0"/>
          </a:p>
        </p:txBody>
      </p:sp>
      <p:sp>
        <p:nvSpPr>
          <p:cNvPr id="26" name="Shape 24"/>
          <p:cNvSpPr/>
          <p:nvPr/>
        </p:nvSpPr>
        <p:spPr>
          <a:xfrm>
            <a:off x="4828032" y="1682496"/>
            <a:ext cx="292608" cy="292608"/>
          </a:xfrm>
          <a:prstGeom prst="ellipse">
            <a:avLst/>
          </a:prstGeom>
          <a:solidFill>
            <a:srgbClr val="6366F1"/>
          </a:solidFill>
          <a:ln w="12700">
            <a:solidFill>
              <a:srgbClr val="6366F1"/>
            </a:solidFill>
            <a:prstDash val="solid"/>
          </a:ln>
        </p:spPr>
      </p:sp>
      <p:sp>
        <p:nvSpPr>
          <p:cNvPr id="27" name="Text 25"/>
          <p:cNvSpPr/>
          <p:nvPr/>
        </p:nvSpPr>
        <p:spPr>
          <a:xfrm>
            <a:off x="4828032" y="1682496"/>
            <a:ext cx="292608" cy="292608"/>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1</a:t>
            </a:r>
            <a:endParaRPr lang="en-US" sz="600" dirty="0"/>
          </a:p>
        </p:txBody>
      </p:sp>
      <p:sp>
        <p:nvSpPr>
          <p:cNvPr id="28" name="Text 26"/>
          <p:cNvSpPr/>
          <p:nvPr/>
        </p:nvSpPr>
        <p:spPr>
          <a:xfrm>
            <a:off x="5193792" y="1664208"/>
            <a:ext cx="3401568" cy="54864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Extracts prompt from CLI arg or hook JSON payload</a:t>
            </a:r>
            <a:endParaRPr lang="en-US" sz="1000" dirty="0"/>
          </a:p>
        </p:txBody>
      </p:sp>
      <p:sp>
        <p:nvSpPr>
          <p:cNvPr id="29" name="Shape 27"/>
          <p:cNvSpPr/>
          <p:nvPr/>
        </p:nvSpPr>
        <p:spPr>
          <a:xfrm>
            <a:off x="4828032" y="2249424"/>
            <a:ext cx="292608" cy="292608"/>
          </a:xfrm>
          <a:prstGeom prst="ellipse">
            <a:avLst/>
          </a:prstGeom>
          <a:solidFill>
            <a:srgbClr val="8B5CF6"/>
          </a:solidFill>
          <a:ln w="12700">
            <a:solidFill>
              <a:srgbClr val="8B5CF6"/>
            </a:solidFill>
            <a:prstDash val="solid"/>
          </a:ln>
        </p:spPr>
      </p:sp>
      <p:sp>
        <p:nvSpPr>
          <p:cNvPr id="30" name="Text 28"/>
          <p:cNvSpPr/>
          <p:nvPr/>
        </p:nvSpPr>
        <p:spPr>
          <a:xfrm>
            <a:off x="4828032" y="2249424"/>
            <a:ext cx="292608" cy="292608"/>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2</a:t>
            </a:r>
            <a:endParaRPr lang="en-US" sz="600" dirty="0"/>
          </a:p>
        </p:txBody>
      </p:sp>
      <p:sp>
        <p:nvSpPr>
          <p:cNvPr id="31" name="Text 29"/>
          <p:cNvSpPr/>
          <p:nvPr/>
        </p:nvSpPr>
        <p:spPr>
          <a:xfrm>
            <a:off x="5193792" y="2231136"/>
            <a:ext cx="3401568" cy="54864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Queries MemPalace for semantic hits (up to 6 results)</a:t>
            </a:r>
            <a:endParaRPr lang="en-US" sz="1000" dirty="0"/>
          </a:p>
        </p:txBody>
      </p:sp>
      <p:sp>
        <p:nvSpPr>
          <p:cNvPr id="32" name="Shape 30"/>
          <p:cNvSpPr/>
          <p:nvPr/>
        </p:nvSpPr>
        <p:spPr>
          <a:xfrm>
            <a:off x="4828032" y="2816352"/>
            <a:ext cx="292608" cy="292608"/>
          </a:xfrm>
          <a:prstGeom prst="ellipse">
            <a:avLst/>
          </a:prstGeom>
          <a:solidFill>
            <a:srgbClr val="7C3AED"/>
          </a:solidFill>
          <a:ln w="12700">
            <a:solidFill>
              <a:srgbClr val="7C3AED"/>
            </a:solidFill>
            <a:prstDash val="solid"/>
          </a:ln>
        </p:spPr>
      </p:sp>
      <p:sp>
        <p:nvSpPr>
          <p:cNvPr id="33" name="Text 31"/>
          <p:cNvSpPr/>
          <p:nvPr/>
        </p:nvSpPr>
        <p:spPr>
          <a:xfrm>
            <a:off x="4828032" y="2816352"/>
            <a:ext cx="292608" cy="292608"/>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3</a:t>
            </a:r>
            <a:endParaRPr lang="en-US" sz="600" dirty="0"/>
          </a:p>
        </p:txBody>
      </p:sp>
      <p:sp>
        <p:nvSpPr>
          <p:cNvPr id="34" name="Text 32"/>
          <p:cNvSpPr/>
          <p:nvPr/>
        </p:nvSpPr>
        <p:spPr>
          <a:xfrm>
            <a:off x="5193792" y="2798064"/>
            <a:ext cx="3401568" cy="54864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Queries knowledge-api for current-truth artifacts for this repo</a:t>
            </a:r>
            <a:endParaRPr lang="en-US" sz="1000" dirty="0"/>
          </a:p>
        </p:txBody>
      </p:sp>
      <p:sp>
        <p:nvSpPr>
          <p:cNvPr id="35" name="Shape 33"/>
          <p:cNvSpPr/>
          <p:nvPr/>
        </p:nvSpPr>
        <p:spPr>
          <a:xfrm>
            <a:off x="4828032" y="3383280"/>
            <a:ext cx="292608" cy="292608"/>
          </a:xfrm>
          <a:prstGeom prst="ellipse">
            <a:avLst/>
          </a:prstGeom>
          <a:solidFill>
            <a:srgbClr val="6D28D9"/>
          </a:solidFill>
          <a:ln w="12700">
            <a:solidFill>
              <a:srgbClr val="6D28D9"/>
            </a:solidFill>
            <a:prstDash val="solid"/>
          </a:ln>
        </p:spPr>
      </p:sp>
      <p:sp>
        <p:nvSpPr>
          <p:cNvPr id="36" name="Text 34"/>
          <p:cNvSpPr/>
          <p:nvPr/>
        </p:nvSpPr>
        <p:spPr>
          <a:xfrm>
            <a:off x="4828032" y="3383280"/>
            <a:ext cx="292608" cy="292608"/>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4</a:t>
            </a:r>
            <a:endParaRPr lang="en-US" sz="600" dirty="0"/>
          </a:p>
        </p:txBody>
      </p:sp>
      <p:sp>
        <p:nvSpPr>
          <p:cNvPr id="37" name="Text 35"/>
          <p:cNvSpPr/>
          <p:nvPr/>
        </p:nvSpPr>
        <p:spPr>
          <a:xfrm>
            <a:off x="5193792" y="3364992"/>
            <a:ext cx="3401568" cy="54864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Writes context-latest.md (human-readable) + context-latest.json (machine-readable status)</a:t>
            </a:r>
            <a:endParaRPr lang="en-US" sz="1000" dirty="0"/>
          </a:p>
        </p:txBody>
      </p:sp>
      <p:sp>
        <p:nvSpPr>
          <p:cNvPr id="38" name="Shape 36"/>
          <p:cNvSpPr/>
          <p:nvPr/>
        </p:nvSpPr>
        <p:spPr>
          <a:xfrm>
            <a:off x="4828032" y="3950208"/>
            <a:ext cx="292608" cy="292608"/>
          </a:xfrm>
          <a:prstGeom prst="ellipse">
            <a:avLst/>
          </a:prstGeom>
          <a:solidFill>
            <a:srgbClr val="5B21B6"/>
          </a:solidFill>
          <a:ln w="12700">
            <a:solidFill>
              <a:srgbClr val="5B21B6"/>
            </a:solidFill>
            <a:prstDash val="solid"/>
          </a:ln>
        </p:spPr>
      </p:sp>
      <p:sp>
        <p:nvSpPr>
          <p:cNvPr id="39" name="Text 37"/>
          <p:cNvSpPr/>
          <p:nvPr/>
        </p:nvSpPr>
        <p:spPr>
          <a:xfrm>
            <a:off x="4828032" y="3950208"/>
            <a:ext cx="292608" cy="292608"/>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5</a:t>
            </a:r>
            <a:endParaRPr lang="en-US" sz="600" dirty="0"/>
          </a:p>
        </p:txBody>
      </p:sp>
      <p:sp>
        <p:nvSpPr>
          <p:cNvPr id="40" name="Text 38"/>
          <p:cNvSpPr/>
          <p:nvPr/>
        </p:nvSpPr>
        <p:spPr>
          <a:xfrm>
            <a:off x="5193792" y="3931920"/>
            <a:ext cx="3401568" cy="54864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Classifies MemPalace status and queues retries on degraded responses</a:t>
            </a:r>
            <a:endParaRPr lang="en-US" sz="1000" dirty="0"/>
          </a:p>
        </p:txBody>
      </p:sp>
      <p:sp>
        <p:nvSpPr>
          <p:cNvPr id="41" name="Shape 39"/>
          <p:cNvSpPr/>
          <p:nvPr/>
        </p:nvSpPr>
        <p:spPr>
          <a:xfrm>
            <a:off x="320040" y="4791456"/>
            <a:ext cx="8485632" cy="237744"/>
          </a:xfrm>
          <a:prstGeom prst="rect">
            <a:avLst/>
          </a:prstGeom>
          <a:solidFill>
            <a:srgbClr val="F1F5F9"/>
          </a:solidFill>
          <a:ln w="12700">
            <a:solidFill>
              <a:srgbClr val="E2E8F0"/>
            </a:solidFill>
            <a:prstDash val="solid"/>
          </a:ln>
        </p:spPr>
      </p:sp>
      <p:sp>
        <p:nvSpPr>
          <p:cNvPr id="42" name="Text 40"/>
          <p:cNvSpPr/>
          <p:nvPr/>
        </p:nvSpPr>
        <p:spPr>
          <a:xfrm>
            <a:off x="502920" y="4800600"/>
            <a:ext cx="8229600" cy="219456"/>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Retrieval policy for all coding agents: Graph → State → Canonical → File (fail-open on each).</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0"/>
            <a:ext cx="109728" cy="658368"/>
          </a:xfrm>
          <a:prstGeom prst="rect">
            <a:avLst/>
          </a:prstGeom>
          <a:solidFill>
            <a:srgbClr val="00D4AA"/>
          </a:solidFill>
          <a:ln w="12700">
            <a:solidFill>
              <a:srgbClr val="00D4AA"/>
            </a:solidFill>
            <a:prstDash val="solid"/>
          </a:ln>
        </p:spPr>
      </p:sp>
      <p:sp>
        <p:nvSpPr>
          <p:cNvPr id="4" name="Text 2"/>
          <p:cNvSpPr/>
          <p:nvPr/>
        </p:nvSpPr>
        <p:spPr>
          <a:xfrm>
            <a:off x="219456" y="0"/>
            <a:ext cx="685800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Governed Execution — DoR, QA Gates, Merge Gates</a:t>
            </a:r>
            <a:endParaRPr lang="en-US" sz="2100" dirty="0"/>
          </a:p>
        </p:txBody>
      </p:sp>
      <p:sp>
        <p:nvSpPr>
          <p:cNvPr id="5" name="Text 3"/>
          <p:cNvSpPr/>
          <p:nvPr/>
        </p:nvSpPr>
        <p:spPr>
          <a:xfrm>
            <a:off x="219456" y="0"/>
            <a:ext cx="8778240" cy="658368"/>
          </a:xfrm>
          <a:prstGeom prst="rect">
            <a:avLst/>
          </a:prstGeom>
          <a:noFill/>
          <a:ln/>
        </p:spPr>
        <p:txBody>
          <a:bodyPr wrap="square" lIns="0" tIns="0" rIns="0" bIns="0" rtlCol="0" anchor="ctr"/>
          <a:lstStyle/>
          <a:p>
            <a:pPr algn="r" indent="0" marL="0">
              <a:buNone/>
            </a:pPr>
            <a:r>
              <a:rPr lang="en-US" sz="1000" dirty="0">
                <a:solidFill>
                  <a:srgbClr val="4B6A8A"/>
                </a:solidFill>
                <a:latin typeface="Calibri" pitchFamily="34" charset="0"/>
                <a:ea typeface="Calibri" pitchFamily="34" charset="-122"/>
                <a:cs typeface="Calibri" pitchFamily="34" charset="-120"/>
              </a:rPr>
              <a:t>Key Capabilities → Governance</a:t>
            </a:r>
            <a:endParaRPr lang="en-US" sz="1000" dirty="0"/>
          </a:p>
        </p:txBody>
      </p:sp>
      <p:sp>
        <p:nvSpPr>
          <p:cNvPr id="6" name="Shape 4"/>
          <p:cNvSpPr/>
          <p:nvPr/>
        </p:nvSpPr>
        <p:spPr>
          <a:xfrm>
            <a:off x="320040" y="804672"/>
            <a:ext cx="2779776" cy="416052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320040" y="804672"/>
            <a:ext cx="64008" cy="4160520"/>
          </a:xfrm>
          <a:prstGeom prst="rect">
            <a:avLst/>
          </a:prstGeom>
          <a:solidFill>
            <a:srgbClr val="0891B2"/>
          </a:solidFill>
          <a:ln w="12700">
            <a:solidFill>
              <a:srgbClr val="0891B2"/>
            </a:solidFill>
            <a:prstDash val="solid"/>
          </a:ln>
        </p:spPr>
      </p:sp>
      <p:sp>
        <p:nvSpPr>
          <p:cNvPr id="8" name="Shape 6"/>
          <p:cNvSpPr/>
          <p:nvPr/>
        </p:nvSpPr>
        <p:spPr>
          <a:xfrm>
            <a:off x="411480" y="950976"/>
            <a:ext cx="502920" cy="502920"/>
          </a:xfrm>
          <a:prstGeom prst="ellipse">
            <a:avLst/>
          </a:prstGeom>
          <a:solidFill>
            <a:srgbClr val="0891B2"/>
          </a:solidFill>
          <a:ln w="12700">
            <a:solidFill>
              <a:srgbClr val="0891B2"/>
            </a:solidFill>
            <a:prstDash val="solid"/>
          </a:ln>
        </p:spPr>
      </p:sp>
      <p:sp>
        <p:nvSpPr>
          <p:cNvPr id="9" name="Text 7"/>
          <p:cNvSpPr/>
          <p:nvPr/>
        </p:nvSpPr>
        <p:spPr>
          <a:xfrm>
            <a:off x="411480" y="950976"/>
            <a:ext cx="50292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Do</a:t>
            </a:r>
            <a:endParaRPr lang="en-US" sz="1000" dirty="0"/>
          </a:p>
        </p:txBody>
      </p:sp>
      <p:sp>
        <p:nvSpPr>
          <p:cNvPr id="10" name="Text 8"/>
          <p:cNvSpPr/>
          <p:nvPr/>
        </p:nvSpPr>
        <p:spPr>
          <a:xfrm>
            <a:off x="978408" y="950976"/>
            <a:ext cx="1993392" cy="502920"/>
          </a:xfrm>
          <a:prstGeom prst="rect">
            <a:avLst/>
          </a:prstGeom>
          <a:noFill/>
          <a:ln/>
        </p:spPr>
        <p:txBody>
          <a:bodyPr wrap="square" lIns="0" tIns="0" rIns="0" bIns="0" rtlCol="0" anchor="ctr"/>
          <a:lstStyle/>
          <a:p>
            <a:pPr indent="0" marL="0">
              <a:buNone/>
            </a:pPr>
            <a:r>
              <a:rPr lang="en-US" sz="1300" b="1" dirty="0">
                <a:solidFill>
                  <a:srgbClr val="0D1117"/>
                </a:solidFill>
                <a:latin typeface="Calibri" pitchFamily="34" charset="0"/>
                <a:ea typeface="Calibri" pitchFamily="34" charset="-122"/>
                <a:cs typeface="Calibri" pitchFamily="34" charset="-120"/>
              </a:rPr>
              <a:t>Definition of Ready</a:t>
            </a:r>
            <a:endParaRPr lang="en-US" sz="1300" dirty="0"/>
          </a:p>
        </p:txBody>
      </p:sp>
      <p:sp>
        <p:nvSpPr>
          <p:cNvPr id="11" name="Text 9"/>
          <p:cNvSpPr/>
          <p:nvPr/>
        </p:nvSpPr>
        <p:spPr>
          <a:xfrm>
            <a:off x="484632" y="1572768"/>
            <a:ext cx="2487168" cy="557784"/>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9-field DoR enforced by scoper before any code is written</a:t>
            </a:r>
            <a:endParaRPr lang="en-US" sz="1000" dirty="0"/>
          </a:p>
        </p:txBody>
      </p:sp>
      <p:sp>
        <p:nvSpPr>
          <p:cNvPr id="12" name="Text 10"/>
          <p:cNvSpPr/>
          <p:nvPr/>
        </p:nvSpPr>
        <p:spPr>
          <a:xfrm>
            <a:off x="484632" y="2157984"/>
            <a:ext cx="2487168" cy="557784"/>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Unresolvable field → HANDOFF_NOT_READY emitted immediately</a:t>
            </a:r>
            <a:endParaRPr lang="en-US" sz="1000" dirty="0"/>
          </a:p>
        </p:txBody>
      </p:sp>
      <p:sp>
        <p:nvSpPr>
          <p:cNvPr id="13" name="Text 11"/>
          <p:cNvSpPr/>
          <p:nvPr/>
        </p:nvSpPr>
        <p:spPr>
          <a:xfrm>
            <a:off x="484632" y="2743200"/>
            <a:ext cx="2487168" cy="557784"/>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DOR_FAILURE_LOG written to disk with structured cause</a:t>
            </a:r>
            <a:endParaRPr lang="en-US" sz="1000" dirty="0"/>
          </a:p>
        </p:txBody>
      </p:sp>
      <p:sp>
        <p:nvSpPr>
          <p:cNvPr id="14" name="Text 12"/>
          <p:cNvSpPr/>
          <p:nvPr/>
        </p:nvSpPr>
        <p:spPr>
          <a:xfrm>
            <a:off x="484632" y="3328416"/>
            <a:ext cx="2487168" cy="557784"/>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canon dor-log telemetry fires — aggregated in canon report</a:t>
            </a:r>
            <a:endParaRPr lang="en-US" sz="1000" dirty="0"/>
          </a:p>
        </p:txBody>
      </p:sp>
      <p:sp>
        <p:nvSpPr>
          <p:cNvPr id="15" name="Text 13"/>
          <p:cNvSpPr/>
          <p:nvPr/>
        </p:nvSpPr>
        <p:spPr>
          <a:xfrm>
            <a:off x="484632" y="3913632"/>
            <a:ext cx="2487168" cy="557784"/>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No implementation phase until DoR is fully satisfied</a:t>
            </a:r>
            <a:endParaRPr lang="en-US" sz="1000" dirty="0"/>
          </a:p>
        </p:txBody>
      </p:sp>
      <p:sp>
        <p:nvSpPr>
          <p:cNvPr id="16" name="Shape 14"/>
          <p:cNvSpPr/>
          <p:nvPr/>
        </p:nvSpPr>
        <p:spPr>
          <a:xfrm>
            <a:off x="3246120" y="804672"/>
            <a:ext cx="2779776" cy="416052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17" name="Shape 15"/>
          <p:cNvSpPr/>
          <p:nvPr/>
        </p:nvSpPr>
        <p:spPr>
          <a:xfrm>
            <a:off x="3246120" y="804672"/>
            <a:ext cx="64008" cy="4160520"/>
          </a:xfrm>
          <a:prstGeom prst="rect">
            <a:avLst/>
          </a:prstGeom>
          <a:solidFill>
            <a:srgbClr val="F59E0B"/>
          </a:solidFill>
          <a:ln w="12700">
            <a:solidFill>
              <a:srgbClr val="F59E0B"/>
            </a:solidFill>
            <a:prstDash val="solid"/>
          </a:ln>
        </p:spPr>
      </p:sp>
      <p:sp>
        <p:nvSpPr>
          <p:cNvPr id="18" name="Shape 16"/>
          <p:cNvSpPr/>
          <p:nvPr/>
        </p:nvSpPr>
        <p:spPr>
          <a:xfrm>
            <a:off x="3337560" y="950976"/>
            <a:ext cx="502920" cy="502920"/>
          </a:xfrm>
          <a:prstGeom prst="ellipse">
            <a:avLst/>
          </a:prstGeom>
          <a:solidFill>
            <a:srgbClr val="F59E0B"/>
          </a:solidFill>
          <a:ln w="12700">
            <a:solidFill>
              <a:srgbClr val="F59E0B"/>
            </a:solidFill>
            <a:prstDash val="solid"/>
          </a:ln>
        </p:spPr>
      </p:sp>
      <p:sp>
        <p:nvSpPr>
          <p:cNvPr id="19" name="Text 17"/>
          <p:cNvSpPr/>
          <p:nvPr/>
        </p:nvSpPr>
        <p:spPr>
          <a:xfrm>
            <a:off x="3337560" y="950976"/>
            <a:ext cx="50292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QA</a:t>
            </a:r>
            <a:endParaRPr lang="en-US" sz="1000" dirty="0"/>
          </a:p>
        </p:txBody>
      </p:sp>
      <p:sp>
        <p:nvSpPr>
          <p:cNvPr id="20" name="Text 18"/>
          <p:cNvSpPr/>
          <p:nvPr/>
        </p:nvSpPr>
        <p:spPr>
          <a:xfrm>
            <a:off x="3904488" y="950976"/>
            <a:ext cx="1993392" cy="502920"/>
          </a:xfrm>
          <a:prstGeom prst="rect">
            <a:avLst/>
          </a:prstGeom>
          <a:noFill/>
          <a:ln/>
        </p:spPr>
        <p:txBody>
          <a:bodyPr wrap="square" lIns="0" tIns="0" rIns="0" bIns="0" rtlCol="0" anchor="ctr"/>
          <a:lstStyle/>
          <a:p>
            <a:pPr indent="0" marL="0">
              <a:buNone/>
            </a:pPr>
            <a:r>
              <a:rPr lang="en-US" sz="1300" b="1" dirty="0">
                <a:solidFill>
                  <a:srgbClr val="0D1117"/>
                </a:solidFill>
                <a:latin typeface="Calibri" pitchFamily="34" charset="0"/>
                <a:ea typeface="Calibri" pitchFamily="34" charset="-122"/>
                <a:cs typeface="Calibri" pitchFamily="34" charset="-120"/>
              </a:rPr>
              <a:t>QA Gate</a:t>
            </a:r>
            <a:endParaRPr lang="en-US" sz="1300" dirty="0"/>
          </a:p>
        </p:txBody>
      </p:sp>
      <p:sp>
        <p:nvSpPr>
          <p:cNvPr id="21" name="Text 19"/>
          <p:cNvSpPr/>
          <p:nvPr/>
        </p:nvSpPr>
        <p:spPr>
          <a:xfrm>
            <a:off x="3410712" y="1572768"/>
            <a:ext cx="2487168" cy="557784"/>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Reconciles changed files vs evidence citations in handoff</a:t>
            </a:r>
            <a:endParaRPr lang="en-US" sz="1000" dirty="0"/>
          </a:p>
        </p:txBody>
      </p:sp>
      <p:sp>
        <p:nvSpPr>
          <p:cNvPr id="22" name="Text 20"/>
          <p:cNvSpPr/>
          <p:nvPr/>
        </p:nvSpPr>
        <p:spPr>
          <a:xfrm>
            <a:off x="3410712" y="2157984"/>
            <a:ext cx="2487168" cy="557784"/>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Maps every Acceptance Criterion to a covering test</a:t>
            </a:r>
            <a:endParaRPr lang="en-US" sz="1000" dirty="0"/>
          </a:p>
        </p:txBody>
      </p:sp>
      <p:sp>
        <p:nvSpPr>
          <p:cNvPr id="23" name="Text 21"/>
          <p:cNvSpPr/>
          <p:nvPr/>
        </p:nvSpPr>
        <p:spPr>
          <a:xfrm>
            <a:off x="3410712" y="2743200"/>
            <a:ext cx="2487168" cy="557784"/>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Writes tests if missing — then runs them</a:t>
            </a:r>
            <a:endParaRPr lang="en-US" sz="1000" dirty="0"/>
          </a:p>
        </p:txBody>
      </p:sp>
      <p:sp>
        <p:nvSpPr>
          <p:cNvPr id="24" name="Text 22"/>
          <p:cNvSpPr/>
          <p:nvPr/>
        </p:nvSpPr>
        <p:spPr>
          <a:xfrm>
            <a:off x="3410712" y="3328416"/>
            <a:ext cx="2487168" cy="557784"/>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Up to 3 fix-and-retest cycles before escalation</a:t>
            </a:r>
            <a:endParaRPr lang="en-US" sz="1000" dirty="0"/>
          </a:p>
        </p:txBody>
      </p:sp>
      <p:sp>
        <p:nvSpPr>
          <p:cNvPr id="25" name="Text 23"/>
          <p:cNvSpPr/>
          <p:nvPr/>
        </p:nvSpPr>
        <p:spPr>
          <a:xfrm>
            <a:off x="3410712" y="3913632"/>
            <a:ext cx="2487168" cy="557784"/>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Emits GATE_RESULTS: per-AC PASS | FAIL | MISSING_EVIDENCE</a:t>
            </a:r>
            <a:endParaRPr lang="en-US" sz="1000" dirty="0"/>
          </a:p>
        </p:txBody>
      </p:sp>
      <p:sp>
        <p:nvSpPr>
          <p:cNvPr id="26" name="Shape 24"/>
          <p:cNvSpPr/>
          <p:nvPr/>
        </p:nvSpPr>
        <p:spPr>
          <a:xfrm>
            <a:off x="6172200" y="804672"/>
            <a:ext cx="2779776" cy="416052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27" name="Shape 25"/>
          <p:cNvSpPr/>
          <p:nvPr/>
        </p:nvSpPr>
        <p:spPr>
          <a:xfrm>
            <a:off x="6172200" y="804672"/>
            <a:ext cx="64008" cy="4160520"/>
          </a:xfrm>
          <a:prstGeom prst="rect">
            <a:avLst/>
          </a:prstGeom>
          <a:solidFill>
            <a:srgbClr val="EF4444"/>
          </a:solidFill>
          <a:ln w="12700">
            <a:solidFill>
              <a:srgbClr val="EF4444"/>
            </a:solidFill>
            <a:prstDash val="solid"/>
          </a:ln>
        </p:spPr>
      </p:sp>
      <p:sp>
        <p:nvSpPr>
          <p:cNvPr id="28" name="Shape 26"/>
          <p:cNvSpPr/>
          <p:nvPr/>
        </p:nvSpPr>
        <p:spPr>
          <a:xfrm>
            <a:off x="6263640" y="950976"/>
            <a:ext cx="502920" cy="502920"/>
          </a:xfrm>
          <a:prstGeom prst="ellipse">
            <a:avLst/>
          </a:prstGeom>
          <a:solidFill>
            <a:srgbClr val="EF4444"/>
          </a:solidFill>
          <a:ln w="12700">
            <a:solidFill>
              <a:srgbClr val="EF4444"/>
            </a:solidFill>
            <a:prstDash val="solid"/>
          </a:ln>
        </p:spPr>
      </p:sp>
      <p:sp>
        <p:nvSpPr>
          <p:cNvPr id="29" name="Text 27"/>
          <p:cNvSpPr/>
          <p:nvPr/>
        </p:nvSpPr>
        <p:spPr>
          <a:xfrm>
            <a:off x="6263640" y="950976"/>
            <a:ext cx="50292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a:t>
            </a:r>
            <a:endParaRPr lang="en-US" sz="1000" dirty="0"/>
          </a:p>
        </p:txBody>
      </p:sp>
      <p:sp>
        <p:nvSpPr>
          <p:cNvPr id="30" name="Text 28"/>
          <p:cNvSpPr/>
          <p:nvPr/>
        </p:nvSpPr>
        <p:spPr>
          <a:xfrm>
            <a:off x="6830568" y="950976"/>
            <a:ext cx="1993392" cy="502920"/>
          </a:xfrm>
          <a:prstGeom prst="rect">
            <a:avLst/>
          </a:prstGeom>
          <a:noFill/>
          <a:ln/>
        </p:spPr>
        <p:txBody>
          <a:bodyPr wrap="square" lIns="0" tIns="0" rIns="0" bIns="0" rtlCol="0" anchor="ctr"/>
          <a:lstStyle/>
          <a:p>
            <a:pPr indent="0" marL="0">
              <a:buNone/>
            </a:pPr>
            <a:r>
              <a:rPr lang="en-US" sz="1300" b="1" dirty="0">
                <a:solidFill>
                  <a:srgbClr val="0D1117"/>
                </a:solidFill>
                <a:latin typeface="Calibri" pitchFamily="34" charset="0"/>
                <a:ea typeface="Calibri" pitchFamily="34" charset="-122"/>
                <a:cs typeface="Calibri" pitchFamily="34" charset="-120"/>
              </a:rPr>
              <a:t>Merge Gates (ALL required)</a:t>
            </a:r>
            <a:endParaRPr lang="en-US" sz="1300" dirty="0"/>
          </a:p>
        </p:txBody>
      </p:sp>
      <p:sp>
        <p:nvSpPr>
          <p:cNvPr id="31" name="Text 29"/>
          <p:cNvSpPr/>
          <p:nvPr/>
        </p:nvSpPr>
        <p:spPr>
          <a:xfrm>
            <a:off x="6336792" y="1572768"/>
            <a:ext cx="2487168" cy="557784"/>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qa-gate PASS on all tasks in the wave</a:t>
            </a:r>
            <a:endParaRPr lang="en-US" sz="1000" dirty="0"/>
          </a:p>
        </p:txBody>
      </p:sp>
      <p:sp>
        <p:nvSpPr>
          <p:cNvPr id="32" name="Text 30"/>
          <p:cNvSpPr/>
          <p:nvPr/>
        </p:nvSpPr>
        <p:spPr>
          <a:xfrm>
            <a:off x="6336792" y="2157984"/>
            <a:ext cx="2487168" cy="557784"/>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canon qa-validate --require-pass --require-dor-telemetry</a:t>
            </a:r>
            <a:endParaRPr lang="en-US" sz="1000" dirty="0"/>
          </a:p>
        </p:txBody>
      </p:sp>
      <p:sp>
        <p:nvSpPr>
          <p:cNvPr id="33" name="Text 31"/>
          <p:cNvSpPr/>
          <p:nvPr/>
        </p:nvSpPr>
        <p:spPr>
          <a:xfrm>
            <a:off x="6336792" y="2743200"/>
            <a:ext cx="2487168" cy="557784"/>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Sampled canon flow-audit (process compliance check)</a:t>
            </a:r>
            <a:endParaRPr lang="en-US" sz="1000" dirty="0"/>
          </a:p>
        </p:txBody>
      </p:sp>
      <p:sp>
        <p:nvSpPr>
          <p:cNvPr id="34" name="Text 32"/>
          <p:cNvSpPr/>
          <p:nvPr/>
        </p:nvSpPr>
        <p:spPr>
          <a:xfrm>
            <a:off x="6336792" y="3328416"/>
            <a:ext cx="2487168" cy="557784"/>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CI PASS + memory-health evidence file on disk</a:t>
            </a:r>
            <a:endParaRPr lang="en-US" sz="1000" dirty="0"/>
          </a:p>
        </p:txBody>
      </p:sp>
      <p:sp>
        <p:nvSpPr>
          <p:cNvPr id="35" name="Text 33"/>
          <p:cNvSpPr/>
          <p:nvPr/>
        </p:nvSpPr>
        <p:spPr>
          <a:xfrm>
            <a:off x="6336792" y="3913632"/>
            <a:ext cx="2487168" cy="557784"/>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canon resume shows zero incomplete phases anywhere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0"/>
            <a:ext cx="109728" cy="658368"/>
          </a:xfrm>
          <a:prstGeom prst="rect">
            <a:avLst/>
          </a:prstGeom>
          <a:solidFill>
            <a:srgbClr val="00D4AA"/>
          </a:solidFill>
          <a:ln w="12700">
            <a:solidFill>
              <a:srgbClr val="00D4AA"/>
            </a:solidFill>
            <a:prstDash val="solid"/>
          </a:ln>
        </p:spPr>
      </p:sp>
      <p:sp>
        <p:nvSpPr>
          <p:cNvPr id="4" name="Text 2"/>
          <p:cNvSpPr/>
          <p:nvPr/>
        </p:nvSpPr>
        <p:spPr>
          <a:xfrm>
            <a:off x="219456" y="0"/>
            <a:ext cx="685800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Data Sovereignty &amp; Tenant Isolation</a:t>
            </a:r>
            <a:endParaRPr lang="en-US" sz="2100" dirty="0"/>
          </a:p>
        </p:txBody>
      </p:sp>
      <p:sp>
        <p:nvSpPr>
          <p:cNvPr id="5" name="Text 3"/>
          <p:cNvSpPr/>
          <p:nvPr/>
        </p:nvSpPr>
        <p:spPr>
          <a:xfrm>
            <a:off x="219456" y="0"/>
            <a:ext cx="8778240" cy="658368"/>
          </a:xfrm>
          <a:prstGeom prst="rect">
            <a:avLst/>
          </a:prstGeom>
          <a:noFill/>
          <a:ln/>
        </p:spPr>
        <p:txBody>
          <a:bodyPr wrap="square" lIns="0" tIns="0" rIns="0" bIns="0" rtlCol="0" anchor="ctr"/>
          <a:lstStyle/>
          <a:p>
            <a:pPr algn="r" indent="0" marL="0">
              <a:buNone/>
            </a:pPr>
            <a:r>
              <a:rPr lang="en-US" sz="1000" dirty="0">
                <a:solidFill>
                  <a:srgbClr val="4B6A8A"/>
                </a:solidFill>
                <a:latin typeface="Calibri" pitchFamily="34" charset="0"/>
                <a:ea typeface="Calibri" pitchFamily="34" charset="-122"/>
                <a:cs typeface="Calibri" pitchFamily="34" charset="-120"/>
              </a:rPr>
              <a:t>Key Capabilities → Infrastructure</a:t>
            </a:r>
            <a:endParaRPr lang="en-US" sz="1000" dirty="0"/>
          </a:p>
        </p:txBody>
      </p:sp>
      <p:sp>
        <p:nvSpPr>
          <p:cNvPr id="6" name="Text 4"/>
          <p:cNvSpPr/>
          <p:nvPr/>
        </p:nvSpPr>
        <p:spPr>
          <a:xfrm>
            <a:off x="457200" y="768096"/>
            <a:ext cx="2606040" cy="749808"/>
          </a:xfrm>
          <a:prstGeom prst="rect">
            <a:avLst/>
          </a:prstGeom>
          <a:noFill/>
          <a:ln/>
        </p:spPr>
        <p:txBody>
          <a:bodyPr wrap="square" lIns="0" tIns="0" rIns="0" bIns="0" rtlCol="0" anchor="ctr"/>
          <a:lstStyle/>
          <a:p>
            <a:pPr algn="ctr" indent="0" marL="0">
              <a:buNone/>
            </a:pPr>
            <a:r>
              <a:rPr lang="en-US" sz="3000" b="1" dirty="0">
                <a:solidFill>
                  <a:srgbClr val="0891B2"/>
                </a:solidFill>
                <a:latin typeface="Calibri" pitchFamily="34" charset="0"/>
                <a:ea typeface="Calibri" pitchFamily="34" charset="-122"/>
                <a:cs typeface="Calibri" pitchFamily="34" charset="-120"/>
              </a:rPr>
              <a:t>Your AWS</a:t>
            </a:r>
            <a:endParaRPr lang="en-US" sz="3000" dirty="0"/>
          </a:p>
        </p:txBody>
      </p:sp>
      <p:sp>
        <p:nvSpPr>
          <p:cNvPr id="7" name="Text 5"/>
          <p:cNvSpPr/>
          <p:nvPr/>
        </p:nvSpPr>
        <p:spPr>
          <a:xfrm>
            <a:off x="457200" y="1481328"/>
            <a:ext cx="2606040" cy="32004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account &amp; VPC</a:t>
            </a:r>
            <a:endParaRPr lang="en-US" sz="1200" dirty="0"/>
          </a:p>
        </p:txBody>
      </p:sp>
      <p:sp>
        <p:nvSpPr>
          <p:cNvPr id="8" name="Text 6"/>
          <p:cNvSpPr/>
          <p:nvPr/>
        </p:nvSpPr>
        <p:spPr>
          <a:xfrm>
            <a:off x="3291840" y="768096"/>
            <a:ext cx="2606040" cy="749808"/>
          </a:xfrm>
          <a:prstGeom prst="rect">
            <a:avLst/>
          </a:prstGeom>
          <a:noFill/>
          <a:ln/>
        </p:spPr>
        <p:txBody>
          <a:bodyPr wrap="square" lIns="0" tIns="0" rIns="0" bIns="0" rtlCol="0" anchor="ctr"/>
          <a:lstStyle/>
          <a:p>
            <a:pPr algn="ctr" indent="0" marL="0">
              <a:buNone/>
            </a:pPr>
            <a:r>
              <a:rPr lang="en-US" sz="3000" b="1" dirty="0">
                <a:solidFill>
                  <a:srgbClr val="00D4AA"/>
                </a:solidFill>
                <a:latin typeface="Calibri" pitchFamily="34" charset="0"/>
                <a:ea typeface="Calibri" pitchFamily="34" charset="-122"/>
                <a:cs typeface="Calibri" pitchFamily="34" charset="-120"/>
              </a:rPr>
              <a:t>Your keys</a:t>
            </a:r>
            <a:endParaRPr lang="en-US" sz="3000" dirty="0"/>
          </a:p>
        </p:txBody>
      </p:sp>
      <p:sp>
        <p:nvSpPr>
          <p:cNvPr id="9" name="Text 7"/>
          <p:cNvSpPr/>
          <p:nvPr/>
        </p:nvSpPr>
        <p:spPr>
          <a:xfrm>
            <a:off x="3291840" y="1481328"/>
            <a:ext cx="2606040" cy="32004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in Secrets Manager</a:t>
            </a:r>
            <a:endParaRPr lang="en-US" sz="1200" dirty="0"/>
          </a:p>
        </p:txBody>
      </p:sp>
      <p:sp>
        <p:nvSpPr>
          <p:cNvPr id="10" name="Text 8"/>
          <p:cNvSpPr/>
          <p:nvPr/>
        </p:nvSpPr>
        <p:spPr>
          <a:xfrm>
            <a:off x="6126480" y="768096"/>
            <a:ext cx="2606040" cy="749808"/>
          </a:xfrm>
          <a:prstGeom prst="rect">
            <a:avLst/>
          </a:prstGeom>
          <a:noFill/>
          <a:ln/>
        </p:spPr>
        <p:txBody>
          <a:bodyPr wrap="square" lIns="0" tIns="0" rIns="0" bIns="0" rtlCol="0" anchor="ctr"/>
          <a:lstStyle/>
          <a:p>
            <a:pPr algn="ctr" indent="0" marL="0">
              <a:buNone/>
            </a:pPr>
            <a:r>
              <a:rPr lang="en-US" sz="3000" b="1" dirty="0">
                <a:solidFill>
                  <a:srgbClr val="6366F1"/>
                </a:solidFill>
                <a:latin typeface="Calibri" pitchFamily="34" charset="0"/>
                <a:ea typeface="Calibri" pitchFamily="34" charset="-122"/>
                <a:cs typeface="Calibri" pitchFamily="34" charset="-120"/>
              </a:rPr>
              <a:t>Your trail</a:t>
            </a:r>
            <a:endParaRPr lang="en-US" sz="3000" dirty="0"/>
          </a:p>
        </p:txBody>
      </p:sp>
      <p:sp>
        <p:nvSpPr>
          <p:cNvPr id="11" name="Text 9"/>
          <p:cNvSpPr/>
          <p:nvPr/>
        </p:nvSpPr>
        <p:spPr>
          <a:xfrm>
            <a:off x="6126480" y="1481328"/>
            <a:ext cx="2606040" cy="32004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on disk, always</a:t>
            </a:r>
            <a:endParaRPr lang="en-US" sz="1200" dirty="0"/>
          </a:p>
        </p:txBody>
      </p:sp>
      <p:sp>
        <p:nvSpPr>
          <p:cNvPr id="12" name="Shape 10"/>
          <p:cNvSpPr/>
          <p:nvPr/>
        </p:nvSpPr>
        <p:spPr>
          <a:xfrm>
            <a:off x="365760" y="1920240"/>
            <a:ext cx="8412480" cy="27432"/>
          </a:xfrm>
          <a:prstGeom prst="rect">
            <a:avLst/>
          </a:prstGeom>
          <a:solidFill>
            <a:srgbClr val="E2E8F0"/>
          </a:solidFill>
          <a:ln w="12700">
            <a:solidFill>
              <a:srgbClr val="E2E8F0"/>
            </a:solidFill>
            <a:prstDash val="solid"/>
          </a:ln>
        </p:spPr>
      </p:sp>
      <p:sp>
        <p:nvSpPr>
          <p:cNvPr id="13" name="Shape 11"/>
          <p:cNvSpPr/>
          <p:nvPr/>
        </p:nvSpPr>
        <p:spPr>
          <a:xfrm>
            <a:off x="365760" y="2029968"/>
            <a:ext cx="4251960" cy="126187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14" name="Shape 12"/>
          <p:cNvSpPr/>
          <p:nvPr/>
        </p:nvSpPr>
        <p:spPr>
          <a:xfrm>
            <a:off x="365760" y="2029968"/>
            <a:ext cx="64008" cy="1261872"/>
          </a:xfrm>
          <a:prstGeom prst="rect">
            <a:avLst/>
          </a:prstGeom>
          <a:solidFill>
            <a:srgbClr val="0891B2"/>
          </a:solidFill>
          <a:ln w="12700">
            <a:solidFill>
              <a:srgbClr val="0891B2"/>
            </a:solidFill>
            <a:prstDash val="solid"/>
          </a:ln>
        </p:spPr>
      </p:sp>
      <p:sp>
        <p:nvSpPr>
          <p:cNvPr id="15" name="Text 13"/>
          <p:cNvSpPr/>
          <p:nvPr/>
        </p:nvSpPr>
        <p:spPr>
          <a:xfrm>
            <a:off x="530352" y="2121408"/>
            <a:ext cx="3931920" cy="320040"/>
          </a:xfrm>
          <a:prstGeom prst="rect">
            <a:avLst/>
          </a:prstGeom>
          <a:noFill/>
          <a:ln/>
        </p:spPr>
        <p:txBody>
          <a:bodyPr wrap="square" lIns="0" tIns="0" rIns="0" bIns="0" rtlCol="0" anchor="ctr"/>
          <a:lstStyle/>
          <a:p>
            <a:pPr indent="0" marL="0">
              <a:buNone/>
            </a:pPr>
            <a:r>
              <a:rPr lang="en-US" sz="1300" b="1" dirty="0">
                <a:solidFill>
                  <a:srgbClr val="0D1117"/>
                </a:solidFill>
                <a:latin typeface="Calibri" pitchFamily="34" charset="0"/>
                <a:ea typeface="Calibri" pitchFamily="34" charset="-122"/>
                <a:cs typeface="Calibri" pitchFamily="34" charset="-120"/>
              </a:rPr>
              <a:t>Layered Secrets Model</a:t>
            </a:r>
            <a:endParaRPr lang="en-US" sz="1300" dirty="0"/>
          </a:p>
        </p:txBody>
      </p:sp>
      <p:sp>
        <p:nvSpPr>
          <p:cNvPr id="16" name="Text 14"/>
          <p:cNvSpPr/>
          <p:nvPr/>
        </p:nvSpPr>
        <p:spPr>
          <a:xfrm>
            <a:off x="530352" y="2450592"/>
            <a:ext cx="3931920" cy="77724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8-layer credential resolution: machine → team → per-scoper → machine-secrets → repo-local → repo-secrets → AWS Secrets Manager (15-min cache). URLs often exist ONLY in Secrets Manager — never in tracked git files.</a:t>
            </a:r>
            <a:endParaRPr lang="en-US" sz="1000" dirty="0"/>
          </a:p>
        </p:txBody>
      </p:sp>
      <p:sp>
        <p:nvSpPr>
          <p:cNvPr id="17" name="Shape 15"/>
          <p:cNvSpPr/>
          <p:nvPr/>
        </p:nvSpPr>
        <p:spPr>
          <a:xfrm>
            <a:off x="4800600" y="2029968"/>
            <a:ext cx="4251960" cy="126187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18" name="Shape 16"/>
          <p:cNvSpPr/>
          <p:nvPr/>
        </p:nvSpPr>
        <p:spPr>
          <a:xfrm>
            <a:off x="4800600" y="2029968"/>
            <a:ext cx="64008" cy="1261872"/>
          </a:xfrm>
          <a:prstGeom prst="rect">
            <a:avLst/>
          </a:prstGeom>
          <a:solidFill>
            <a:srgbClr val="00D4AA"/>
          </a:solidFill>
          <a:ln w="12700">
            <a:solidFill>
              <a:srgbClr val="00D4AA"/>
            </a:solidFill>
            <a:prstDash val="solid"/>
          </a:ln>
        </p:spPr>
      </p:sp>
      <p:sp>
        <p:nvSpPr>
          <p:cNvPr id="19" name="Text 17"/>
          <p:cNvSpPr/>
          <p:nvPr/>
        </p:nvSpPr>
        <p:spPr>
          <a:xfrm>
            <a:off x="4965192" y="2121408"/>
            <a:ext cx="3931920" cy="320040"/>
          </a:xfrm>
          <a:prstGeom prst="rect">
            <a:avLst/>
          </a:prstGeom>
          <a:noFill/>
          <a:ln/>
        </p:spPr>
        <p:txBody>
          <a:bodyPr wrap="square" lIns="0" tIns="0" rIns="0" bIns="0" rtlCol="0" anchor="ctr"/>
          <a:lstStyle/>
          <a:p>
            <a:pPr indent="0" marL="0">
              <a:buNone/>
            </a:pPr>
            <a:r>
              <a:rPr lang="en-US" sz="1300" b="1" dirty="0">
                <a:solidFill>
                  <a:srgbClr val="0D1117"/>
                </a:solidFill>
                <a:latin typeface="Calibri" pitchFamily="34" charset="0"/>
                <a:ea typeface="Calibri" pitchFamily="34" charset="-122"/>
                <a:cs typeface="Calibri" pitchFamily="34" charset="-120"/>
              </a:rPr>
              <a:t>Tenant Scoping</a:t>
            </a:r>
            <a:endParaRPr lang="en-US" sz="1300" dirty="0"/>
          </a:p>
        </p:txBody>
      </p:sp>
      <p:sp>
        <p:nvSpPr>
          <p:cNvPr id="20" name="Text 18"/>
          <p:cNvSpPr/>
          <p:nvPr/>
        </p:nvSpPr>
        <p:spPr>
          <a:xfrm>
            <a:off x="4965192" y="2450592"/>
            <a:ext cx="3931920" cy="77724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Every API call carries X-Actor-Id / X-Company-Id headers + repo_id. S3 vault paths use sha256(company_id)[:8] — opaque, deterministic shorthashes. Raw IDs never appear in filenames or URLs.</a:t>
            </a:r>
            <a:endParaRPr lang="en-US" sz="1000" dirty="0"/>
          </a:p>
        </p:txBody>
      </p:sp>
      <p:sp>
        <p:nvSpPr>
          <p:cNvPr id="21" name="Shape 19"/>
          <p:cNvSpPr/>
          <p:nvPr/>
        </p:nvSpPr>
        <p:spPr>
          <a:xfrm>
            <a:off x="365760" y="3401568"/>
            <a:ext cx="4251960" cy="126187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22" name="Shape 20"/>
          <p:cNvSpPr/>
          <p:nvPr/>
        </p:nvSpPr>
        <p:spPr>
          <a:xfrm>
            <a:off x="365760" y="3401568"/>
            <a:ext cx="64008" cy="1261872"/>
          </a:xfrm>
          <a:prstGeom prst="rect">
            <a:avLst/>
          </a:prstGeom>
          <a:solidFill>
            <a:srgbClr val="6366F1"/>
          </a:solidFill>
          <a:ln w="12700">
            <a:solidFill>
              <a:srgbClr val="6366F1"/>
            </a:solidFill>
            <a:prstDash val="solid"/>
          </a:ln>
        </p:spPr>
      </p:sp>
      <p:sp>
        <p:nvSpPr>
          <p:cNvPr id="23" name="Text 21"/>
          <p:cNvSpPr/>
          <p:nvPr/>
        </p:nvSpPr>
        <p:spPr>
          <a:xfrm>
            <a:off x="530352" y="3493008"/>
            <a:ext cx="3931920" cy="320040"/>
          </a:xfrm>
          <a:prstGeom prst="rect">
            <a:avLst/>
          </a:prstGeom>
          <a:noFill/>
          <a:ln/>
        </p:spPr>
        <p:txBody>
          <a:bodyPr wrap="square" lIns="0" tIns="0" rIns="0" bIns="0" rtlCol="0" anchor="ctr"/>
          <a:lstStyle/>
          <a:p>
            <a:pPr indent="0" marL="0">
              <a:buNone/>
            </a:pPr>
            <a:r>
              <a:rPr lang="en-US" sz="1300" b="1" dirty="0">
                <a:solidFill>
                  <a:srgbClr val="0D1117"/>
                </a:solidFill>
                <a:latin typeface="Calibri" pitchFamily="34" charset="0"/>
                <a:ea typeface="Calibri" pitchFamily="34" charset="-122"/>
                <a:cs typeface="Calibri" pitchFamily="34" charset="-120"/>
              </a:rPr>
              <a:t>Infrastructure</a:t>
            </a:r>
            <a:endParaRPr lang="en-US" sz="1300" dirty="0"/>
          </a:p>
        </p:txBody>
      </p:sp>
      <p:sp>
        <p:nvSpPr>
          <p:cNvPr id="24" name="Text 22"/>
          <p:cNvSpPr/>
          <p:nvPr/>
        </p:nvSpPr>
        <p:spPr>
          <a:xfrm>
            <a:off x="530352" y="3822192"/>
            <a:ext cx="3931920" cy="77724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Terraform-managed: VPC, ECS Fargate, ECR (4 repos), RDS PostgreSQL, S3, DynamoDB (canon-state: PITR + SSE + TTL on lease_expires_at). All self-hosted in your AWS account (us-east-1 default).</a:t>
            </a:r>
            <a:endParaRPr lang="en-US" sz="1000" dirty="0"/>
          </a:p>
        </p:txBody>
      </p:sp>
      <p:sp>
        <p:nvSpPr>
          <p:cNvPr id="25" name="Shape 23"/>
          <p:cNvSpPr/>
          <p:nvPr/>
        </p:nvSpPr>
        <p:spPr>
          <a:xfrm>
            <a:off x="4800600" y="3401568"/>
            <a:ext cx="4251960" cy="126187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26" name="Shape 24"/>
          <p:cNvSpPr/>
          <p:nvPr/>
        </p:nvSpPr>
        <p:spPr>
          <a:xfrm>
            <a:off x="4800600" y="3401568"/>
            <a:ext cx="64008" cy="1261872"/>
          </a:xfrm>
          <a:prstGeom prst="rect">
            <a:avLst/>
          </a:prstGeom>
          <a:solidFill>
            <a:srgbClr val="F59E0B"/>
          </a:solidFill>
          <a:ln w="12700">
            <a:solidFill>
              <a:srgbClr val="F59E0B"/>
            </a:solidFill>
            <a:prstDash val="solid"/>
          </a:ln>
        </p:spPr>
      </p:sp>
      <p:sp>
        <p:nvSpPr>
          <p:cNvPr id="27" name="Text 25"/>
          <p:cNvSpPr/>
          <p:nvPr/>
        </p:nvSpPr>
        <p:spPr>
          <a:xfrm>
            <a:off x="4965192" y="3493008"/>
            <a:ext cx="3931920" cy="320040"/>
          </a:xfrm>
          <a:prstGeom prst="rect">
            <a:avLst/>
          </a:prstGeom>
          <a:noFill/>
          <a:ln/>
        </p:spPr>
        <p:txBody>
          <a:bodyPr wrap="square" lIns="0" tIns="0" rIns="0" bIns="0" rtlCol="0" anchor="ctr"/>
          <a:lstStyle/>
          <a:p>
            <a:pPr indent="0" marL="0">
              <a:buNone/>
            </a:pPr>
            <a:r>
              <a:rPr lang="en-US" sz="1300" b="1" dirty="0">
                <a:solidFill>
                  <a:srgbClr val="0D1117"/>
                </a:solidFill>
                <a:latin typeface="Calibri" pitchFamily="34" charset="0"/>
                <a:ea typeface="Calibri" pitchFamily="34" charset="-122"/>
                <a:cs typeface="Calibri" pitchFamily="34" charset="-120"/>
              </a:rPr>
              <a:t>Version Drift Protection</a:t>
            </a:r>
            <a:endParaRPr lang="en-US" sz="1300" dirty="0"/>
          </a:p>
        </p:txBody>
      </p:sp>
      <p:sp>
        <p:nvSpPr>
          <p:cNvPr id="28" name="Text 26"/>
          <p:cNvSpPr/>
          <p:nvPr/>
        </p:nvSpPr>
        <p:spPr>
          <a:xfrm>
            <a:off x="4965192" y="3822192"/>
            <a:ext cx="3931920" cy="77724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Every wired repo pins CANON_SYSTEMS_VERSION in .canon/memory-layer.local.env. The preflight hook runs canon version-check --quiet on every prompt. Hard-fail if installed CLI &lt; repo-pinned version.</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0"/>
            <a:ext cx="109728" cy="658368"/>
          </a:xfrm>
          <a:prstGeom prst="rect">
            <a:avLst/>
          </a:prstGeom>
          <a:solidFill>
            <a:srgbClr val="00D4AA"/>
          </a:solidFill>
          <a:ln w="12700">
            <a:solidFill>
              <a:srgbClr val="00D4AA"/>
            </a:solidFill>
            <a:prstDash val="solid"/>
          </a:ln>
        </p:spPr>
      </p:sp>
      <p:sp>
        <p:nvSpPr>
          <p:cNvPr id="4" name="Text 2"/>
          <p:cNvSpPr/>
          <p:nvPr/>
        </p:nvSpPr>
        <p:spPr>
          <a:xfrm>
            <a:off x="219456" y="0"/>
            <a:ext cx="685800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Observability — Vault, Metrics &amp; Stall Detection</a:t>
            </a:r>
            <a:endParaRPr lang="en-US" sz="2100" dirty="0"/>
          </a:p>
        </p:txBody>
      </p:sp>
      <p:sp>
        <p:nvSpPr>
          <p:cNvPr id="5" name="Text 3"/>
          <p:cNvSpPr/>
          <p:nvPr/>
        </p:nvSpPr>
        <p:spPr>
          <a:xfrm>
            <a:off x="219456" y="0"/>
            <a:ext cx="8778240" cy="658368"/>
          </a:xfrm>
          <a:prstGeom prst="rect">
            <a:avLst/>
          </a:prstGeom>
          <a:noFill/>
          <a:ln/>
        </p:spPr>
        <p:txBody>
          <a:bodyPr wrap="square" lIns="0" tIns="0" rIns="0" bIns="0" rtlCol="0" anchor="ctr"/>
          <a:lstStyle/>
          <a:p>
            <a:pPr algn="r" indent="0" marL="0">
              <a:buNone/>
            </a:pPr>
            <a:r>
              <a:rPr lang="en-US" sz="1000" dirty="0">
                <a:solidFill>
                  <a:srgbClr val="4B6A8A"/>
                </a:solidFill>
                <a:latin typeface="Calibri" pitchFamily="34" charset="0"/>
                <a:ea typeface="Calibri" pitchFamily="34" charset="-122"/>
                <a:cs typeface="Calibri" pitchFamily="34" charset="-120"/>
              </a:rPr>
              <a:t>Key Capabilities → Observability</a:t>
            </a:r>
            <a:endParaRPr lang="en-US" sz="1000" dirty="0"/>
          </a:p>
        </p:txBody>
      </p:sp>
      <p:sp>
        <p:nvSpPr>
          <p:cNvPr id="6" name="Shape 4"/>
          <p:cNvSpPr/>
          <p:nvPr/>
        </p:nvSpPr>
        <p:spPr>
          <a:xfrm>
            <a:off x="320040" y="804672"/>
            <a:ext cx="2779776" cy="416052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320040" y="804672"/>
            <a:ext cx="64008" cy="4160520"/>
          </a:xfrm>
          <a:prstGeom prst="rect">
            <a:avLst/>
          </a:prstGeom>
          <a:solidFill>
            <a:srgbClr val="6366F1"/>
          </a:solidFill>
          <a:ln w="12700">
            <a:solidFill>
              <a:srgbClr val="6366F1"/>
            </a:solidFill>
            <a:prstDash val="solid"/>
          </a:ln>
        </p:spPr>
      </p:sp>
      <p:sp>
        <p:nvSpPr>
          <p:cNvPr id="8" name="Text 6"/>
          <p:cNvSpPr/>
          <p:nvPr/>
        </p:nvSpPr>
        <p:spPr>
          <a:xfrm>
            <a:off x="484632" y="932688"/>
            <a:ext cx="2487168" cy="384048"/>
          </a:xfrm>
          <a:prstGeom prst="rect">
            <a:avLst/>
          </a:prstGeom>
          <a:noFill/>
          <a:ln/>
        </p:spPr>
        <p:txBody>
          <a:bodyPr wrap="square" lIns="0" tIns="0" rIns="0" bIns="0" rtlCol="0" anchor="ctr"/>
          <a:lstStyle/>
          <a:p>
            <a:pPr indent="0" marL="0">
              <a:buNone/>
            </a:pPr>
            <a:r>
              <a:rPr lang="en-US" sz="1400" b="1" dirty="0">
                <a:solidFill>
                  <a:srgbClr val="0D1117"/>
                </a:solidFill>
                <a:latin typeface="Calibri" pitchFamily="34" charset="0"/>
                <a:ea typeface="Calibri" pitchFamily="34" charset="-122"/>
                <a:cs typeface="Calibri" pitchFamily="34" charset="-120"/>
              </a:rPr>
              <a:t>S3 Obsidian Vault</a:t>
            </a:r>
            <a:endParaRPr lang="en-US" sz="1400" dirty="0"/>
          </a:p>
        </p:txBody>
      </p:sp>
      <p:sp>
        <p:nvSpPr>
          <p:cNvPr id="9" name="Text 7"/>
          <p:cNvSpPr/>
          <p:nvPr/>
        </p:nvSpPr>
        <p:spPr>
          <a:xfrm>
            <a:off x="484632" y="1298448"/>
            <a:ext cx="2487168" cy="256032"/>
          </a:xfrm>
          <a:prstGeom prst="rect">
            <a:avLst/>
          </a:prstGeom>
          <a:noFill/>
          <a:ln/>
        </p:spPr>
        <p:txBody>
          <a:bodyPr wrap="square" lIns="0" tIns="0" rIns="0" bIns="0" rtlCol="0" anchor="ctr"/>
          <a:lstStyle/>
          <a:p>
            <a:pPr indent="0" marL="0">
              <a:buNone/>
            </a:pPr>
            <a:r>
              <a:rPr lang="en-US" sz="850" dirty="0">
                <a:solidFill>
                  <a:srgbClr val="6366F1"/>
                </a:solidFill>
                <a:latin typeface="Courier New" pitchFamily="34" charset="0"/>
                <a:ea typeface="Courier New" pitchFamily="34" charset="-122"/>
                <a:cs typeface="Courier New" pitchFamily="34" charset="-120"/>
              </a:rPr>
              <a:t>canon synth publish | vault sync</a:t>
            </a:r>
            <a:endParaRPr lang="en-US" sz="850" dirty="0"/>
          </a:p>
        </p:txBody>
      </p:sp>
      <p:sp>
        <p:nvSpPr>
          <p:cNvPr id="10" name="Text 8"/>
          <p:cNvSpPr/>
          <p:nvPr/>
        </p:nvSpPr>
        <p:spPr>
          <a:xfrm>
            <a:off x="484632" y="1627632"/>
            <a:ext cx="2487168" cy="59436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Events → Obsidian-compatible markdown published to S3</a:t>
            </a:r>
            <a:endParaRPr lang="en-US" sz="1000" dirty="0"/>
          </a:p>
        </p:txBody>
      </p:sp>
      <p:sp>
        <p:nvSpPr>
          <p:cNvPr id="11" name="Text 9"/>
          <p:cNvSpPr/>
          <p:nvPr/>
        </p:nvSpPr>
        <p:spPr>
          <a:xfrm>
            <a:off x="484632" y="2249424"/>
            <a:ext cx="2487168" cy="59436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Opaque paths: sha256(company_id)[:8] — never raw IDs</a:t>
            </a:r>
            <a:endParaRPr lang="en-US" sz="1000" dirty="0"/>
          </a:p>
        </p:txBody>
      </p:sp>
      <p:sp>
        <p:nvSpPr>
          <p:cNvPr id="12" name="Text 10"/>
          <p:cNvSpPr/>
          <p:nvPr/>
        </p:nvSpPr>
        <p:spPr>
          <a:xfrm>
            <a:off x="484632" y="2871216"/>
            <a:ext cx="2487168" cy="59436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Plans, tasks, events, retrieval-breakdowns, stall reports</a:t>
            </a:r>
            <a:endParaRPr lang="en-US" sz="1000" dirty="0"/>
          </a:p>
        </p:txBody>
      </p:sp>
      <p:sp>
        <p:nvSpPr>
          <p:cNvPr id="13" name="Text 11"/>
          <p:cNvSpPr/>
          <p:nvPr/>
        </p:nvSpPr>
        <p:spPr>
          <a:xfrm>
            <a:off x="484632" y="3493008"/>
            <a:ext cx="2487168" cy="59436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SSR web reader (synthesis-web) for team browsing</a:t>
            </a:r>
            <a:endParaRPr lang="en-US" sz="1000" dirty="0"/>
          </a:p>
        </p:txBody>
      </p:sp>
      <p:sp>
        <p:nvSpPr>
          <p:cNvPr id="14" name="Text 12"/>
          <p:cNvSpPr/>
          <p:nvPr/>
        </p:nvSpPr>
        <p:spPr>
          <a:xfrm>
            <a:off x="484632" y="4114800"/>
            <a:ext cx="2487168" cy="59436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Idempotent: SHA-256 content hash, skips unchanged files</a:t>
            </a:r>
            <a:endParaRPr lang="en-US" sz="1000" dirty="0"/>
          </a:p>
        </p:txBody>
      </p:sp>
      <p:sp>
        <p:nvSpPr>
          <p:cNvPr id="15" name="Shape 13"/>
          <p:cNvSpPr/>
          <p:nvPr/>
        </p:nvSpPr>
        <p:spPr>
          <a:xfrm>
            <a:off x="3246120" y="804672"/>
            <a:ext cx="2779776" cy="416052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16" name="Shape 14"/>
          <p:cNvSpPr/>
          <p:nvPr/>
        </p:nvSpPr>
        <p:spPr>
          <a:xfrm>
            <a:off x="3246120" y="804672"/>
            <a:ext cx="64008" cy="4160520"/>
          </a:xfrm>
          <a:prstGeom prst="rect">
            <a:avLst/>
          </a:prstGeom>
          <a:solidFill>
            <a:srgbClr val="0891B2"/>
          </a:solidFill>
          <a:ln w="12700">
            <a:solidFill>
              <a:srgbClr val="0891B2"/>
            </a:solidFill>
            <a:prstDash val="solid"/>
          </a:ln>
        </p:spPr>
      </p:sp>
      <p:sp>
        <p:nvSpPr>
          <p:cNvPr id="17" name="Text 15"/>
          <p:cNvSpPr/>
          <p:nvPr/>
        </p:nvSpPr>
        <p:spPr>
          <a:xfrm>
            <a:off x="3410712" y="932688"/>
            <a:ext cx="2487168" cy="384048"/>
          </a:xfrm>
          <a:prstGeom prst="rect">
            <a:avLst/>
          </a:prstGeom>
          <a:noFill/>
          <a:ln/>
        </p:spPr>
        <p:txBody>
          <a:bodyPr wrap="square" lIns="0" tIns="0" rIns="0" bIns="0" rtlCol="0" anchor="ctr"/>
          <a:lstStyle/>
          <a:p>
            <a:pPr indent="0" marL="0">
              <a:buNone/>
            </a:pPr>
            <a:r>
              <a:rPr lang="en-US" sz="1400" b="1" dirty="0">
                <a:solidFill>
                  <a:srgbClr val="0D1117"/>
                </a:solidFill>
                <a:latin typeface="Calibri" pitchFamily="34" charset="0"/>
                <a:ea typeface="Calibri" pitchFamily="34" charset="-122"/>
                <a:cs typeface="Calibri" pitchFamily="34" charset="-120"/>
              </a:rPr>
              <a:t>canon report</a:t>
            </a:r>
            <a:endParaRPr lang="en-US" sz="1400" dirty="0"/>
          </a:p>
        </p:txBody>
      </p:sp>
      <p:sp>
        <p:nvSpPr>
          <p:cNvPr id="18" name="Text 16"/>
          <p:cNvSpPr/>
          <p:nvPr/>
        </p:nvSpPr>
        <p:spPr>
          <a:xfrm>
            <a:off x="3410712" y="1298448"/>
            <a:ext cx="2487168" cy="256032"/>
          </a:xfrm>
          <a:prstGeom prst="rect">
            <a:avLst/>
          </a:prstGeom>
          <a:noFill/>
          <a:ln/>
        </p:spPr>
        <p:txBody>
          <a:bodyPr wrap="square" lIns="0" tIns="0" rIns="0" bIns="0" rtlCol="0" anchor="ctr"/>
          <a:lstStyle/>
          <a:p>
            <a:pPr indent="0" marL="0">
              <a:buNone/>
            </a:pPr>
            <a:r>
              <a:rPr lang="en-US" sz="850" dirty="0">
                <a:solidFill>
                  <a:srgbClr val="0891B2"/>
                </a:solidFill>
                <a:latin typeface="Courier New" pitchFamily="34" charset="0"/>
                <a:ea typeface="Courier New" pitchFamily="34" charset="-122"/>
                <a:cs typeface="Courier New" pitchFamily="34" charset="-120"/>
              </a:rPr>
              <a:t>stdlib aggregator over NDJSON events</a:t>
            </a:r>
            <a:endParaRPr lang="en-US" sz="850" dirty="0"/>
          </a:p>
        </p:txBody>
      </p:sp>
      <p:sp>
        <p:nvSpPr>
          <p:cNvPr id="19" name="Text 17"/>
          <p:cNvSpPr/>
          <p:nvPr/>
        </p:nvSpPr>
        <p:spPr>
          <a:xfrm>
            <a:off x="3410712" y="1627632"/>
            <a:ext cx="2487168" cy="59436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Lead time / cycle time per task</a:t>
            </a:r>
            <a:endParaRPr lang="en-US" sz="1000" dirty="0"/>
          </a:p>
        </p:txBody>
      </p:sp>
      <p:sp>
        <p:nvSpPr>
          <p:cNvPr id="20" name="Text 18"/>
          <p:cNvSpPr/>
          <p:nvPr/>
        </p:nvSpPr>
        <p:spPr>
          <a:xfrm>
            <a:off x="3410712" y="2249424"/>
            <a:ext cx="2487168" cy="59436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Per-phase retry + DoR cause counts</a:t>
            </a:r>
            <a:endParaRPr lang="en-US" sz="1000" dirty="0"/>
          </a:p>
        </p:txBody>
      </p:sp>
      <p:sp>
        <p:nvSpPr>
          <p:cNvPr id="21" name="Text 19"/>
          <p:cNvSpPr/>
          <p:nvPr/>
        </p:nvSpPr>
        <p:spPr>
          <a:xfrm>
            <a:off x="3410712" y="2871216"/>
            <a:ext cx="2487168" cy="59436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Token cost split: graph / state / canonical / file</a:t>
            </a:r>
            <a:endParaRPr lang="en-US" sz="1000" dirty="0"/>
          </a:p>
        </p:txBody>
      </p:sp>
      <p:sp>
        <p:nvSpPr>
          <p:cNvPr id="22" name="Text 20"/>
          <p:cNvSpPr/>
          <p:nvPr/>
        </p:nvSpPr>
        <p:spPr>
          <a:xfrm>
            <a:off x="3410712" y="3493008"/>
            <a:ext cx="2487168" cy="59436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A/B comparison (--compare-by experiment_id)</a:t>
            </a:r>
            <a:endParaRPr lang="en-US" sz="1000" dirty="0"/>
          </a:p>
        </p:txBody>
      </p:sp>
      <p:sp>
        <p:nvSpPr>
          <p:cNvPr id="23" name="Text 21"/>
          <p:cNvSpPr/>
          <p:nvPr/>
        </p:nvSpPr>
        <p:spPr>
          <a:xfrm>
            <a:off x="3410712" y="4114800"/>
            <a:ext cx="2487168" cy="59436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ISO window filters (since/until), JSON or CSV output</a:t>
            </a:r>
            <a:endParaRPr lang="en-US" sz="1000" dirty="0"/>
          </a:p>
        </p:txBody>
      </p:sp>
      <p:sp>
        <p:nvSpPr>
          <p:cNvPr id="24" name="Shape 22"/>
          <p:cNvSpPr/>
          <p:nvPr/>
        </p:nvSpPr>
        <p:spPr>
          <a:xfrm>
            <a:off x="6172200" y="804672"/>
            <a:ext cx="2779776" cy="416052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25" name="Shape 23"/>
          <p:cNvSpPr/>
          <p:nvPr/>
        </p:nvSpPr>
        <p:spPr>
          <a:xfrm>
            <a:off x="6172200" y="804672"/>
            <a:ext cx="64008" cy="4160520"/>
          </a:xfrm>
          <a:prstGeom prst="rect">
            <a:avLst/>
          </a:prstGeom>
          <a:solidFill>
            <a:srgbClr val="EF4444"/>
          </a:solidFill>
          <a:ln w="12700">
            <a:solidFill>
              <a:srgbClr val="EF4444"/>
            </a:solidFill>
            <a:prstDash val="solid"/>
          </a:ln>
        </p:spPr>
      </p:sp>
      <p:sp>
        <p:nvSpPr>
          <p:cNvPr id="26" name="Text 24"/>
          <p:cNvSpPr/>
          <p:nvPr/>
        </p:nvSpPr>
        <p:spPr>
          <a:xfrm>
            <a:off x="6336792" y="932688"/>
            <a:ext cx="2487168" cy="384048"/>
          </a:xfrm>
          <a:prstGeom prst="rect">
            <a:avLst/>
          </a:prstGeom>
          <a:noFill/>
          <a:ln/>
        </p:spPr>
        <p:txBody>
          <a:bodyPr wrap="square" lIns="0" tIns="0" rIns="0" bIns="0" rtlCol="0" anchor="ctr"/>
          <a:lstStyle/>
          <a:p>
            <a:pPr indent="0" marL="0">
              <a:buNone/>
            </a:pPr>
            <a:r>
              <a:rPr lang="en-US" sz="1400" b="1" dirty="0">
                <a:solidFill>
                  <a:srgbClr val="0D1117"/>
                </a:solidFill>
                <a:latin typeface="Calibri" pitchFamily="34" charset="0"/>
                <a:ea typeface="Calibri" pitchFamily="34" charset="-122"/>
                <a:cs typeface="Calibri" pitchFamily="34" charset="-120"/>
              </a:rPr>
              <a:t>Stall Watchdog</a:t>
            </a:r>
            <a:endParaRPr lang="en-US" sz="1400" dirty="0"/>
          </a:p>
        </p:txBody>
      </p:sp>
      <p:sp>
        <p:nvSpPr>
          <p:cNvPr id="27" name="Text 25"/>
          <p:cNvSpPr/>
          <p:nvPr/>
        </p:nvSpPr>
        <p:spPr>
          <a:xfrm>
            <a:off x="6336792" y="1298448"/>
            <a:ext cx="2487168" cy="256032"/>
          </a:xfrm>
          <a:prstGeom prst="rect">
            <a:avLst/>
          </a:prstGeom>
          <a:noFill/>
          <a:ln/>
        </p:spPr>
        <p:txBody>
          <a:bodyPr wrap="square" lIns="0" tIns="0" rIns="0" bIns="0" rtlCol="0" anchor="ctr"/>
          <a:lstStyle/>
          <a:p>
            <a:pPr indent="0" marL="0">
              <a:buNone/>
            </a:pPr>
            <a:r>
              <a:rPr lang="en-US" sz="850" dirty="0">
                <a:solidFill>
                  <a:srgbClr val="EF4444"/>
                </a:solidFill>
                <a:latin typeface="Courier New" pitchFamily="34" charset="0"/>
                <a:ea typeface="Courier New" pitchFamily="34" charset="-122"/>
                <a:cs typeface="Courier New" pitchFamily="34" charset="-120"/>
              </a:rPr>
              <a:t>canon stall-watchdog scan</a:t>
            </a:r>
            <a:endParaRPr lang="en-US" sz="850" dirty="0"/>
          </a:p>
        </p:txBody>
      </p:sp>
      <p:sp>
        <p:nvSpPr>
          <p:cNvPr id="28" name="Text 26"/>
          <p:cNvSpPr/>
          <p:nvPr/>
        </p:nvSpPr>
        <p:spPr>
          <a:xfrm>
            <a:off x="6336792" y="1627632"/>
            <a:ext cx="2487168" cy="59436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GET checkpoint (NOT POST — preserves stall evidence)</a:t>
            </a:r>
            <a:endParaRPr lang="en-US" sz="1000" dirty="0"/>
          </a:p>
        </p:txBody>
      </p:sp>
      <p:sp>
        <p:nvSpPr>
          <p:cNvPr id="29" name="Text 27"/>
          <p:cNvSpPr/>
          <p:nvPr/>
        </p:nvSpPr>
        <p:spPr>
          <a:xfrm>
            <a:off x="6336792" y="2249424"/>
            <a:ext cx="2487168" cy="59436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Classifies: stalled / live / not_stalled / degraded</a:t>
            </a:r>
            <a:endParaRPr lang="en-US" sz="1000" dirty="0"/>
          </a:p>
        </p:txBody>
      </p:sp>
      <p:sp>
        <p:nvSpPr>
          <p:cNvPr id="30" name="Text 28"/>
          <p:cNvSpPr/>
          <p:nvPr/>
        </p:nvSpPr>
        <p:spPr>
          <a:xfrm>
            <a:off x="6336792" y="2871216"/>
            <a:ext cx="2487168" cy="59436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Emits lease_stall_detected event with stale owner + timestamps</a:t>
            </a:r>
            <a:endParaRPr lang="en-US" sz="1000" dirty="0"/>
          </a:p>
        </p:txBody>
      </p:sp>
      <p:sp>
        <p:nvSpPr>
          <p:cNvPr id="31" name="Text 29"/>
          <p:cNvSpPr/>
          <p:nvPr/>
        </p:nvSpPr>
        <p:spPr>
          <a:xfrm>
            <a:off x="6336792" y="3493008"/>
            <a:ext cx="2487168" cy="59436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Suggests exact canon checkpoint lease-acquire recovery command</a:t>
            </a:r>
            <a:endParaRPr lang="en-US" sz="1000" dirty="0"/>
          </a:p>
        </p:txBody>
      </p:sp>
      <p:sp>
        <p:nvSpPr>
          <p:cNvPr id="32" name="Text 30"/>
          <p:cNvSpPr/>
          <p:nvPr/>
        </p:nvSpPr>
        <p:spPr>
          <a:xfrm>
            <a:off x="6336792" y="4114800"/>
            <a:ext cx="2487168" cy="59436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Exit 5 on any degraded probe — stricter than resume_engine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384048" cy="5143500"/>
          </a:xfrm>
          <a:prstGeom prst="rect">
            <a:avLst/>
          </a:prstGeom>
          <a:solidFill>
            <a:srgbClr val="00D4AA"/>
          </a:solidFill>
          <a:ln w="12700">
            <a:solidFill>
              <a:srgbClr val="00D4AA"/>
            </a:solidFill>
            <a:prstDash val="solid"/>
          </a:ln>
        </p:spPr>
      </p:sp>
      <p:sp>
        <p:nvSpPr>
          <p:cNvPr id="3" name="Text 1"/>
          <p:cNvSpPr/>
          <p:nvPr/>
        </p:nvSpPr>
        <p:spPr>
          <a:xfrm>
            <a:off x="5029200" y="-182880"/>
            <a:ext cx="4389120" cy="3840480"/>
          </a:xfrm>
          <a:prstGeom prst="rect">
            <a:avLst/>
          </a:prstGeom>
          <a:noFill/>
          <a:ln/>
        </p:spPr>
        <p:txBody>
          <a:bodyPr wrap="square" lIns="0" tIns="0" rIns="0" bIns="0" rtlCol="0" anchor="t"/>
          <a:lstStyle/>
          <a:p>
            <a:pPr algn="r" indent="0" marL="0">
              <a:buNone/>
            </a:pPr>
            <a:r>
              <a:rPr lang="en-US" sz="28000" b="1" dirty="0">
                <a:solidFill>
                  <a:srgbClr val="0A1F35"/>
                </a:solidFill>
                <a:latin typeface="Calibri" pitchFamily="34" charset="0"/>
                <a:ea typeface="Calibri" pitchFamily="34" charset="-122"/>
                <a:cs typeface="Calibri" pitchFamily="34" charset="-120"/>
              </a:rPr>
              <a:t>03</a:t>
            </a:r>
            <a:endParaRPr lang="en-US" sz="28000" dirty="0"/>
          </a:p>
        </p:txBody>
      </p:sp>
      <p:sp>
        <p:nvSpPr>
          <p:cNvPr id="4" name="Shape 2"/>
          <p:cNvSpPr/>
          <p:nvPr/>
        </p:nvSpPr>
        <p:spPr>
          <a:xfrm>
            <a:off x="566928" y="1536192"/>
            <a:ext cx="4114800" cy="36576"/>
          </a:xfrm>
          <a:prstGeom prst="rect">
            <a:avLst/>
          </a:prstGeom>
          <a:solidFill>
            <a:srgbClr val="00D4AA"/>
          </a:solidFill>
          <a:ln w="12700">
            <a:solidFill>
              <a:srgbClr val="00D4AA"/>
            </a:solidFill>
            <a:prstDash val="solid"/>
          </a:ln>
        </p:spPr>
      </p:sp>
      <p:sp>
        <p:nvSpPr>
          <p:cNvPr id="5" name="Text 3"/>
          <p:cNvSpPr/>
          <p:nvPr/>
        </p:nvSpPr>
        <p:spPr>
          <a:xfrm>
            <a:off x="566928" y="384048"/>
            <a:ext cx="1828800" cy="822960"/>
          </a:xfrm>
          <a:prstGeom prst="rect">
            <a:avLst/>
          </a:prstGeom>
          <a:noFill/>
          <a:ln/>
        </p:spPr>
        <p:txBody>
          <a:bodyPr wrap="square" lIns="0" tIns="0" rIns="0" bIns="0" rtlCol="0" anchor="ctr"/>
          <a:lstStyle/>
          <a:p>
            <a:pPr indent="0" marL="0">
              <a:buNone/>
            </a:pPr>
            <a:r>
              <a:rPr lang="en-US" sz="5200" b="1" dirty="0">
                <a:solidFill>
                  <a:srgbClr val="1A3050"/>
                </a:solidFill>
                <a:latin typeface="Calibri" pitchFamily="34" charset="0"/>
                <a:ea typeface="Calibri" pitchFamily="34" charset="-122"/>
                <a:cs typeface="Calibri" pitchFamily="34" charset="-120"/>
              </a:rPr>
              <a:t>03</a:t>
            </a:r>
            <a:endParaRPr lang="en-US" sz="5200" dirty="0"/>
          </a:p>
        </p:txBody>
      </p:sp>
      <p:sp>
        <p:nvSpPr>
          <p:cNvPr id="6" name="Text 4"/>
          <p:cNvSpPr/>
          <p:nvPr/>
        </p:nvSpPr>
        <p:spPr>
          <a:xfrm>
            <a:off x="566928" y="1115568"/>
            <a:ext cx="8229600" cy="457200"/>
          </a:xfrm>
          <a:prstGeom prst="rect">
            <a:avLst/>
          </a:prstGeom>
          <a:noFill/>
          <a:ln/>
        </p:spPr>
        <p:txBody>
          <a:bodyPr wrap="square" lIns="0" tIns="0" rIns="0" bIns="0" rtlCol="0" anchor="ctr"/>
          <a:lstStyle/>
          <a:p>
            <a:pPr indent="0" marL="0">
              <a:buNone/>
            </a:pPr>
            <a:r>
              <a:rPr lang="en-US" sz="1100" b="1" spc="500" kern="0" dirty="0">
                <a:solidFill>
                  <a:srgbClr val="00D4AA"/>
                </a:solidFill>
                <a:latin typeface="Calibri" pitchFamily="34" charset="0"/>
                <a:ea typeface="Calibri" pitchFamily="34" charset="-122"/>
                <a:cs typeface="Calibri" pitchFamily="34" charset="-120"/>
              </a:rPr>
              <a:t>HOW WE COMPARE</a:t>
            </a:r>
            <a:endParaRPr lang="en-US" sz="1100" dirty="0"/>
          </a:p>
        </p:txBody>
      </p:sp>
      <p:sp>
        <p:nvSpPr>
          <p:cNvPr id="7" name="Text 5"/>
          <p:cNvSpPr/>
          <p:nvPr/>
        </p:nvSpPr>
        <p:spPr>
          <a:xfrm>
            <a:off x="566928" y="1572768"/>
            <a:ext cx="5943600" cy="141732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Canon vs Devin,</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vs Sandcastle, vs the market.</a:t>
            </a:r>
            <a:endParaRPr lang="en-US" sz="3600" dirty="0"/>
          </a:p>
        </p:txBody>
      </p:sp>
      <p:sp>
        <p:nvSpPr>
          <p:cNvPr id="8" name="Text 6"/>
          <p:cNvSpPr/>
          <p:nvPr/>
        </p:nvSpPr>
        <p:spPr>
          <a:xfrm>
            <a:off x="566928" y="2944368"/>
            <a:ext cx="8229600" cy="59436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Canon doesn't chase Devin or out-Sandcastle Sandcastle. It wins governance + organizational memory + operator control — and treats execution as a replaceable layer.</a:t>
            </a:r>
            <a:endParaRPr lang="en-US" sz="1400" dirty="0"/>
          </a:p>
        </p:txBody>
      </p:sp>
      <p:sp>
        <p:nvSpPr>
          <p:cNvPr id="9" name="Shape 7"/>
          <p:cNvSpPr/>
          <p:nvPr/>
        </p:nvSpPr>
        <p:spPr>
          <a:xfrm>
            <a:off x="566928" y="3657600"/>
            <a:ext cx="2697480" cy="1298448"/>
          </a:xfrm>
          <a:prstGeom prst="rect">
            <a:avLst/>
          </a:prstGeom>
          <a:solidFill>
            <a:srgbClr val="0D1B2A"/>
          </a:solidFill>
          <a:ln w="6350">
            <a:solidFill>
              <a:srgbClr val="EF4444"/>
            </a:solidFill>
            <a:prstDash val="solid"/>
          </a:ln>
        </p:spPr>
      </p:sp>
      <p:sp>
        <p:nvSpPr>
          <p:cNvPr id="10" name="Shape 8"/>
          <p:cNvSpPr/>
          <p:nvPr/>
        </p:nvSpPr>
        <p:spPr>
          <a:xfrm>
            <a:off x="566928" y="3657600"/>
            <a:ext cx="2697480" cy="64008"/>
          </a:xfrm>
          <a:prstGeom prst="rect">
            <a:avLst/>
          </a:prstGeom>
          <a:solidFill>
            <a:srgbClr val="EF4444"/>
          </a:solidFill>
          <a:ln w="12700">
            <a:solidFill>
              <a:srgbClr val="EF4444"/>
            </a:solidFill>
            <a:prstDash val="solid"/>
          </a:ln>
        </p:spPr>
      </p:sp>
      <p:sp>
        <p:nvSpPr>
          <p:cNvPr id="11" name="Text 9"/>
          <p:cNvSpPr/>
          <p:nvPr/>
        </p:nvSpPr>
        <p:spPr>
          <a:xfrm>
            <a:off x="676656" y="3749040"/>
            <a:ext cx="246888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Devin.ai</a:t>
            </a:r>
            <a:endParaRPr lang="en-US" sz="1200" dirty="0"/>
          </a:p>
        </p:txBody>
      </p:sp>
      <p:sp>
        <p:nvSpPr>
          <p:cNvPr id="12" name="Text 10"/>
          <p:cNvSpPr/>
          <p:nvPr/>
        </p:nvSpPr>
        <p:spPr>
          <a:xfrm>
            <a:off x="676656" y="4169664"/>
            <a:ext cx="2468880" cy="749808"/>
          </a:xfrm>
          <a:prstGeom prst="rect">
            <a:avLst/>
          </a:prstGeom>
          <a:noFill/>
          <a:ln/>
        </p:spPr>
        <p:txBody>
          <a:bodyPr wrap="square" lIns="0" tIns="0" rIns="0" bIns="0" rtlCol="0" anchor="ctr"/>
          <a:lstStyle/>
          <a:p>
            <a:pPr indent="0" marL="0">
              <a:buNone/>
            </a:pPr>
            <a:r>
              <a:rPr lang="en-US" sz="1000" dirty="0">
                <a:solidFill>
                  <a:srgbClr val="7BA3C4"/>
                </a:solidFill>
                <a:latin typeface="Calibri" pitchFamily="34" charset="0"/>
                <a:ea typeface="Calibri" pitchFamily="34" charset="-122"/>
                <a:cs typeface="Calibri" pitchFamily="34" charset="-120"/>
              </a:rPr>
              <a:t>High autonomy SaaS. Wins on agentic fluency. Loses on data sovereignty, cross-repo memory, audit discipline.</a:t>
            </a:r>
            <a:endParaRPr lang="en-US" sz="1000" dirty="0"/>
          </a:p>
        </p:txBody>
      </p:sp>
      <p:sp>
        <p:nvSpPr>
          <p:cNvPr id="13" name="Shape 11"/>
          <p:cNvSpPr/>
          <p:nvPr/>
        </p:nvSpPr>
        <p:spPr>
          <a:xfrm>
            <a:off x="3401568" y="3657600"/>
            <a:ext cx="2697480" cy="1298448"/>
          </a:xfrm>
          <a:prstGeom prst="rect">
            <a:avLst/>
          </a:prstGeom>
          <a:solidFill>
            <a:srgbClr val="0D1B2A"/>
          </a:solidFill>
          <a:ln w="6350">
            <a:solidFill>
              <a:srgbClr val="F97316"/>
            </a:solidFill>
            <a:prstDash val="solid"/>
          </a:ln>
        </p:spPr>
      </p:sp>
      <p:sp>
        <p:nvSpPr>
          <p:cNvPr id="14" name="Shape 12"/>
          <p:cNvSpPr/>
          <p:nvPr/>
        </p:nvSpPr>
        <p:spPr>
          <a:xfrm>
            <a:off x="3401568" y="3657600"/>
            <a:ext cx="2697480" cy="64008"/>
          </a:xfrm>
          <a:prstGeom prst="rect">
            <a:avLst/>
          </a:prstGeom>
          <a:solidFill>
            <a:srgbClr val="F97316"/>
          </a:solidFill>
          <a:ln w="12700">
            <a:solidFill>
              <a:srgbClr val="F97316"/>
            </a:solidFill>
            <a:prstDash val="solid"/>
          </a:ln>
        </p:spPr>
      </p:sp>
      <p:sp>
        <p:nvSpPr>
          <p:cNvPr id="15" name="Text 13"/>
          <p:cNvSpPr/>
          <p:nvPr/>
        </p:nvSpPr>
        <p:spPr>
          <a:xfrm>
            <a:off x="3511296" y="3749040"/>
            <a:ext cx="246888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Sandcastle</a:t>
            </a:r>
            <a:endParaRPr lang="en-US" sz="1200" dirty="0"/>
          </a:p>
        </p:txBody>
      </p:sp>
      <p:sp>
        <p:nvSpPr>
          <p:cNvPr id="16" name="Text 14"/>
          <p:cNvSpPr/>
          <p:nvPr/>
        </p:nvSpPr>
        <p:spPr>
          <a:xfrm>
            <a:off x="3511296" y="4169664"/>
            <a:ext cx="2468880" cy="749808"/>
          </a:xfrm>
          <a:prstGeom prst="rect">
            <a:avLst/>
          </a:prstGeom>
          <a:noFill/>
          <a:ln/>
        </p:spPr>
        <p:txBody>
          <a:bodyPr wrap="square" lIns="0" tIns="0" rIns="0" bIns="0" rtlCol="0" anchor="ctr"/>
          <a:lstStyle/>
          <a:p>
            <a:pPr indent="0" marL="0">
              <a:buNone/>
            </a:pPr>
            <a:r>
              <a:rPr lang="en-US" sz="1000" dirty="0">
                <a:solidFill>
                  <a:srgbClr val="7BA3C4"/>
                </a:solidFill>
                <a:latin typeface="Calibri" pitchFamily="34" charset="0"/>
                <a:ea typeface="Calibri" pitchFamily="34" charset="-122"/>
                <a:cs typeface="Calibri" pitchFamily="34" charset="-120"/>
              </a:rPr>
              <a:t>TypeScript agent runtime SDK. Wins on execution primitives and sandbox clarity. No memory or governance plane.</a:t>
            </a:r>
            <a:endParaRPr lang="en-US" sz="1000" dirty="0"/>
          </a:p>
        </p:txBody>
      </p:sp>
      <p:sp>
        <p:nvSpPr>
          <p:cNvPr id="17" name="Shape 15"/>
          <p:cNvSpPr/>
          <p:nvPr/>
        </p:nvSpPr>
        <p:spPr>
          <a:xfrm>
            <a:off x="6236208" y="3657600"/>
            <a:ext cx="2697480" cy="1298448"/>
          </a:xfrm>
          <a:prstGeom prst="rect">
            <a:avLst/>
          </a:prstGeom>
          <a:solidFill>
            <a:srgbClr val="0D1B2A"/>
          </a:solidFill>
          <a:ln w="6350">
            <a:solidFill>
              <a:srgbClr val="8B5CF6"/>
            </a:solidFill>
            <a:prstDash val="solid"/>
          </a:ln>
        </p:spPr>
      </p:sp>
      <p:sp>
        <p:nvSpPr>
          <p:cNvPr id="18" name="Shape 16"/>
          <p:cNvSpPr/>
          <p:nvPr/>
        </p:nvSpPr>
        <p:spPr>
          <a:xfrm>
            <a:off x="6236208" y="3657600"/>
            <a:ext cx="2697480" cy="64008"/>
          </a:xfrm>
          <a:prstGeom prst="rect">
            <a:avLst/>
          </a:prstGeom>
          <a:solidFill>
            <a:srgbClr val="8B5CF6"/>
          </a:solidFill>
          <a:ln w="12700">
            <a:solidFill>
              <a:srgbClr val="8B5CF6"/>
            </a:solidFill>
            <a:prstDash val="solid"/>
          </a:ln>
        </p:spPr>
      </p:sp>
      <p:sp>
        <p:nvSpPr>
          <p:cNvPr id="19" name="Text 17"/>
          <p:cNvSpPr/>
          <p:nvPr/>
        </p:nvSpPr>
        <p:spPr>
          <a:xfrm>
            <a:off x="6345936" y="3749040"/>
            <a:ext cx="246888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Open Orchestration</a:t>
            </a:r>
            <a:endParaRPr lang="en-US" sz="1200" dirty="0"/>
          </a:p>
          <a:p>
            <a:pPr indent="0" marL="0">
              <a:buNone/>
            </a:pPr>
            <a:r>
              <a:rPr lang="en-US" sz="1200" b="1" dirty="0">
                <a:solidFill>
                  <a:srgbClr val="FFFFFF"/>
                </a:solidFill>
                <a:latin typeface="Calibri" pitchFamily="34" charset="0"/>
                <a:ea typeface="Calibri" pitchFamily="34" charset="-122"/>
                <a:cs typeface="Calibri" pitchFamily="34" charset="-120"/>
              </a:rPr>
              <a:t>(LangGraph, custom)</a:t>
            </a:r>
            <a:endParaRPr lang="en-US" sz="1200" dirty="0"/>
          </a:p>
        </p:txBody>
      </p:sp>
      <p:sp>
        <p:nvSpPr>
          <p:cNvPr id="20" name="Text 18"/>
          <p:cNvSpPr/>
          <p:nvPr/>
        </p:nvSpPr>
        <p:spPr>
          <a:xfrm>
            <a:off x="6345936" y="4169664"/>
            <a:ext cx="2468880" cy="749808"/>
          </a:xfrm>
          <a:prstGeom prst="rect">
            <a:avLst/>
          </a:prstGeom>
          <a:noFill/>
          <a:ln/>
        </p:spPr>
        <p:txBody>
          <a:bodyPr wrap="square" lIns="0" tIns="0" rIns="0" bIns="0" rtlCol="0" anchor="ctr"/>
          <a:lstStyle/>
          <a:p>
            <a:pPr indent="0" marL="0">
              <a:buNone/>
            </a:pPr>
            <a:r>
              <a:rPr lang="en-US" sz="1000" dirty="0">
                <a:solidFill>
                  <a:srgbClr val="7BA3C4"/>
                </a:solidFill>
                <a:latin typeface="Calibri" pitchFamily="34" charset="0"/>
                <a:ea typeface="Calibri" pitchFamily="34" charset="-122"/>
                <a:cs typeface="Calibri" pitchFamily="34" charset="-120"/>
              </a:rPr>
              <a:t>Wins on flexibility for builders. Loses on out-of-the-box discipline, tenant scoping, enterprise evidence.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0"/>
            <a:ext cx="109728" cy="658368"/>
          </a:xfrm>
          <a:prstGeom prst="rect">
            <a:avLst/>
          </a:prstGeom>
          <a:solidFill>
            <a:srgbClr val="00D4AA"/>
          </a:solidFill>
          <a:ln w="12700">
            <a:solidFill>
              <a:srgbClr val="00D4AA"/>
            </a:solidFill>
            <a:prstDash val="solid"/>
          </a:ln>
        </p:spPr>
      </p:sp>
      <p:sp>
        <p:nvSpPr>
          <p:cNvPr id="4" name="Text 2"/>
          <p:cNvSpPr/>
          <p:nvPr/>
        </p:nvSpPr>
        <p:spPr>
          <a:xfrm>
            <a:off x="219456" y="0"/>
            <a:ext cx="685800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Canon vs Devin.ai — Full Comparison (April 2026)</a:t>
            </a:r>
            <a:endParaRPr lang="en-US" sz="2100" dirty="0"/>
          </a:p>
        </p:txBody>
      </p:sp>
      <p:sp>
        <p:nvSpPr>
          <p:cNvPr id="5" name="Text 3"/>
          <p:cNvSpPr/>
          <p:nvPr/>
        </p:nvSpPr>
        <p:spPr>
          <a:xfrm>
            <a:off x="219456" y="0"/>
            <a:ext cx="8778240" cy="658368"/>
          </a:xfrm>
          <a:prstGeom prst="rect">
            <a:avLst/>
          </a:prstGeom>
          <a:noFill/>
          <a:ln/>
        </p:spPr>
        <p:txBody>
          <a:bodyPr wrap="square" lIns="0" tIns="0" rIns="0" bIns="0" rtlCol="0" anchor="ctr"/>
          <a:lstStyle/>
          <a:p>
            <a:pPr algn="r" indent="0" marL="0">
              <a:buNone/>
            </a:pPr>
            <a:r>
              <a:rPr lang="en-US" sz="1000" dirty="0">
                <a:solidFill>
                  <a:srgbClr val="4B6A8A"/>
                </a:solidFill>
                <a:latin typeface="Calibri" pitchFamily="34" charset="0"/>
                <a:ea typeface="Calibri" pitchFamily="34" charset="-122"/>
                <a:cs typeface="Calibri" pitchFamily="34" charset="-120"/>
              </a:rPr>
              <a:t>How We Compare</a:t>
            </a:r>
            <a:endParaRPr lang="en-US" sz="1000" dirty="0"/>
          </a:p>
        </p:txBody>
      </p:sp>
      <p:sp>
        <p:nvSpPr>
          <p:cNvPr id="6" name="Shape 4"/>
          <p:cNvSpPr/>
          <p:nvPr/>
        </p:nvSpPr>
        <p:spPr>
          <a:xfrm>
            <a:off x="274320" y="768096"/>
            <a:ext cx="1828800" cy="393192"/>
          </a:xfrm>
          <a:prstGeom prst="rect">
            <a:avLst/>
          </a:prstGeom>
          <a:solidFill>
            <a:srgbClr val="1E3A5F"/>
          </a:solidFill>
          <a:ln w="3810">
            <a:solidFill>
              <a:srgbClr val="E2E8F0"/>
            </a:solidFill>
            <a:prstDash val="solid"/>
          </a:ln>
        </p:spPr>
      </p:sp>
      <p:sp>
        <p:nvSpPr>
          <p:cNvPr id="7" name="Text 5"/>
          <p:cNvSpPr/>
          <p:nvPr/>
        </p:nvSpPr>
        <p:spPr>
          <a:xfrm>
            <a:off x="329184" y="768096"/>
            <a:ext cx="1755648" cy="39319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Dimension</a:t>
            </a:r>
            <a:endParaRPr lang="en-US" sz="1100" dirty="0"/>
          </a:p>
        </p:txBody>
      </p:sp>
      <p:sp>
        <p:nvSpPr>
          <p:cNvPr id="8" name="Shape 6"/>
          <p:cNvSpPr/>
          <p:nvPr/>
        </p:nvSpPr>
        <p:spPr>
          <a:xfrm>
            <a:off x="2103120" y="768096"/>
            <a:ext cx="2606040" cy="393192"/>
          </a:xfrm>
          <a:prstGeom prst="rect">
            <a:avLst/>
          </a:prstGeom>
          <a:solidFill>
            <a:srgbClr val="ECFDF5"/>
          </a:solidFill>
          <a:ln w="3810">
            <a:solidFill>
              <a:srgbClr val="E2E8F0"/>
            </a:solidFill>
            <a:prstDash val="solid"/>
          </a:ln>
        </p:spPr>
      </p:sp>
      <p:sp>
        <p:nvSpPr>
          <p:cNvPr id="9" name="Text 7"/>
          <p:cNvSpPr/>
          <p:nvPr/>
        </p:nvSpPr>
        <p:spPr>
          <a:xfrm>
            <a:off x="2157984" y="768096"/>
            <a:ext cx="2532888" cy="393192"/>
          </a:xfrm>
          <a:prstGeom prst="rect">
            <a:avLst/>
          </a:prstGeom>
          <a:noFill/>
          <a:ln/>
        </p:spPr>
        <p:txBody>
          <a:bodyPr wrap="square" lIns="0" tIns="0" rIns="0" bIns="0" rtlCol="0" anchor="ctr"/>
          <a:lstStyle/>
          <a:p>
            <a:pPr indent="0" marL="0">
              <a:buNone/>
            </a:pPr>
            <a:r>
              <a:rPr lang="en-US" sz="1100" b="1" dirty="0">
                <a:solidFill>
                  <a:srgbClr val="065F46"/>
                </a:solidFill>
                <a:latin typeface="Calibri" pitchFamily="34" charset="0"/>
                <a:ea typeface="Calibri" pitchFamily="34" charset="-122"/>
                <a:cs typeface="Calibri" pitchFamily="34" charset="-120"/>
              </a:rPr>
              <a:t>Canon Systems</a:t>
            </a:r>
            <a:endParaRPr lang="en-US" sz="1100" dirty="0"/>
          </a:p>
        </p:txBody>
      </p:sp>
      <p:sp>
        <p:nvSpPr>
          <p:cNvPr id="10" name="Shape 8"/>
          <p:cNvSpPr/>
          <p:nvPr/>
        </p:nvSpPr>
        <p:spPr>
          <a:xfrm>
            <a:off x="4709160" y="768096"/>
            <a:ext cx="2606040" cy="393192"/>
          </a:xfrm>
          <a:prstGeom prst="rect">
            <a:avLst/>
          </a:prstGeom>
          <a:solidFill>
            <a:srgbClr val="FFF7ED"/>
          </a:solidFill>
          <a:ln w="3810">
            <a:solidFill>
              <a:srgbClr val="E2E8F0"/>
            </a:solidFill>
            <a:prstDash val="solid"/>
          </a:ln>
        </p:spPr>
      </p:sp>
      <p:sp>
        <p:nvSpPr>
          <p:cNvPr id="11" name="Text 9"/>
          <p:cNvSpPr/>
          <p:nvPr/>
        </p:nvSpPr>
        <p:spPr>
          <a:xfrm>
            <a:off x="4764024" y="768096"/>
            <a:ext cx="2532888" cy="393192"/>
          </a:xfrm>
          <a:prstGeom prst="rect">
            <a:avLst/>
          </a:prstGeom>
          <a:noFill/>
          <a:ln/>
        </p:spPr>
        <p:txBody>
          <a:bodyPr wrap="square" lIns="0" tIns="0" rIns="0" bIns="0" rtlCol="0" anchor="ctr"/>
          <a:lstStyle/>
          <a:p>
            <a:pPr indent="0" marL="0">
              <a:buNone/>
            </a:pPr>
            <a:r>
              <a:rPr lang="en-US" sz="1100" b="1" dirty="0">
                <a:solidFill>
                  <a:srgbClr val="9A3412"/>
                </a:solidFill>
                <a:latin typeface="Calibri" pitchFamily="34" charset="0"/>
                <a:ea typeface="Calibri" pitchFamily="34" charset="-122"/>
                <a:cs typeface="Calibri" pitchFamily="34" charset="-120"/>
              </a:rPr>
              <a:t>Devin.ai (2026)</a:t>
            </a:r>
            <a:endParaRPr lang="en-US" sz="1100" dirty="0"/>
          </a:p>
        </p:txBody>
      </p:sp>
      <p:sp>
        <p:nvSpPr>
          <p:cNvPr id="12" name="Shape 10"/>
          <p:cNvSpPr/>
          <p:nvPr/>
        </p:nvSpPr>
        <p:spPr>
          <a:xfrm>
            <a:off x="7315200" y="768096"/>
            <a:ext cx="1481328" cy="393192"/>
          </a:xfrm>
          <a:prstGeom prst="rect">
            <a:avLst/>
          </a:prstGeom>
          <a:solidFill>
            <a:srgbClr val="1E3A5F"/>
          </a:solidFill>
          <a:ln w="3810">
            <a:solidFill>
              <a:srgbClr val="E2E8F0"/>
            </a:solidFill>
            <a:prstDash val="solid"/>
          </a:ln>
        </p:spPr>
      </p:sp>
      <p:sp>
        <p:nvSpPr>
          <p:cNvPr id="13" name="Text 11"/>
          <p:cNvSpPr/>
          <p:nvPr/>
        </p:nvSpPr>
        <p:spPr>
          <a:xfrm>
            <a:off x="7370064" y="768096"/>
            <a:ext cx="1408176" cy="39319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Edge</a:t>
            </a:r>
            <a:endParaRPr lang="en-US" sz="1100" dirty="0"/>
          </a:p>
        </p:txBody>
      </p:sp>
      <p:sp>
        <p:nvSpPr>
          <p:cNvPr id="14" name="Shape 12"/>
          <p:cNvSpPr/>
          <p:nvPr/>
        </p:nvSpPr>
        <p:spPr>
          <a:xfrm>
            <a:off x="274320" y="1161288"/>
            <a:ext cx="1828800" cy="393192"/>
          </a:xfrm>
          <a:prstGeom prst="rect">
            <a:avLst/>
          </a:prstGeom>
          <a:solidFill>
            <a:srgbClr val="FFFFFF"/>
          </a:solidFill>
          <a:ln w="3810">
            <a:solidFill>
              <a:srgbClr val="E2E8F0"/>
            </a:solidFill>
            <a:prstDash val="solid"/>
          </a:ln>
        </p:spPr>
      </p:sp>
      <p:sp>
        <p:nvSpPr>
          <p:cNvPr id="15" name="Text 13"/>
          <p:cNvSpPr/>
          <p:nvPr/>
        </p:nvSpPr>
        <p:spPr>
          <a:xfrm>
            <a:off x="329184" y="1161288"/>
            <a:ext cx="1755648" cy="393192"/>
          </a:xfrm>
          <a:prstGeom prst="rect">
            <a:avLst/>
          </a:prstGeom>
          <a:noFill/>
          <a:ln/>
        </p:spPr>
        <p:txBody>
          <a:bodyPr wrap="square" lIns="0" tIns="0" rIns="0" bIns="0" rtlCol="0" anchor="ctr"/>
          <a:lstStyle/>
          <a:p>
            <a:pPr indent="0" marL="0">
              <a:buNone/>
            </a:pPr>
            <a:r>
              <a:rPr lang="en-US" sz="900" b="1" dirty="0">
                <a:solidFill>
                  <a:srgbClr val="0D1117"/>
                </a:solidFill>
                <a:latin typeface="Calibri" pitchFamily="34" charset="0"/>
                <a:ea typeface="Calibri" pitchFamily="34" charset="-122"/>
                <a:cs typeface="Calibri" pitchFamily="34" charset="-120"/>
              </a:rPr>
              <a:t>Core Philosophy</a:t>
            </a:r>
            <a:endParaRPr lang="en-US" sz="900" dirty="0"/>
          </a:p>
        </p:txBody>
      </p:sp>
      <p:sp>
        <p:nvSpPr>
          <p:cNvPr id="16" name="Shape 14"/>
          <p:cNvSpPr/>
          <p:nvPr/>
        </p:nvSpPr>
        <p:spPr>
          <a:xfrm>
            <a:off x="2103120" y="1161288"/>
            <a:ext cx="2606040" cy="393192"/>
          </a:xfrm>
          <a:prstGeom prst="rect">
            <a:avLst/>
          </a:prstGeom>
          <a:solidFill>
            <a:srgbClr val="FFFFFF"/>
          </a:solidFill>
          <a:ln w="3810">
            <a:solidFill>
              <a:srgbClr val="E2E8F0"/>
            </a:solidFill>
            <a:prstDash val="solid"/>
          </a:ln>
        </p:spPr>
      </p:sp>
      <p:sp>
        <p:nvSpPr>
          <p:cNvPr id="17" name="Text 15"/>
          <p:cNvSpPr/>
          <p:nvPr/>
        </p:nvSpPr>
        <p:spPr>
          <a:xfrm>
            <a:off x="2157984" y="1161288"/>
            <a:ext cx="2532888" cy="393192"/>
          </a:xfrm>
          <a:prstGeom prst="rect">
            <a:avLst/>
          </a:prstGeom>
          <a:noFill/>
          <a:ln/>
        </p:spPr>
        <p:txBody>
          <a:bodyPr wrap="square" lIns="0" tIns="0" rIns="0" bIns="0" rtlCol="0" anchor="ctr"/>
          <a:lstStyle/>
          <a:p>
            <a:pPr indent="0" marL="0">
              <a:buNone/>
            </a:pPr>
            <a:r>
              <a:rPr lang="en-US" sz="900" dirty="0">
                <a:solidFill>
                  <a:srgbClr val="0D1117"/>
                </a:solidFill>
                <a:latin typeface="Calibri" pitchFamily="34" charset="0"/>
                <a:ea typeface="Calibri" pitchFamily="34" charset="-122"/>
                <a:cs typeface="Calibri" pitchFamily="34" charset="-120"/>
              </a:rPr>
              <a:t>Disciplined: memory, packets, gates, audit</a:t>
            </a:r>
            <a:endParaRPr lang="en-US" sz="900" dirty="0"/>
          </a:p>
        </p:txBody>
      </p:sp>
      <p:sp>
        <p:nvSpPr>
          <p:cNvPr id="18" name="Shape 16"/>
          <p:cNvSpPr/>
          <p:nvPr/>
        </p:nvSpPr>
        <p:spPr>
          <a:xfrm>
            <a:off x="4709160" y="1161288"/>
            <a:ext cx="2606040" cy="393192"/>
          </a:xfrm>
          <a:prstGeom prst="rect">
            <a:avLst/>
          </a:prstGeom>
          <a:solidFill>
            <a:srgbClr val="FFFFFF"/>
          </a:solidFill>
          <a:ln w="3810">
            <a:solidFill>
              <a:srgbClr val="E2E8F0"/>
            </a:solidFill>
            <a:prstDash val="solid"/>
          </a:ln>
        </p:spPr>
      </p:sp>
      <p:sp>
        <p:nvSpPr>
          <p:cNvPr id="19" name="Text 17"/>
          <p:cNvSpPr/>
          <p:nvPr/>
        </p:nvSpPr>
        <p:spPr>
          <a:xfrm>
            <a:off x="4764024" y="1161288"/>
            <a:ext cx="2532888" cy="393192"/>
          </a:xfrm>
          <a:prstGeom prst="rect">
            <a:avLst/>
          </a:prstGeom>
          <a:noFill/>
          <a:ln/>
        </p:spPr>
        <p:txBody>
          <a:bodyPr wrap="square" lIns="0" tIns="0" rIns="0" bIns="0" rtlCol="0" anchor="ctr"/>
          <a:lstStyle/>
          <a:p>
            <a:pPr indent="0" marL="0">
              <a:buNone/>
            </a:pPr>
            <a:r>
              <a:rPr lang="en-US" sz="900" dirty="0">
                <a:solidFill>
                  <a:srgbClr val="0D1117"/>
                </a:solidFill>
                <a:latin typeface="Calibri" pitchFamily="34" charset="0"/>
                <a:ea typeface="Calibri" pitchFamily="34" charset="-122"/>
                <a:cs typeface="Calibri" pitchFamily="34" charset="-120"/>
              </a:rPr>
              <a:t>Autonomous 'fire-and-forget' compound swarm</a:t>
            </a:r>
            <a:endParaRPr lang="en-US" sz="900" dirty="0"/>
          </a:p>
        </p:txBody>
      </p:sp>
      <p:sp>
        <p:nvSpPr>
          <p:cNvPr id="20" name="Shape 18"/>
          <p:cNvSpPr/>
          <p:nvPr/>
        </p:nvSpPr>
        <p:spPr>
          <a:xfrm>
            <a:off x="7315200" y="1161288"/>
            <a:ext cx="1481328" cy="393192"/>
          </a:xfrm>
          <a:prstGeom prst="rect">
            <a:avLst/>
          </a:prstGeom>
          <a:solidFill>
            <a:srgbClr val="F1F5F9"/>
          </a:solidFill>
          <a:ln w="3810">
            <a:solidFill>
              <a:srgbClr val="E2E8F0"/>
            </a:solidFill>
            <a:prstDash val="solid"/>
          </a:ln>
        </p:spPr>
      </p:sp>
      <p:sp>
        <p:nvSpPr>
          <p:cNvPr id="21" name="Text 19"/>
          <p:cNvSpPr/>
          <p:nvPr/>
        </p:nvSpPr>
        <p:spPr>
          <a:xfrm>
            <a:off x="7370064" y="1161288"/>
            <a:ext cx="1408176" cy="3931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Tie</a:t>
            </a:r>
            <a:endParaRPr lang="en-US" sz="900" dirty="0"/>
          </a:p>
        </p:txBody>
      </p:sp>
      <p:sp>
        <p:nvSpPr>
          <p:cNvPr id="22" name="Shape 20"/>
          <p:cNvSpPr/>
          <p:nvPr/>
        </p:nvSpPr>
        <p:spPr>
          <a:xfrm>
            <a:off x="274320" y="1554480"/>
            <a:ext cx="1828800" cy="393192"/>
          </a:xfrm>
          <a:prstGeom prst="rect">
            <a:avLst/>
          </a:prstGeom>
          <a:solidFill>
            <a:srgbClr val="F8FAFC"/>
          </a:solidFill>
          <a:ln w="3810">
            <a:solidFill>
              <a:srgbClr val="E2E8F0"/>
            </a:solidFill>
            <a:prstDash val="solid"/>
          </a:ln>
        </p:spPr>
      </p:sp>
      <p:sp>
        <p:nvSpPr>
          <p:cNvPr id="23" name="Text 21"/>
          <p:cNvSpPr/>
          <p:nvPr/>
        </p:nvSpPr>
        <p:spPr>
          <a:xfrm>
            <a:off x="329184" y="1554480"/>
            <a:ext cx="1755648" cy="393192"/>
          </a:xfrm>
          <a:prstGeom prst="rect">
            <a:avLst/>
          </a:prstGeom>
          <a:noFill/>
          <a:ln/>
        </p:spPr>
        <p:txBody>
          <a:bodyPr wrap="square" lIns="0" tIns="0" rIns="0" bIns="0" rtlCol="0" anchor="ctr"/>
          <a:lstStyle/>
          <a:p>
            <a:pPr indent="0" marL="0">
              <a:buNone/>
            </a:pPr>
            <a:r>
              <a:rPr lang="en-US" sz="900" b="1" dirty="0">
                <a:solidFill>
                  <a:srgbClr val="0D1117"/>
                </a:solidFill>
                <a:latin typeface="Calibri" pitchFamily="34" charset="0"/>
                <a:ea typeface="Calibri" pitchFamily="34" charset="-122"/>
                <a:cs typeface="Calibri" pitchFamily="34" charset="-120"/>
              </a:rPr>
              <a:t>Memory &amp; Context</a:t>
            </a:r>
            <a:endParaRPr lang="en-US" sz="900" dirty="0"/>
          </a:p>
        </p:txBody>
      </p:sp>
      <p:sp>
        <p:nvSpPr>
          <p:cNvPr id="24" name="Shape 22"/>
          <p:cNvSpPr/>
          <p:nvPr/>
        </p:nvSpPr>
        <p:spPr>
          <a:xfrm>
            <a:off x="2103120" y="1554480"/>
            <a:ext cx="2606040" cy="393192"/>
          </a:xfrm>
          <a:prstGeom prst="rect">
            <a:avLst/>
          </a:prstGeom>
          <a:solidFill>
            <a:srgbClr val="F8FAFC"/>
          </a:solidFill>
          <a:ln w="3810">
            <a:solidFill>
              <a:srgbClr val="E2E8F0"/>
            </a:solidFill>
            <a:prstDash val="solid"/>
          </a:ln>
        </p:spPr>
      </p:sp>
      <p:sp>
        <p:nvSpPr>
          <p:cNvPr id="25" name="Text 23"/>
          <p:cNvSpPr/>
          <p:nvPr/>
        </p:nvSpPr>
        <p:spPr>
          <a:xfrm>
            <a:off x="2157984" y="1554480"/>
            <a:ext cx="2532888" cy="393192"/>
          </a:xfrm>
          <a:prstGeom prst="rect">
            <a:avLst/>
          </a:prstGeom>
          <a:noFill/>
          <a:ln/>
        </p:spPr>
        <p:txBody>
          <a:bodyPr wrap="square" lIns="0" tIns="0" rIns="0" bIns="0" rtlCol="0" anchor="ctr"/>
          <a:lstStyle/>
          <a:p>
            <a:pPr indent="0" marL="0">
              <a:buNone/>
            </a:pPr>
            <a:r>
              <a:rPr lang="en-US" sz="900" dirty="0">
                <a:solidFill>
                  <a:srgbClr val="0D1117"/>
                </a:solidFill>
                <a:latin typeface="Calibri" pitchFamily="34" charset="0"/>
                <a:ea typeface="Calibri" pitchFamily="34" charset="-122"/>
                <a:cs typeface="Calibri" pitchFamily="34" charset="-120"/>
              </a:rPr>
              <a:t>Tenant-scoped cross-repo via MemPalace + canonical events</a:t>
            </a:r>
            <a:endParaRPr lang="en-US" sz="900" dirty="0"/>
          </a:p>
        </p:txBody>
      </p:sp>
      <p:sp>
        <p:nvSpPr>
          <p:cNvPr id="26" name="Shape 24"/>
          <p:cNvSpPr/>
          <p:nvPr/>
        </p:nvSpPr>
        <p:spPr>
          <a:xfrm>
            <a:off x="4709160" y="1554480"/>
            <a:ext cx="2606040" cy="393192"/>
          </a:xfrm>
          <a:prstGeom prst="rect">
            <a:avLst/>
          </a:prstGeom>
          <a:solidFill>
            <a:srgbClr val="F8FAFC"/>
          </a:solidFill>
          <a:ln w="3810">
            <a:solidFill>
              <a:srgbClr val="E2E8F0"/>
            </a:solidFill>
            <a:prstDash val="solid"/>
          </a:ln>
        </p:spPr>
      </p:sp>
      <p:sp>
        <p:nvSpPr>
          <p:cNvPr id="27" name="Text 25"/>
          <p:cNvSpPr/>
          <p:nvPr/>
        </p:nvSpPr>
        <p:spPr>
          <a:xfrm>
            <a:off x="4764024" y="1554480"/>
            <a:ext cx="2532888" cy="393192"/>
          </a:xfrm>
          <a:prstGeom prst="rect">
            <a:avLst/>
          </a:prstGeom>
          <a:noFill/>
          <a:ln/>
        </p:spPr>
        <p:txBody>
          <a:bodyPr wrap="square" lIns="0" tIns="0" rIns="0" bIns="0" rtlCol="0" anchor="ctr"/>
          <a:lstStyle/>
          <a:p>
            <a:pPr indent="0" marL="0">
              <a:buNone/>
            </a:pPr>
            <a:r>
              <a:rPr lang="en-US" sz="900" dirty="0">
                <a:solidFill>
                  <a:srgbClr val="0D1117"/>
                </a:solidFill>
                <a:latin typeface="Calibri" pitchFamily="34" charset="0"/>
                <a:ea typeface="Calibri" pitchFamily="34" charset="-122"/>
                <a:cs typeface="Calibri" pitchFamily="34" charset="-120"/>
              </a:rPr>
              <a:t>Knowledge Base, semantic triggers, 10M+ ctx</a:t>
            </a:r>
            <a:endParaRPr lang="en-US" sz="900" dirty="0"/>
          </a:p>
        </p:txBody>
      </p:sp>
      <p:sp>
        <p:nvSpPr>
          <p:cNvPr id="28" name="Shape 26"/>
          <p:cNvSpPr/>
          <p:nvPr/>
        </p:nvSpPr>
        <p:spPr>
          <a:xfrm>
            <a:off x="7315200" y="1554480"/>
            <a:ext cx="1481328" cy="393192"/>
          </a:xfrm>
          <a:prstGeom prst="rect">
            <a:avLst/>
          </a:prstGeom>
          <a:solidFill>
            <a:srgbClr val="FFF7ED"/>
          </a:solidFill>
          <a:ln w="3810">
            <a:solidFill>
              <a:srgbClr val="E2E8F0"/>
            </a:solidFill>
            <a:prstDash val="solid"/>
          </a:ln>
        </p:spPr>
      </p:sp>
      <p:sp>
        <p:nvSpPr>
          <p:cNvPr id="29" name="Text 27"/>
          <p:cNvSpPr/>
          <p:nvPr/>
        </p:nvSpPr>
        <p:spPr>
          <a:xfrm>
            <a:off x="7370064" y="1554480"/>
            <a:ext cx="1408176" cy="393192"/>
          </a:xfrm>
          <a:prstGeom prst="rect">
            <a:avLst/>
          </a:prstGeom>
          <a:noFill/>
          <a:ln/>
        </p:spPr>
        <p:txBody>
          <a:bodyPr wrap="square" lIns="0" tIns="0" rIns="0" bIns="0" rtlCol="0" anchor="ctr"/>
          <a:lstStyle/>
          <a:p>
            <a:pPr indent="0" marL="0">
              <a:buNone/>
            </a:pPr>
            <a:r>
              <a:rPr lang="en-US" sz="900" dirty="0">
                <a:solidFill>
                  <a:srgbClr val="9A3412"/>
                </a:solidFill>
                <a:latin typeface="Calibri" pitchFamily="34" charset="0"/>
                <a:ea typeface="Calibri" pitchFamily="34" charset="-122"/>
                <a:cs typeface="Calibri" pitchFamily="34" charset="-120"/>
              </a:rPr>
              <a:t>Devin</a:t>
            </a:r>
            <a:endParaRPr lang="en-US" sz="900" dirty="0"/>
          </a:p>
        </p:txBody>
      </p:sp>
      <p:sp>
        <p:nvSpPr>
          <p:cNvPr id="30" name="Shape 28"/>
          <p:cNvSpPr/>
          <p:nvPr/>
        </p:nvSpPr>
        <p:spPr>
          <a:xfrm>
            <a:off x="274320" y="1947672"/>
            <a:ext cx="1828800" cy="393192"/>
          </a:xfrm>
          <a:prstGeom prst="rect">
            <a:avLst/>
          </a:prstGeom>
          <a:solidFill>
            <a:srgbClr val="FFFFFF"/>
          </a:solidFill>
          <a:ln w="3810">
            <a:solidFill>
              <a:srgbClr val="E2E8F0"/>
            </a:solidFill>
            <a:prstDash val="solid"/>
          </a:ln>
        </p:spPr>
      </p:sp>
      <p:sp>
        <p:nvSpPr>
          <p:cNvPr id="31" name="Text 29"/>
          <p:cNvSpPr/>
          <p:nvPr/>
        </p:nvSpPr>
        <p:spPr>
          <a:xfrm>
            <a:off x="329184" y="1947672"/>
            <a:ext cx="1755648" cy="393192"/>
          </a:xfrm>
          <a:prstGeom prst="rect">
            <a:avLst/>
          </a:prstGeom>
          <a:noFill/>
          <a:ln/>
        </p:spPr>
        <p:txBody>
          <a:bodyPr wrap="square" lIns="0" tIns="0" rIns="0" bIns="0" rtlCol="0" anchor="ctr"/>
          <a:lstStyle/>
          <a:p>
            <a:pPr indent="0" marL="0">
              <a:buNone/>
            </a:pPr>
            <a:r>
              <a:rPr lang="en-US" sz="900" b="1" dirty="0">
                <a:solidFill>
                  <a:srgbClr val="0D1117"/>
                </a:solidFill>
                <a:latin typeface="Calibri" pitchFamily="34" charset="0"/>
                <a:ea typeface="Calibri" pitchFamily="34" charset="-122"/>
                <a:cs typeface="Calibri" pitchFamily="34" charset="-120"/>
              </a:rPr>
              <a:t>Agent Workflow</a:t>
            </a:r>
            <a:endParaRPr lang="en-US" sz="900" dirty="0"/>
          </a:p>
        </p:txBody>
      </p:sp>
      <p:sp>
        <p:nvSpPr>
          <p:cNvPr id="32" name="Shape 30"/>
          <p:cNvSpPr/>
          <p:nvPr/>
        </p:nvSpPr>
        <p:spPr>
          <a:xfrm>
            <a:off x="2103120" y="1947672"/>
            <a:ext cx="2606040" cy="393192"/>
          </a:xfrm>
          <a:prstGeom prst="rect">
            <a:avLst/>
          </a:prstGeom>
          <a:solidFill>
            <a:srgbClr val="FFFFFF"/>
          </a:solidFill>
          <a:ln w="3810">
            <a:solidFill>
              <a:srgbClr val="E2E8F0"/>
            </a:solidFill>
            <a:prstDash val="solid"/>
          </a:ln>
        </p:spPr>
      </p:sp>
      <p:sp>
        <p:nvSpPr>
          <p:cNvPr id="33" name="Text 31"/>
          <p:cNvSpPr/>
          <p:nvPr/>
        </p:nvSpPr>
        <p:spPr>
          <a:xfrm>
            <a:off x="2157984" y="1947672"/>
            <a:ext cx="2532888" cy="393192"/>
          </a:xfrm>
          <a:prstGeom prst="rect">
            <a:avLst/>
          </a:prstGeom>
          <a:noFill/>
          <a:ln/>
        </p:spPr>
        <p:txBody>
          <a:bodyPr wrap="square" lIns="0" tIns="0" rIns="0" bIns="0" rtlCol="0" anchor="ctr"/>
          <a:lstStyle/>
          <a:p>
            <a:pPr indent="0" marL="0">
              <a:buNone/>
            </a:pPr>
            <a:r>
              <a:rPr lang="en-US" sz="900" dirty="0">
                <a:solidFill>
                  <a:srgbClr val="0D1117"/>
                </a:solidFill>
                <a:latin typeface="Calibri" pitchFamily="34" charset="0"/>
                <a:ea typeface="Calibri" pitchFamily="34" charset="-122"/>
                <a:cs typeface="Calibri" pitchFamily="34" charset="-120"/>
              </a:rPr>
              <a:t>Fixed chain, file-backed packets, strict gates</a:t>
            </a:r>
            <a:endParaRPr lang="en-US" sz="900" dirty="0"/>
          </a:p>
        </p:txBody>
      </p:sp>
      <p:sp>
        <p:nvSpPr>
          <p:cNvPr id="34" name="Shape 32"/>
          <p:cNvSpPr/>
          <p:nvPr/>
        </p:nvSpPr>
        <p:spPr>
          <a:xfrm>
            <a:off x="4709160" y="1947672"/>
            <a:ext cx="2606040" cy="393192"/>
          </a:xfrm>
          <a:prstGeom prst="rect">
            <a:avLst/>
          </a:prstGeom>
          <a:solidFill>
            <a:srgbClr val="FFFFFF"/>
          </a:solidFill>
          <a:ln w="3810">
            <a:solidFill>
              <a:srgbClr val="E2E8F0"/>
            </a:solidFill>
            <a:prstDash val="solid"/>
          </a:ln>
        </p:spPr>
      </p:sp>
      <p:sp>
        <p:nvSpPr>
          <p:cNvPr id="35" name="Text 33"/>
          <p:cNvSpPr/>
          <p:nvPr/>
        </p:nvSpPr>
        <p:spPr>
          <a:xfrm>
            <a:off x="4764024" y="1947672"/>
            <a:ext cx="2532888" cy="393192"/>
          </a:xfrm>
          <a:prstGeom prst="rect">
            <a:avLst/>
          </a:prstGeom>
          <a:noFill/>
          <a:ln/>
        </p:spPr>
        <p:txBody>
          <a:bodyPr wrap="square" lIns="0" tIns="0" rIns="0" bIns="0" rtlCol="0" anchor="ctr"/>
          <a:lstStyle/>
          <a:p>
            <a:pPr indent="0" marL="0">
              <a:buNone/>
            </a:pPr>
            <a:r>
              <a:rPr lang="en-US" sz="900" dirty="0">
                <a:solidFill>
                  <a:srgbClr val="0D1117"/>
                </a:solidFill>
                <a:latin typeface="Calibri" pitchFamily="34" charset="0"/>
                <a:ea typeface="Calibri" pitchFamily="34" charset="-122"/>
                <a:cs typeface="Calibri" pitchFamily="34" charset="-120"/>
              </a:rPr>
              <a:t>Dynamic replanning, MultiDevin, parallel child agents</a:t>
            </a:r>
            <a:endParaRPr lang="en-US" sz="900" dirty="0"/>
          </a:p>
        </p:txBody>
      </p:sp>
      <p:sp>
        <p:nvSpPr>
          <p:cNvPr id="36" name="Shape 34"/>
          <p:cNvSpPr/>
          <p:nvPr/>
        </p:nvSpPr>
        <p:spPr>
          <a:xfrm>
            <a:off x="7315200" y="1947672"/>
            <a:ext cx="1481328" cy="393192"/>
          </a:xfrm>
          <a:prstGeom prst="rect">
            <a:avLst/>
          </a:prstGeom>
          <a:solidFill>
            <a:srgbClr val="FFF7ED"/>
          </a:solidFill>
          <a:ln w="3810">
            <a:solidFill>
              <a:srgbClr val="E2E8F0"/>
            </a:solidFill>
            <a:prstDash val="solid"/>
          </a:ln>
        </p:spPr>
      </p:sp>
      <p:sp>
        <p:nvSpPr>
          <p:cNvPr id="37" name="Text 35"/>
          <p:cNvSpPr/>
          <p:nvPr/>
        </p:nvSpPr>
        <p:spPr>
          <a:xfrm>
            <a:off x="7370064" y="1947672"/>
            <a:ext cx="1408176" cy="393192"/>
          </a:xfrm>
          <a:prstGeom prst="rect">
            <a:avLst/>
          </a:prstGeom>
          <a:noFill/>
          <a:ln/>
        </p:spPr>
        <p:txBody>
          <a:bodyPr wrap="square" lIns="0" tIns="0" rIns="0" bIns="0" rtlCol="0" anchor="ctr"/>
          <a:lstStyle/>
          <a:p>
            <a:pPr indent="0" marL="0">
              <a:buNone/>
            </a:pPr>
            <a:r>
              <a:rPr lang="en-US" sz="900" dirty="0">
                <a:solidFill>
                  <a:srgbClr val="9A3412"/>
                </a:solidFill>
                <a:latin typeface="Calibri" pitchFamily="34" charset="0"/>
                <a:ea typeface="Calibri" pitchFamily="34" charset="-122"/>
                <a:cs typeface="Calibri" pitchFamily="34" charset="-120"/>
              </a:rPr>
              <a:t>Devin</a:t>
            </a:r>
            <a:endParaRPr lang="en-US" sz="900" dirty="0"/>
          </a:p>
        </p:txBody>
      </p:sp>
      <p:sp>
        <p:nvSpPr>
          <p:cNvPr id="38" name="Shape 36"/>
          <p:cNvSpPr/>
          <p:nvPr/>
        </p:nvSpPr>
        <p:spPr>
          <a:xfrm>
            <a:off x="274320" y="2340864"/>
            <a:ext cx="1828800" cy="393192"/>
          </a:xfrm>
          <a:prstGeom prst="rect">
            <a:avLst/>
          </a:prstGeom>
          <a:solidFill>
            <a:srgbClr val="F8FAFC"/>
          </a:solidFill>
          <a:ln w="3810">
            <a:solidFill>
              <a:srgbClr val="E2E8F0"/>
            </a:solidFill>
            <a:prstDash val="solid"/>
          </a:ln>
        </p:spPr>
      </p:sp>
      <p:sp>
        <p:nvSpPr>
          <p:cNvPr id="39" name="Text 37"/>
          <p:cNvSpPr/>
          <p:nvPr/>
        </p:nvSpPr>
        <p:spPr>
          <a:xfrm>
            <a:off x="329184" y="2340864"/>
            <a:ext cx="1755648" cy="393192"/>
          </a:xfrm>
          <a:prstGeom prst="rect">
            <a:avLst/>
          </a:prstGeom>
          <a:noFill/>
          <a:ln/>
        </p:spPr>
        <p:txBody>
          <a:bodyPr wrap="square" lIns="0" tIns="0" rIns="0" bIns="0" rtlCol="0" anchor="ctr"/>
          <a:lstStyle/>
          <a:p>
            <a:pPr indent="0" marL="0">
              <a:buNone/>
            </a:pPr>
            <a:r>
              <a:rPr lang="en-US" sz="900" b="1" dirty="0">
                <a:solidFill>
                  <a:srgbClr val="0D1117"/>
                </a:solidFill>
                <a:latin typeface="Calibri" pitchFamily="34" charset="0"/>
                <a:ea typeface="Calibri" pitchFamily="34" charset="-122"/>
                <a:cs typeface="Calibri" pitchFamily="34" charset="-120"/>
              </a:rPr>
              <a:t>IDE Integration</a:t>
            </a:r>
            <a:endParaRPr lang="en-US" sz="900" dirty="0"/>
          </a:p>
        </p:txBody>
      </p:sp>
      <p:sp>
        <p:nvSpPr>
          <p:cNvPr id="40" name="Shape 38"/>
          <p:cNvSpPr/>
          <p:nvPr/>
        </p:nvSpPr>
        <p:spPr>
          <a:xfrm>
            <a:off x="2103120" y="2340864"/>
            <a:ext cx="2606040" cy="393192"/>
          </a:xfrm>
          <a:prstGeom prst="rect">
            <a:avLst/>
          </a:prstGeom>
          <a:solidFill>
            <a:srgbClr val="F8FAFC"/>
          </a:solidFill>
          <a:ln w="3810">
            <a:solidFill>
              <a:srgbClr val="E2E8F0"/>
            </a:solidFill>
            <a:prstDash val="solid"/>
          </a:ln>
        </p:spPr>
      </p:sp>
      <p:sp>
        <p:nvSpPr>
          <p:cNvPr id="41" name="Text 39"/>
          <p:cNvSpPr/>
          <p:nvPr/>
        </p:nvSpPr>
        <p:spPr>
          <a:xfrm>
            <a:off x="2157984" y="2340864"/>
            <a:ext cx="2532888" cy="393192"/>
          </a:xfrm>
          <a:prstGeom prst="rect">
            <a:avLst/>
          </a:prstGeom>
          <a:noFill/>
          <a:ln/>
        </p:spPr>
        <p:txBody>
          <a:bodyPr wrap="square" lIns="0" tIns="0" rIns="0" bIns="0" rtlCol="0" anchor="ctr"/>
          <a:lstStyle/>
          <a:p>
            <a:pPr indent="0" marL="0">
              <a:buNone/>
            </a:pPr>
            <a:r>
              <a:rPr lang="en-US" sz="900" dirty="0">
                <a:solidFill>
                  <a:srgbClr val="0D1117"/>
                </a:solidFill>
                <a:latin typeface="Calibri" pitchFamily="34" charset="0"/>
                <a:ea typeface="Calibri" pitchFamily="34" charset="-122"/>
                <a:cs typeface="Calibri" pitchFamily="34" charset="-120"/>
              </a:rPr>
              <a:t>Deep Cursor hooks on every turn; rules + subagents</a:t>
            </a:r>
            <a:endParaRPr lang="en-US" sz="900" dirty="0"/>
          </a:p>
        </p:txBody>
      </p:sp>
      <p:sp>
        <p:nvSpPr>
          <p:cNvPr id="42" name="Shape 40"/>
          <p:cNvSpPr/>
          <p:nvPr/>
        </p:nvSpPr>
        <p:spPr>
          <a:xfrm>
            <a:off x="4709160" y="2340864"/>
            <a:ext cx="2606040" cy="393192"/>
          </a:xfrm>
          <a:prstGeom prst="rect">
            <a:avLst/>
          </a:prstGeom>
          <a:solidFill>
            <a:srgbClr val="F8FAFC"/>
          </a:solidFill>
          <a:ln w="3810">
            <a:solidFill>
              <a:srgbClr val="E2E8F0"/>
            </a:solidFill>
            <a:prstDash val="solid"/>
          </a:ln>
        </p:spPr>
      </p:sp>
      <p:sp>
        <p:nvSpPr>
          <p:cNvPr id="43" name="Text 41"/>
          <p:cNvSpPr/>
          <p:nvPr/>
        </p:nvSpPr>
        <p:spPr>
          <a:xfrm>
            <a:off x="4764024" y="2340864"/>
            <a:ext cx="2532888" cy="393192"/>
          </a:xfrm>
          <a:prstGeom prst="rect">
            <a:avLst/>
          </a:prstGeom>
          <a:noFill/>
          <a:ln/>
        </p:spPr>
        <p:txBody>
          <a:bodyPr wrap="square" lIns="0" tIns="0" rIns="0" bIns="0" rtlCol="0" anchor="ctr"/>
          <a:lstStyle/>
          <a:p>
            <a:pPr indent="0" marL="0">
              <a:buNone/>
            </a:pPr>
            <a:r>
              <a:rPr lang="en-US" sz="900" dirty="0">
                <a:solidFill>
                  <a:srgbClr val="0D1117"/>
                </a:solidFill>
                <a:latin typeface="Calibri" pitchFamily="34" charset="0"/>
                <a:ea typeface="Calibri" pitchFamily="34" charset="-122"/>
                <a:cs typeface="Calibri" pitchFamily="34" charset="-120"/>
              </a:rPr>
              <a:t>GitHub/Slack/Linear — runs in own sandbox</a:t>
            </a:r>
            <a:endParaRPr lang="en-US" sz="900" dirty="0"/>
          </a:p>
        </p:txBody>
      </p:sp>
      <p:sp>
        <p:nvSpPr>
          <p:cNvPr id="44" name="Shape 42"/>
          <p:cNvSpPr/>
          <p:nvPr/>
        </p:nvSpPr>
        <p:spPr>
          <a:xfrm>
            <a:off x="7315200" y="2340864"/>
            <a:ext cx="1481328" cy="393192"/>
          </a:xfrm>
          <a:prstGeom prst="rect">
            <a:avLst/>
          </a:prstGeom>
          <a:solidFill>
            <a:srgbClr val="ECFDF5"/>
          </a:solidFill>
          <a:ln w="3810">
            <a:solidFill>
              <a:srgbClr val="E2E8F0"/>
            </a:solidFill>
            <a:prstDash val="solid"/>
          </a:ln>
        </p:spPr>
      </p:sp>
      <p:sp>
        <p:nvSpPr>
          <p:cNvPr id="45" name="Text 43"/>
          <p:cNvSpPr/>
          <p:nvPr/>
        </p:nvSpPr>
        <p:spPr>
          <a:xfrm>
            <a:off x="7370064" y="2340864"/>
            <a:ext cx="1408176" cy="393192"/>
          </a:xfrm>
          <a:prstGeom prst="rect">
            <a:avLst/>
          </a:prstGeom>
          <a:noFill/>
          <a:ln/>
        </p:spPr>
        <p:txBody>
          <a:bodyPr wrap="square" lIns="0" tIns="0" rIns="0" bIns="0" rtlCol="0" anchor="ctr"/>
          <a:lstStyle/>
          <a:p>
            <a:pPr indent="0" marL="0">
              <a:buNone/>
            </a:pPr>
            <a:r>
              <a:rPr lang="en-US" sz="900" dirty="0">
                <a:solidFill>
                  <a:srgbClr val="065F46"/>
                </a:solidFill>
                <a:latin typeface="Calibri" pitchFamily="34" charset="0"/>
                <a:ea typeface="Calibri" pitchFamily="34" charset="-122"/>
                <a:cs typeface="Calibri" pitchFamily="34" charset="-120"/>
              </a:rPr>
              <a:t>Canon</a:t>
            </a:r>
            <a:endParaRPr lang="en-US" sz="900" dirty="0"/>
          </a:p>
        </p:txBody>
      </p:sp>
      <p:sp>
        <p:nvSpPr>
          <p:cNvPr id="46" name="Shape 44"/>
          <p:cNvSpPr/>
          <p:nvPr/>
        </p:nvSpPr>
        <p:spPr>
          <a:xfrm>
            <a:off x="274320" y="2734056"/>
            <a:ext cx="1828800" cy="393192"/>
          </a:xfrm>
          <a:prstGeom prst="rect">
            <a:avLst/>
          </a:prstGeom>
          <a:solidFill>
            <a:srgbClr val="FFFFFF"/>
          </a:solidFill>
          <a:ln w="3810">
            <a:solidFill>
              <a:srgbClr val="E2E8F0"/>
            </a:solidFill>
            <a:prstDash val="solid"/>
          </a:ln>
        </p:spPr>
      </p:sp>
      <p:sp>
        <p:nvSpPr>
          <p:cNvPr id="47" name="Text 45"/>
          <p:cNvSpPr/>
          <p:nvPr/>
        </p:nvSpPr>
        <p:spPr>
          <a:xfrm>
            <a:off x="329184" y="2734056"/>
            <a:ext cx="1755648" cy="393192"/>
          </a:xfrm>
          <a:prstGeom prst="rect">
            <a:avLst/>
          </a:prstGeom>
          <a:noFill/>
          <a:ln/>
        </p:spPr>
        <p:txBody>
          <a:bodyPr wrap="square" lIns="0" tIns="0" rIns="0" bIns="0" rtlCol="0" anchor="ctr"/>
          <a:lstStyle/>
          <a:p>
            <a:pPr indent="0" marL="0">
              <a:buNone/>
            </a:pPr>
            <a:r>
              <a:rPr lang="en-US" sz="900" b="1" dirty="0">
                <a:solidFill>
                  <a:srgbClr val="0D1117"/>
                </a:solidFill>
                <a:latin typeface="Calibri" pitchFamily="34" charset="0"/>
                <a:ea typeface="Calibri" pitchFamily="34" charset="-122"/>
                <a:cs typeface="Calibri" pitchFamily="34" charset="-120"/>
              </a:rPr>
              <a:t>Control &amp; Data</a:t>
            </a:r>
            <a:endParaRPr lang="en-US" sz="900" dirty="0"/>
          </a:p>
        </p:txBody>
      </p:sp>
      <p:sp>
        <p:nvSpPr>
          <p:cNvPr id="48" name="Shape 46"/>
          <p:cNvSpPr/>
          <p:nvPr/>
        </p:nvSpPr>
        <p:spPr>
          <a:xfrm>
            <a:off x="2103120" y="2734056"/>
            <a:ext cx="2606040" cy="393192"/>
          </a:xfrm>
          <a:prstGeom prst="rect">
            <a:avLst/>
          </a:prstGeom>
          <a:solidFill>
            <a:srgbClr val="FFFFFF"/>
          </a:solidFill>
          <a:ln w="3810">
            <a:solidFill>
              <a:srgbClr val="E2E8F0"/>
            </a:solidFill>
            <a:prstDash val="solid"/>
          </a:ln>
        </p:spPr>
      </p:sp>
      <p:sp>
        <p:nvSpPr>
          <p:cNvPr id="49" name="Text 47"/>
          <p:cNvSpPr/>
          <p:nvPr/>
        </p:nvSpPr>
        <p:spPr>
          <a:xfrm>
            <a:off x="2157984" y="2734056"/>
            <a:ext cx="2532888" cy="393192"/>
          </a:xfrm>
          <a:prstGeom prst="rect">
            <a:avLst/>
          </a:prstGeom>
          <a:noFill/>
          <a:ln/>
        </p:spPr>
        <p:txBody>
          <a:bodyPr wrap="square" lIns="0" tIns="0" rIns="0" bIns="0" rtlCol="0" anchor="ctr"/>
          <a:lstStyle/>
          <a:p>
            <a:pPr indent="0" marL="0">
              <a:buNone/>
            </a:pPr>
            <a:r>
              <a:rPr lang="en-US" sz="900" dirty="0">
                <a:solidFill>
                  <a:srgbClr val="0D1117"/>
                </a:solidFill>
                <a:latin typeface="Calibri" pitchFamily="34" charset="0"/>
                <a:ea typeface="Calibri" pitchFamily="34" charset="-122"/>
                <a:cs typeface="Calibri" pitchFamily="34" charset="-120"/>
              </a:rPr>
              <a:t>Full AWS ownership: secrets, memory, audit trail</a:t>
            </a:r>
            <a:endParaRPr lang="en-US" sz="900" dirty="0"/>
          </a:p>
        </p:txBody>
      </p:sp>
      <p:sp>
        <p:nvSpPr>
          <p:cNvPr id="50" name="Shape 48"/>
          <p:cNvSpPr/>
          <p:nvPr/>
        </p:nvSpPr>
        <p:spPr>
          <a:xfrm>
            <a:off x="4709160" y="2734056"/>
            <a:ext cx="2606040" cy="393192"/>
          </a:xfrm>
          <a:prstGeom prst="rect">
            <a:avLst/>
          </a:prstGeom>
          <a:solidFill>
            <a:srgbClr val="FFFFFF"/>
          </a:solidFill>
          <a:ln w="3810">
            <a:solidFill>
              <a:srgbClr val="E2E8F0"/>
            </a:solidFill>
            <a:prstDash val="solid"/>
          </a:ln>
        </p:spPr>
      </p:sp>
      <p:sp>
        <p:nvSpPr>
          <p:cNvPr id="51" name="Text 49"/>
          <p:cNvSpPr/>
          <p:nvPr/>
        </p:nvSpPr>
        <p:spPr>
          <a:xfrm>
            <a:off x="4764024" y="2734056"/>
            <a:ext cx="2532888" cy="393192"/>
          </a:xfrm>
          <a:prstGeom prst="rect">
            <a:avLst/>
          </a:prstGeom>
          <a:noFill/>
          <a:ln/>
        </p:spPr>
        <p:txBody>
          <a:bodyPr wrap="square" lIns="0" tIns="0" rIns="0" bIns="0" rtlCol="0" anchor="ctr"/>
          <a:lstStyle/>
          <a:p>
            <a:pPr indent="0" marL="0">
              <a:buNone/>
            </a:pPr>
            <a:r>
              <a:rPr lang="en-US" sz="900" dirty="0">
                <a:solidFill>
                  <a:srgbClr val="0D1117"/>
                </a:solidFill>
                <a:latin typeface="Calibri" pitchFamily="34" charset="0"/>
                <a:ea typeface="Calibri" pitchFamily="34" charset="-122"/>
                <a:cs typeface="Calibri" pitchFamily="34" charset="-120"/>
              </a:rPr>
              <a:t>SaaS-first. Enterprise VPC still managed by Cognition</a:t>
            </a:r>
            <a:endParaRPr lang="en-US" sz="900" dirty="0"/>
          </a:p>
        </p:txBody>
      </p:sp>
      <p:sp>
        <p:nvSpPr>
          <p:cNvPr id="52" name="Shape 50"/>
          <p:cNvSpPr/>
          <p:nvPr/>
        </p:nvSpPr>
        <p:spPr>
          <a:xfrm>
            <a:off x="7315200" y="2734056"/>
            <a:ext cx="1481328" cy="393192"/>
          </a:xfrm>
          <a:prstGeom prst="rect">
            <a:avLst/>
          </a:prstGeom>
          <a:solidFill>
            <a:srgbClr val="ECFDF5"/>
          </a:solidFill>
          <a:ln w="3810">
            <a:solidFill>
              <a:srgbClr val="E2E8F0"/>
            </a:solidFill>
            <a:prstDash val="solid"/>
          </a:ln>
        </p:spPr>
      </p:sp>
      <p:sp>
        <p:nvSpPr>
          <p:cNvPr id="53" name="Text 51"/>
          <p:cNvSpPr/>
          <p:nvPr/>
        </p:nvSpPr>
        <p:spPr>
          <a:xfrm>
            <a:off x="7370064" y="2734056"/>
            <a:ext cx="1408176" cy="393192"/>
          </a:xfrm>
          <a:prstGeom prst="rect">
            <a:avLst/>
          </a:prstGeom>
          <a:noFill/>
          <a:ln/>
        </p:spPr>
        <p:txBody>
          <a:bodyPr wrap="square" lIns="0" tIns="0" rIns="0" bIns="0" rtlCol="0" anchor="ctr"/>
          <a:lstStyle/>
          <a:p>
            <a:pPr indent="0" marL="0">
              <a:buNone/>
            </a:pPr>
            <a:r>
              <a:rPr lang="en-US" sz="900" dirty="0">
                <a:solidFill>
                  <a:srgbClr val="065F46"/>
                </a:solidFill>
                <a:latin typeface="Calibri" pitchFamily="34" charset="0"/>
                <a:ea typeface="Calibri" pitchFamily="34" charset="-122"/>
                <a:cs typeface="Calibri" pitchFamily="34" charset="-120"/>
              </a:rPr>
              <a:t>Canon</a:t>
            </a:r>
            <a:endParaRPr lang="en-US" sz="900" dirty="0"/>
          </a:p>
        </p:txBody>
      </p:sp>
      <p:sp>
        <p:nvSpPr>
          <p:cNvPr id="54" name="Shape 52"/>
          <p:cNvSpPr/>
          <p:nvPr/>
        </p:nvSpPr>
        <p:spPr>
          <a:xfrm>
            <a:off x="274320" y="3127248"/>
            <a:ext cx="1828800" cy="393192"/>
          </a:xfrm>
          <a:prstGeom prst="rect">
            <a:avLst/>
          </a:prstGeom>
          <a:solidFill>
            <a:srgbClr val="F8FAFC"/>
          </a:solidFill>
          <a:ln w="3810">
            <a:solidFill>
              <a:srgbClr val="E2E8F0"/>
            </a:solidFill>
            <a:prstDash val="solid"/>
          </a:ln>
        </p:spPr>
      </p:sp>
      <p:sp>
        <p:nvSpPr>
          <p:cNvPr id="55" name="Text 53"/>
          <p:cNvSpPr/>
          <p:nvPr/>
        </p:nvSpPr>
        <p:spPr>
          <a:xfrm>
            <a:off x="329184" y="3127248"/>
            <a:ext cx="1755648" cy="393192"/>
          </a:xfrm>
          <a:prstGeom prst="rect">
            <a:avLst/>
          </a:prstGeom>
          <a:noFill/>
          <a:ln/>
        </p:spPr>
        <p:txBody>
          <a:bodyPr wrap="square" lIns="0" tIns="0" rIns="0" bIns="0" rtlCol="0" anchor="ctr"/>
          <a:lstStyle/>
          <a:p>
            <a:pPr indent="0" marL="0">
              <a:buNone/>
            </a:pPr>
            <a:r>
              <a:rPr lang="en-US" sz="900" b="1" dirty="0">
                <a:solidFill>
                  <a:srgbClr val="0D1117"/>
                </a:solidFill>
                <a:latin typeface="Calibri" pitchFamily="34" charset="0"/>
                <a:ea typeface="Calibri" pitchFamily="34" charset="-122"/>
                <a:cs typeface="Calibri" pitchFamily="34" charset="-120"/>
              </a:rPr>
              <a:t>Multi-repo / Org</a:t>
            </a:r>
            <a:endParaRPr lang="en-US" sz="900" dirty="0"/>
          </a:p>
        </p:txBody>
      </p:sp>
      <p:sp>
        <p:nvSpPr>
          <p:cNvPr id="56" name="Shape 54"/>
          <p:cNvSpPr/>
          <p:nvPr/>
        </p:nvSpPr>
        <p:spPr>
          <a:xfrm>
            <a:off x="2103120" y="3127248"/>
            <a:ext cx="2606040" cy="393192"/>
          </a:xfrm>
          <a:prstGeom prst="rect">
            <a:avLst/>
          </a:prstGeom>
          <a:solidFill>
            <a:srgbClr val="F8FAFC"/>
          </a:solidFill>
          <a:ln w="3810">
            <a:solidFill>
              <a:srgbClr val="E2E8F0"/>
            </a:solidFill>
            <a:prstDash val="solid"/>
          </a:ln>
        </p:spPr>
      </p:sp>
      <p:sp>
        <p:nvSpPr>
          <p:cNvPr id="57" name="Text 55"/>
          <p:cNvSpPr/>
          <p:nvPr/>
        </p:nvSpPr>
        <p:spPr>
          <a:xfrm>
            <a:off x="2157984" y="3127248"/>
            <a:ext cx="2532888" cy="393192"/>
          </a:xfrm>
          <a:prstGeom prst="rect">
            <a:avLst/>
          </a:prstGeom>
          <a:noFill/>
          <a:ln/>
        </p:spPr>
        <p:txBody>
          <a:bodyPr wrap="square" lIns="0" tIns="0" rIns="0" bIns="0" rtlCol="0" anchor="ctr"/>
          <a:lstStyle/>
          <a:p>
            <a:pPr indent="0" marL="0">
              <a:buNone/>
            </a:pPr>
            <a:r>
              <a:rPr lang="en-US" sz="900" dirty="0">
                <a:solidFill>
                  <a:srgbClr val="0D1117"/>
                </a:solidFill>
                <a:latin typeface="Calibri" pitchFamily="34" charset="0"/>
                <a:ea typeface="Calibri" pitchFamily="34" charset="-122"/>
                <a:cs typeface="Calibri" pitchFamily="34" charset="-120"/>
              </a:rPr>
              <a:t>First-class: same COMPANY_ID across all repos</a:t>
            </a:r>
            <a:endParaRPr lang="en-US" sz="900" dirty="0"/>
          </a:p>
        </p:txBody>
      </p:sp>
      <p:sp>
        <p:nvSpPr>
          <p:cNvPr id="58" name="Shape 56"/>
          <p:cNvSpPr/>
          <p:nvPr/>
        </p:nvSpPr>
        <p:spPr>
          <a:xfrm>
            <a:off x="4709160" y="3127248"/>
            <a:ext cx="2606040" cy="393192"/>
          </a:xfrm>
          <a:prstGeom prst="rect">
            <a:avLst/>
          </a:prstGeom>
          <a:solidFill>
            <a:srgbClr val="F8FAFC"/>
          </a:solidFill>
          <a:ln w="3810">
            <a:solidFill>
              <a:srgbClr val="E2E8F0"/>
            </a:solidFill>
            <a:prstDash val="solid"/>
          </a:ln>
        </p:spPr>
      </p:sp>
      <p:sp>
        <p:nvSpPr>
          <p:cNvPr id="59" name="Text 57"/>
          <p:cNvSpPr/>
          <p:nvPr/>
        </p:nvSpPr>
        <p:spPr>
          <a:xfrm>
            <a:off x="4764024" y="3127248"/>
            <a:ext cx="2532888" cy="393192"/>
          </a:xfrm>
          <a:prstGeom prst="rect">
            <a:avLst/>
          </a:prstGeom>
          <a:noFill/>
          <a:ln/>
        </p:spPr>
        <p:txBody>
          <a:bodyPr wrap="square" lIns="0" tIns="0" rIns="0" bIns="0" rtlCol="0" anchor="ctr"/>
          <a:lstStyle/>
          <a:p>
            <a:pPr indent="0" marL="0">
              <a:buNone/>
            </a:pPr>
            <a:r>
              <a:rPr lang="en-US" sz="900" dirty="0">
                <a:solidFill>
                  <a:srgbClr val="0D1117"/>
                </a:solidFill>
                <a:latin typeface="Calibri" pitchFamily="34" charset="0"/>
                <a:ea typeface="Calibri" pitchFamily="34" charset="-122"/>
                <a:cs typeface="Calibri" pitchFamily="34" charset="-120"/>
              </a:rPr>
              <a:t>Good via MultiDevin, less strict cross-repo scoping</a:t>
            </a:r>
            <a:endParaRPr lang="en-US" sz="900" dirty="0"/>
          </a:p>
        </p:txBody>
      </p:sp>
      <p:sp>
        <p:nvSpPr>
          <p:cNvPr id="60" name="Shape 58"/>
          <p:cNvSpPr/>
          <p:nvPr/>
        </p:nvSpPr>
        <p:spPr>
          <a:xfrm>
            <a:off x="7315200" y="3127248"/>
            <a:ext cx="1481328" cy="393192"/>
          </a:xfrm>
          <a:prstGeom prst="rect">
            <a:avLst/>
          </a:prstGeom>
          <a:solidFill>
            <a:srgbClr val="ECFDF5"/>
          </a:solidFill>
          <a:ln w="3810">
            <a:solidFill>
              <a:srgbClr val="E2E8F0"/>
            </a:solidFill>
            <a:prstDash val="solid"/>
          </a:ln>
        </p:spPr>
      </p:sp>
      <p:sp>
        <p:nvSpPr>
          <p:cNvPr id="61" name="Text 59"/>
          <p:cNvSpPr/>
          <p:nvPr/>
        </p:nvSpPr>
        <p:spPr>
          <a:xfrm>
            <a:off x="7370064" y="3127248"/>
            <a:ext cx="1408176" cy="393192"/>
          </a:xfrm>
          <a:prstGeom prst="rect">
            <a:avLst/>
          </a:prstGeom>
          <a:noFill/>
          <a:ln/>
        </p:spPr>
        <p:txBody>
          <a:bodyPr wrap="square" lIns="0" tIns="0" rIns="0" bIns="0" rtlCol="0" anchor="ctr"/>
          <a:lstStyle/>
          <a:p>
            <a:pPr indent="0" marL="0">
              <a:buNone/>
            </a:pPr>
            <a:r>
              <a:rPr lang="en-US" sz="900" dirty="0">
                <a:solidFill>
                  <a:srgbClr val="065F46"/>
                </a:solidFill>
                <a:latin typeface="Calibri" pitchFamily="34" charset="0"/>
                <a:ea typeface="Calibri" pitchFamily="34" charset="-122"/>
                <a:cs typeface="Calibri" pitchFamily="34" charset="-120"/>
              </a:rPr>
              <a:t>Canon</a:t>
            </a:r>
            <a:endParaRPr lang="en-US" sz="900" dirty="0"/>
          </a:p>
        </p:txBody>
      </p:sp>
      <p:sp>
        <p:nvSpPr>
          <p:cNvPr id="62" name="Shape 60"/>
          <p:cNvSpPr/>
          <p:nvPr/>
        </p:nvSpPr>
        <p:spPr>
          <a:xfrm>
            <a:off x="274320" y="3520440"/>
            <a:ext cx="1828800" cy="393192"/>
          </a:xfrm>
          <a:prstGeom prst="rect">
            <a:avLst/>
          </a:prstGeom>
          <a:solidFill>
            <a:srgbClr val="FFFFFF"/>
          </a:solidFill>
          <a:ln w="3810">
            <a:solidFill>
              <a:srgbClr val="E2E8F0"/>
            </a:solidFill>
            <a:prstDash val="solid"/>
          </a:ln>
        </p:spPr>
      </p:sp>
      <p:sp>
        <p:nvSpPr>
          <p:cNvPr id="63" name="Text 61"/>
          <p:cNvSpPr/>
          <p:nvPr/>
        </p:nvSpPr>
        <p:spPr>
          <a:xfrm>
            <a:off x="329184" y="3520440"/>
            <a:ext cx="1755648" cy="393192"/>
          </a:xfrm>
          <a:prstGeom prst="rect">
            <a:avLst/>
          </a:prstGeom>
          <a:noFill/>
          <a:ln/>
        </p:spPr>
        <p:txBody>
          <a:bodyPr wrap="square" lIns="0" tIns="0" rIns="0" bIns="0" rtlCol="0" anchor="ctr"/>
          <a:lstStyle/>
          <a:p>
            <a:pPr indent="0" marL="0">
              <a:buNone/>
            </a:pPr>
            <a:r>
              <a:rPr lang="en-US" sz="900" b="1" dirty="0">
                <a:solidFill>
                  <a:srgbClr val="0D1117"/>
                </a:solidFill>
                <a:latin typeface="Calibri" pitchFamily="34" charset="0"/>
                <a:ea typeface="Calibri" pitchFamily="34" charset="-122"/>
                <a:cs typeface="Calibri" pitchFamily="34" charset="-120"/>
              </a:rPr>
              <a:t>Governance &amp; QA</a:t>
            </a:r>
            <a:endParaRPr lang="en-US" sz="900" dirty="0"/>
          </a:p>
        </p:txBody>
      </p:sp>
      <p:sp>
        <p:nvSpPr>
          <p:cNvPr id="64" name="Shape 62"/>
          <p:cNvSpPr/>
          <p:nvPr/>
        </p:nvSpPr>
        <p:spPr>
          <a:xfrm>
            <a:off x="2103120" y="3520440"/>
            <a:ext cx="2606040" cy="393192"/>
          </a:xfrm>
          <a:prstGeom prst="rect">
            <a:avLst/>
          </a:prstGeom>
          <a:solidFill>
            <a:srgbClr val="FFFFFF"/>
          </a:solidFill>
          <a:ln w="3810">
            <a:solidFill>
              <a:srgbClr val="E2E8F0"/>
            </a:solidFill>
            <a:prstDash val="solid"/>
          </a:ln>
        </p:spPr>
      </p:sp>
      <p:sp>
        <p:nvSpPr>
          <p:cNvPr id="65" name="Text 63"/>
          <p:cNvSpPr/>
          <p:nvPr/>
        </p:nvSpPr>
        <p:spPr>
          <a:xfrm>
            <a:off x="2157984" y="3520440"/>
            <a:ext cx="2532888" cy="393192"/>
          </a:xfrm>
          <a:prstGeom prst="rect">
            <a:avLst/>
          </a:prstGeom>
          <a:noFill/>
          <a:ln/>
        </p:spPr>
        <p:txBody>
          <a:bodyPr wrap="square" lIns="0" tIns="0" rIns="0" bIns="0" rtlCol="0" anchor="ctr"/>
          <a:lstStyle/>
          <a:p>
            <a:pPr indent="0" marL="0">
              <a:buNone/>
            </a:pPr>
            <a:r>
              <a:rPr lang="en-US" sz="900" dirty="0">
                <a:solidFill>
                  <a:srgbClr val="0D1117"/>
                </a:solidFill>
                <a:latin typeface="Calibri" pitchFamily="34" charset="0"/>
                <a:ea typeface="Calibri" pitchFamily="34" charset="-122"/>
                <a:cs typeface="Calibri" pitchFamily="34" charset="-120"/>
              </a:rPr>
              <a:t>QA gates, flow-audit, DoR telemetry, packet quartet</a:t>
            </a:r>
            <a:endParaRPr lang="en-US" sz="900" dirty="0"/>
          </a:p>
        </p:txBody>
      </p:sp>
      <p:sp>
        <p:nvSpPr>
          <p:cNvPr id="66" name="Shape 64"/>
          <p:cNvSpPr/>
          <p:nvPr/>
        </p:nvSpPr>
        <p:spPr>
          <a:xfrm>
            <a:off x="4709160" y="3520440"/>
            <a:ext cx="2606040" cy="393192"/>
          </a:xfrm>
          <a:prstGeom prst="rect">
            <a:avLst/>
          </a:prstGeom>
          <a:solidFill>
            <a:srgbClr val="FFFFFF"/>
          </a:solidFill>
          <a:ln w="3810">
            <a:solidFill>
              <a:srgbClr val="E2E8F0"/>
            </a:solidFill>
            <a:prstDash val="solid"/>
          </a:ln>
        </p:spPr>
      </p:sp>
      <p:sp>
        <p:nvSpPr>
          <p:cNvPr id="67" name="Text 65"/>
          <p:cNvSpPr/>
          <p:nvPr/>
        </p:nvSpPr>
        <p:spPr>
          <a:xfrm>
            <a:off x="4764024" y="3520440"/>
            <a:ext cx="2532888" cy="393192"/>
          </a:xfrm>
          <a:prstGeom prst="rect">
            <a:avLst/>
          </a:prstGeom>
          <a:noFill/>
          <a:ln/>
        </p:spPr>
        <p:txBody>
          <a:bodyPr wrap="square" lIns="0" tIns="0" rIns="0" bIns="0" rtlCol="0" anchor="ctr"/>
          <a:lstStyle/>
          <a:p>
            <a:pPr indent="0" marL="0">
              <a:buNone/>
            </a:pPr>
            <a:r>
              <a:rPr lang="en-US" sz="900" dirty="0">
                <a:solidFill>
                  <a:srgbClr val="0D1117"/>
                </a:solidFill>
                <a:latin typeface="Calibri" pitchFamily="34" charset="0"/>
                <a:ea typeface="Calibri" pitchFamily="34" charset="-122"/>
                <a:cs typeface="Calibri" pitchFamily="34" charset="-120"/>
              </a:rPr>
              <a:t>PR review, audit logs in Enterprise, less rigid</a:t>
            </a:r>
            <a:endParaRPr lang="en-US" sz="900" dirty="0"/>
          </a:p>
        </p:txBody>
      </p:sp>
      <p:sp>
        <p:nvSpPr>
          <p:cNvPr id="68" name="Shape 66"/>
          <p:cNvSpPr/>
          <p:nvPr/>
        </p:nvSpPr>
        <p:spPr>
          <a:xfrm>
            <a:off x="7315200" y="3520440"/>
            <a:ext cx="1481328" cy="393192"/>
          </a:xfrm>
          <a:prstGeom prst="rect">
            <a:avLst/>
          </a:prstGeom>
          <a:solidFill>
            <a:srgbClr val="ECFDF5"/>
          </a:solidFill>
          <a:ln w="3810">
            <a:solidFill>
              <a:srgbClr val="E2E8F0"/>
            </a:solidFill>
            <a:prstDash val="solid"/>
          </a:ln>
        </p:spPr>
      </p:sp>
      <p:sp>
        <p:nvSpPr>
          <p:cNvPr id="69" name="Text 67"/>
          <p:cNvSpPr/>
          <p:nvPr/>
        </p:nvSpPr>
        <p:spPr>
          <a:xfrm>
            <a:off x="7370064" y="3520440"/>
            <a:ext cx="1408176" cy="393192"/>
          </a:xfrm>
          <a:prstGeom prst="rect">
            <a:avLst/>
          </a:prstGeom>
          <a:noFill/>
          <a:ln/>
        </p:spPr>
        <p:txBody>
          <a:bodyPr wrap="square" lIns="0" tIns="0" rIns="0" bIns="0" rtlCol="0" anchor="ctr"/>
          <a:lstStyle/>
          <a:p>
            <a:pPr indent="0" marL="0">
              <a:buNone/>
            </a:pPr>
            <a:r>
              <a:rPr lang="en-US" sz="900" dirty="0">
                <a:solidFill>
                  <a:srgbClr val="065F46"/>
                </a:solidFill>
                <a:latin typeface="Calibri" pitchFamily="34" charset="0"/>
                <a:ea typeface="Calibri" pitchFamily="34" charset="-122"/>
                <a:cs typeface="Calibri" pitchFamily="34" charset="-120"/>
              </a:rPr>
              <a:t>Canon</a:t>
            </a:r>
            <a:endParaRPr lang="en-US" sz="900" dirty="0"/>
          </a:p>
        </p:txBody>
      </p:sp>
      <p:sp>
        <p:nvSpPr>
          <p:cNvPr id="70" name="Shape 68"/>
          <p:cNvSpPr/>
          <p:nvPr/>
        </p:nvSpPr>
        <p:spPr>
          <a:xfrm>
            <a:off x="274320" y="3913632"/>
            <a:ext cx="1828800" cy="393192"/>
          </a:xfrm>
          <a:prstGeom prst="rect">
            <a:avLst/>
          </a:prstGeom>
          <a:solidFill>
            <a:srgbClr val="F8FAFC"/>
          </a:solidFill>
          <a:ln w="3810">
            <a:solidFill>
              <a:srgbClr val="E2E8F0"/>
            </a:solidFill>
            <a:prstDash val="solid"/>
          </a:ln>
        </p:spPr>
      </p:sp>
      <p:sp>
        <p:nvSpPr>
          <p:cNvPr id="71" name="Text 69"/>
          <p:cNvSpPr/>
          <p:nvPr/>
        </p:nvSpPr>
        <p:spPr>
          <a:xfrm>
            <a:off x="329184" y="3913632"/>
            <a:ext cx="1755648" cy="393192"/>
          </a:xfrm>
          <a:prstGeom prst="rect">
            <a:avLst/>
          </a:prstGeom>
          <a:noFill/>
          <a:ln/>
        </p:spPr>
        <p:txBody>
          <a:bodyPr wrap="square" lIns="0" tIns="0" rIns="0" bIns="0" rtlCol="0" anchor="ctr"/>
          <a:lstStyle/>
          <a:p>
            <a:pPr indent="0" marL="0">
              <a:buNone/>
            </a:pPr>
            <a:r>
              <a:rPr lang="en-US" sz="900" b="1" dirty="0">
                <a:solidFill>
                  <a:srgbClr val="0D1117"/>
                </a:solidFill>
                <a:latin typeface="Calibri" pitchFamily="34" charset="0"/>
                <a:ea typeface="Calibri" pitchFamily="34" charset="-122"/>
                <a:cs typeface="Calibri" pitchFamily="34" charset="-120"/>
              </a:rPr>
              <a:t>Autonomy Level</a:t>
            </a:r>
            <a:endParaRPr lang="en-US" sz="900" dirty="0"/>
          </a:p>
        </p:txBody>
      </p:sp>
      <p:sp>
        <p:nvSpPr>
          <p:cNvPr id="72" name="Shape 70"/>
          <p:cNvSpPr/>
          <p:nvPr/>
        </p:nvSpPr>
        <p:spPr>
          <a:xfrm>
            <a:off x="2103120" y="3913632"/>
            <a:ext cx="2606040" cy="393192"/>
          </a:xfrm>
          <a:prstGeom prst="rect">
            <a:avLst/>
          </a:prstGeom>
          <a:solidFill>
            <a:srgbClr val="F8FAFC"/>
          </a:solidFill>
          <a:ln w="3810">
            <a:solidFill>
              <a:srgbClr val="E2E8F0"/>
            </a:solidFill>
            <a:prstDash val="solid"/>
          </a:ln>
        </p:spPr>
      </p:sp>
      <p:sp>
        <p:nvSpPr>
          <p:cNvPr id="73" name="Text 71"/>
          <p:cNvSpPr/>
          <p:nvPr/>
        </p:nvSpPr>
        <p:spPr>
          <a:xfrm>
            <a:off x="2157984" y="3913632"/>
            <a:ext cx="2532888" cy="393192"/>
          </a:xfrm>
          <a:prstGeom prst="rect">
            <a:avLst/>
          </a:prstGeom>
          <a:noFill/>
          <a:ln/>
        </p:spPr>
        <p:txBody>
          <a:bodyPr wrap="square" lIns="0" tIns="0" rIns="0" bIns="0" rtlCol="0" anchor="ctr"/>
          <a:lstStyle/>
          <a:p>
            <a:pPr indent="0" marL="0">
              <a:buNone/>
            </a:pPr>
            <a:r>
              <a:rPr lang="en-US" sz="900" dirty="0">
                <a:solidFill>
                  <a:srgbClr val="0D1117"/>
                </a:solidFill>
                <a:latin typeface="Calibri" pitchFamily="34" charset="0"/>
                <a:ea typeface="Calibri" pitchFamily="34" charset="-122"/>
                <a:cs typeface="Calibri" pitchFamily="34" charset="-120"/>
              </a:rPr>
              <a:t>Human-in-the-loop with structured handoffs</a:t>
            </a:r>
            <a:endParaRPr lang="en-US" sz="900" dirty="0"/>
          </a:p>
        </p:txBody>
      </p:sp>
      <p:sp>
        <p:nvSpPr>
          <p:cNvPr id="74" name="Shape 72"/>
          <p:cNvSpPr/>
          <p:nvPr/>
        </p:nvSpPr>
        <p:spPr>
          <a:xfrm>
            <a:off x="4709160" y="3913632"/>
            <a:ext cx="2606040" cy="393192"/>
          </a:xfrm>
          <a:prstGeom prst="rect">
            <a:avLst/>
          </a:prstGeom>
          <a:solidFill>
            <a:srgbClr val="F8FAFC"/>
          </a:solidFill>
          <a:ln w="3810">
            <a:solidFill>
              <a:srgbClr val="E2E8F0"/>
            </a:solidFill>
            <a:prstDash val="solid"/>
          </a:ln>
        </p:spPr>
      </p:sp>
      <p:sp>
        <p:nvSpPr>
          <p:cNvPr id="75" name="Text 73"/>
          <p:cNvSpPr/>
          <p:nvPr/>
        </p:nvSpPr>
        <p:spPr>
          <a:xfrm>
            <a:off x="4764024" y="3913632"/>
            <a:ext cx="2532888" cy="393192"/>
          </a:xfrm>
          <a:prstGeom prst="rect">
            <a:avLst/>
          </a:prstGeom>
          <a:noFill/>
          <a:ln/>
        </p:spPr>
        <p:txBody>
          <a:bodyPr wrap="square" lIns="0" tIns="0" rIns="0" bIns="0" rtlCol="0" anchor="ctr"/>
          <a:lstStyle/>
          <a:p>
            <a:pPr indent="0" marL="0">
              <a:buNone/>
            </a:pPr>
            <a:r>
              <a:rPr lang="en-US" sz="900" dirty="0">
                <a:solidFill>
                  <a:srgbClr val="0D1117"/>
                </a:solidFill>
                <a:latin typeface="Calibri" pitchFamily="34" charset="0"/>
                <a:ea typeface="Calibri" pitchFamily="34" charset="-122"/>
                <a:cs typeface="Calibri" pitchFamily="34" charset="-120"/>
              </a:rPr>
              <a:t>Very high. Long tasks, minimal intervention, replanning</a:t>
            </a:r>
            <a:endParaRPr lang="en-US" sz="900" dirty="0"/>
          </a:p>
        </p:txBody>
      </p:sp>
      <p:sp>
        <p:nvSpPr>
          <p:cNvPr id="76" name="Shape 74"/>
          <p:cNvSpPr/>
          <p:nvPr/>
        </p:nvSpPr>
        <p:spPr>
          <a:xfrm>
            <a:off x="7315200" y="3913632"/>
            <a:ext cx="1481328" cy="393192"/>
          </a:xfrm>
          <a:prstGeom prst="rect">
            <a:avLst/>
          </a:prstGeom>
          <a:solidFill>
            <a:srgbClr val="FFF7ED"/>
          </a:solidFill>
          <a:ln w="3810">
            <a:solidFill>
              <a:srgbClr val="E2E8F0"/>
            </a:solidFill>
            <a:prstDash val="solid"/>
          </a:ln>
        </p:spPr>
      </p:sp>
      <p:sp>
        <p:nvSpPr>
          <p:cNvPr id="77" name="Text 75"/>
          <p:cNvSpPr/>
          <p:nvPr/>
        </p:nvSpPr>
        <p:spPr>
          <a:xfrm>
            <a:off x="7370064" y="3913632"/>
            <a:ext cx="1408176" cy="393192"/>
          </a:xfrm>
          <a:prstGeom prst="rect">
            <a:avLst/>
          </a:prstGeom>
          <a:noFill/>
          <a:ln/>
        </p:spPr>
        <p:txBody>
          <a:bodyPr wrap="square" lIns="0" tIns="0" rIns="0" bIns="0" rtlCol="0" anchor="ctr"/>
          <a:lstStyle/>
          <a:p>
            <a:pPr indent="0" marL="0">
              <a:buNone/>
            </a:pPr>
            <a:r>
              <a:rPr lang="en-US" sz="900" dirty="0">
                <a:solidFill>
                  <a:srgbClr val="9A3412"/>
                </a:solidFill>
                <a:latin typeface="Calibri" pitchFamily="34" charset="0"/>
                <a:ea typeface="Calibri" pitchFamily="34" charset="-122"/>
                <a:cs typeface="Calibri" pitchFamily="34" charset="-120"/>
              </a:rPr>
              <a:t>Devin</a:t>
            </a:r>
            <a:endParaRPr lang="en-US" sz="900" dirty="0"/>
          </a:p>
        </p:txBody>
      </p:sp>
      <p:sp>
        <p:nvSpPr>
          <p:cNvPr id="78" name="Shape 76"/>
          <p:cNvSpPr/>
          <p:nvPr/>
        </p:nvSpPr>
        <p:spPr>
          <a:xfrm>
            <a:off x="274320" y="4306824"/>
            <a:ext cx="1828800" cy="393192"/>
          </a:xfrm>
          <a:prstGeom prst="rect">
            <a:avLst/>
          </a:prstGeom>
          <a:solidFill>
            <a:srgbClr val="FFFFFF"/>
          </a:solidFill>
          <a:ln w="3810">
            <a:solidFill>
              <a:srgbClr val="E2E8F0"/>
            </a:solidFill>
            <a:prstDash val="solid"/>
          </a:ln>
        </p:spPr>
      </p:sp>
      <p:sp>
        <p:nvSpPr>
          <p:cNvPr id="79" name="Text 77"/>
          <p:cNvSpPr/>
          <p:nvPr/>
        </p:nvSpPr>
        <p:spPr>
          <a:xfrm>
            <a:off x="329184" y="4306824"/>
            <a:ext cx="1755648" cy="393192"/>
          </a:xfrm>
          <a:prstGeom prst="rect">
            <a:avLst/>
          </a:prstGeom>
          <a:noFill/>
          <a:ln/>
        </p:spPr>
        <p:txBody>
          <a:bodyPr wrap="square" lIns="0" tIns="0" rIns="0" bIns="0" rtlCol="0" anchor="ctr"/>
          <a:lstStyle/>
          <a:p>
            <a:pPr indent="0" marL="0">
              <a:buNone/>
            </a:pPr>
            <a:r>
              <a:rPr lang="en-US" sz="900" b="1" dirty="0">
                <a:solidFill>
                  <a:srgbClr val="0D1117"/>
                </a:solidFill>
                <a:latin typeface="Calibri" pitchFamily="34" charset="0"/>
                <a:ea typeface="Calibri" pitchFamily="34" charset="-122"/>
                <a:cs typeface="Calibri" pitchFamily="34" charset="-120"/>
              </a:rPr>
              <a:t>Cost Model</a:t>
            </a:r>
            <a:endParaRPr lang="en-US" sz="900" dirty="0"/>
          </a:p>
        </p:txBody>
      </p:sp>
      <p:sp>
        <p:nvSpPr>
          <p:cNvPr id="80" name="Shape 78"/>
          <p:cNvSpPr/>
          <p:nvPr/>
        </p:nvSpPr>
        <p:spPr>
          <a:xfrm>
            <a:off x="2103120" y="4306824"/>
            <a:ext cx="2606040" cy="393192"/>
          </a:xfrm>
          <a:prstGeom prst="rect">
            <a:avLst/>
          </a:prstGeom>
          <a:solidFill>
            <a:srgbClr val="FFFFFF"/>
          </a:solidFill>
          <a:ln w="3810">
            <a:solidFill>
              <a:srgbClr val="E2E8F0"/>
            </a:solidFill>
            <a:prstDash val="solid"/>
          </a:ln>
        </p:spPr>
      </p:sp>
      <p:sp>
        <p:nvSpPr>
          <p:cNvPr id="81" name="Text 79"/>
          <p:cNvSpPr/>
          <p:nvPr/>
        </p:nvSpPr>
        <p:spPr>
          <a:xfrm>
            <a:off x="2157984" y="4306824"/>
            <a:ext cx="2532888" cy="393192"/>
          </a:xfrm>
          <a:prstGeom prst="rect">
            <a:avLst/>
          </a:prstGeom>
          <a:noFill/>
          <a:ln/>
        </p:spPr>
        <p:txBody>
          <a:bodyPr wrap="square" lIns="0" tIns="0" rIns="0" bIns="0" rtlCol="0" anchor="ctr"/>
          <a:lstStyle/>
          <a:p>
            <a:pPr indent="0" marL="0">
              <a:buNone/>
            </a:pPr>
            <a:r>
              <a:rPr lang="en-US" sz="900" dirty="0">
                <a:solidFill>
                  <a:srgbClr val="0D1117"/>
                </a:solidFill>
                <a:latin typeface="Calibri" pitchFamily="34" charset="0"/>
                <a:ea typeface="Calibri" pitchFamily="34" charset="-122"/>
                <a:cs typeface="Calibri" pitchFamily="34" charset="-120"/>
              </a:rPr>
              <a:t>Self-hosted + AWS. Predictable at heavy use.</a:t>
            </a:r>
            <a:endParaRPr lang="en-US" sz="900" dirty="0"/>
          </a:p>
        </p:txBody>
      </p:sp>
      <p:sp>
        <p:nvSpPr>
          <p:cNvPr id="82" name="Shape 80"/>
          <p:cNvSpPr/>
          <p:nvPr/>
        </p:nvSpPr>
        <p:spPr>
          <a:xfrm>
            <a:off x="4709160" y="4306824"/>
            <a:ext cx="2606040" cy="393192"/>
          </a:xfrm>
          <a:prstGeom prst="rect">
            <a:avLst/>
          </a:prstGeom>
          <a:solidFill>
            <a:srgbClr val="FFFFFF"/>
          </a:solidFill>
          <a:ln w="3810">
            <a:solidFill>
              <a:srgbClr val="E2E8F0"/>
            </a:solidFill>
            <a:prstDash val="solid"/>
          </a:ln>
        </p:spPr>
      </p:sp>
      <p:sp>
        <p:nvSpPr>
          <p:cNvPr id="83" name="Text 81"/>
          <p:cNvSpPr/>
          <p:nvPr/>
        </p:nvSpPr>
        <p:spPr>
          <a:xfrm>
            <a:off x="4764024" y="4306824"/>
            <a:ext cx="2532888" cy="393192"/>
          </a:xfrm>
          <a:prstGeom prst="rect">
            <a:avLst/>
          </a:prstGeom>
          <a:noFill/>
          <a:ln/>
        </p:spPr>
        <p:txBody>
          <a:bodyPr wrap="square" lIns="0" tIns="0" rIns="0" bIns="0" rtlCol="0" anchor="ctr"/>
          <a:lstStyle/>
          <a:p>
            <a:pPr indent="0" marL="0">
              <a:buNone/>
            </a:pPr>
            <a:r>
              <a:rPr lang="en-US" sz="900" dirty="0">
                <a:solidFill>
                  <a:srgbClr val="0D1117"/>
                </a:solidFill>
                <a:latin typeface="Calibri" pitchFamily="34" charset="0"/>
                <a:ea typeface="Calibri" pitchFamily="34" charset="-122"/>
                <a:cs typeface="Calibri" pitchFamily="34" charset="-120"/>
              </a:rPr>
              <a:t>ACU-based. Can be expensive at scale.</a:t>
            </a:r>
            <a:endParaRPr lang="en-US" sz="900" dirty="0"/>
          </a:p>
        </p:txBody>
      </p:sp>
      <p:sp>
        <p:nvSpPr>
          <p:cNvPr id="84" name="Shape 82"/>
          <p:cNvSpPr/>
          <p:nvPr/>
        </p:nvSpPr>
        <p:spPr>
          <a:xfrm>
            <a:off x="7315200" y="4306824"/>
            <a:ext cx="1481328" cy="393192"/>
          </a:xfrm>
          <a:prstGeom prst="rect">
            <a:avLst/>
          </a:prstGeom>
          <a:solidFill>
            <a:srgbClr val="ECFDF5"/>
          </a:solidFill>
          <a:ln w="3810">
            <a:solidFill>
              <a:srgbClr val="E2E8F0"/>
            </a:solidFill>
            <a:prstDash val="solid"/>
          </a:ln>
        </p:spPr>
      </p:sp>
      <p:sp>
        <p:nvSpPr>
          <p:cNvPr id="85" name="Text 83"/>
          <p:cNvSpPr/>
          <p:nvPr/>
        </p:nvSpPr>
        <p:spPr>
          <a:xfrm>
            <a:off x="7370064" y="4306824"/>
            <a:ext cx="1408176" cy="393192"/>
          </a:xfrm>
          <a:prstGeom prst="rect">
            <a:avLst/>
          </a:prstGeom>
          <a:noFill/>
          <a:ln/>
        </p:spPr>
        <p:txBody>
          <a:bodyPr wrap="square" lIns="0" tIns="0" rIns="0" bIns="0" rtlCol="0" anchor="ctr"/>
          <a:lstStyle/>
          <a:p>
            <a:pPr indent="0" marL="0">
              <a:buNone/>
            </a:pPr>
            <a:r>
              <a:rPr lang="en-US" sz="900" dirty="0">
                <a:solidFill>
                  <a:srgbClr val="065F46"/>
                </a:solidFill>
                <a:latin typeface="Calibri" pitchFamily="34" charset="0"/>
                <a:ea typeface="Calibri" pitchFamily="34" charset="-122"/>
                <a:cs typeface="Calibri" pitchFamily="34" charset="-120"/>
              </a:rPr>
              <a:t>Canon (heavy)</a:t>
            </a:r>
            <a:endParaRPr lang="en-US" sz="900" dirty="0"/>
          </a:p>
        </p:txBody>
      </p:sp>
      <p:sp>
        <p:nvSpPr>
          <p:cNvPr id="86" name="Shape 84"/>
          <p:cNvSpPr/>
          <p:nvPr/>
        </p:nvSpPr>
        <p:spPr>
          <a:xfrm>
            <a:off x="274320" y="4700016"/>
            <a:ext cx="1828800" cy="393192"/>
          </a:xfrm>
          <a:prstGeom prst="rect">
            <a:avLst/>
          </a:prstGeom>
          <a:solidFill>
            <a:srgbClr val="F8FAFC"/>
          </a:solidFill>
          <a:ln w="3810">
            <a:solidFill>
              <a:srgbClr val="E2E8F0"/>
            </a:solidFill>
            <a:prstDash val="solid"/>
          </a:ln>
        </p:spPr>
      </p:sp>
      <p:sp>
        <p:nvSpPr>
          <p:cNvPr id="87" name="Text 85"/>
          <p:cNvSpPr/>
          <p:nvPr/>
        </p:nvSpPr>
        <p:spPr>
          <a:xfrm>
            <a:off x="329184" y="4700016"/>
            <a:ext cx="1755648" cy="393192"/>
          </a:xfrm>
          <a:prstGeom prst="rect">
            <a:avLst/>
          </a:prstGeom>
          <a:noFill/>
          <a:ln/>
        </p:spPr>
        <p:txBody>
          <a:bodyPr wrap="square" lIns="0" tIns="0" rIns="0" bIns="0" rtlCol="0" anchor="ctr"/>
          <a:lstStyle/>
          <a:p>
            <a:pPr indent="0" marL="0">
              <a:buNone/>
            </a:pPr>
            <a:r>
              <a:rPr lang="en-US" sz="900" b="1" dirty="0">
                <a:solidFill>
                  <a:srgbClr val="0D1117"/>
                </a:solidFill>
                <a:latin typeface="Calibri" pitchFamily="34" charset="0"/>
                <a:ea typeface="Calibri" pitchFamily="34" charset="-122"/>
                <a:cs typeface="Calibri" pitchFamily="34" charset="-120"/>
              </a:rPr>
              <a:t>Enterprise Polish</a:t>
            </a:r>
            <a:endParaRPr lang="en-US" sz="900" dirty="0"/>
          </a:p>
        </p:txBody>
      </p:sp>
      <p:sp>
        <p:nvSpPr>
          <p:cNvPr id="88" name="Shape 86"/>
          <p:cNvSpPr/>
          <p:nvPr/>
        </p:nvSpPr>
        <p:spPr>
          <a:xfrm>
            <a:off x="2103120" y="4700016"/>
            <a:ext cx="2606040" cy="393192"/>
          </a:xfrm>
          <a:prstGeom prst="rect">
            <a:avLst/>
          </a:prstGeom>
          <a:solidFill>
            <a:srgbClr val="F8FAFC"/>
          </a:solidFill>
          <a:ln w="3810">
            <a:solidFill>
              <a:srgbClr val="E2E8F0"/>
            </a:solidFill>
            <a:prstDash val="solid"/>
          </a:ln>
        </p:spPr>
      </p:sp>
      <p:sp>
        <p:nvSpPr>
          <p:cNvPr id="89" name="Text 87"/>
          <p:cNvSpPr/>
          <p:nvPr/>
        </p:nvSpPr>
        <p:spPr>
          <a:xfrm>
            <a:off x="2157984" y="4700016"/>
            <a:ext cx="2532888" cy="393192"/>
          </a:xfrm>
          <a:prstGeom prst="rect">
            <a:avLst/>
          </a:prstGeom>
          <a:noFill/>
          <a:ln/>
        </p:spPr>
        <p:txBody>
          <a:bodyPr wrap="square" lIns="0" tIns="0" rIns="0" bIns="0" rtlCol="0" anchor="ctr"/>
          <a:lstStyle/>
          <a:p>
            <a:pPr indent="0" marL="0">
              <a:buNone/>
            </a:pPr>
            <a:r>
              <a:rPr lang="en-US" sz="900" dirty="0">
                <a:solidFill>
                  <a:srgbClr val="0D1117"/>
                </a:solidFill>
                <a:latin typeface="Calibri" pitchFamily="34" charset="0"/>
                <a:ea typeface="Calibri" pitchFamily="34" charset="-122"/>
                <a:cs typeface="Calibri" pitchFamily="34" charset="-120"/>
              </a:rPr>
              <a:t>Strong for Canon-native teams</a:t>
            </a:r>
            <a:endParaRPr lang="en-US" sz="900" dirty="0"/>
          </a:p>
        </p:txBody>
      </p:sp>
      <p:sp>
        <p:nvSpPr>
          <p:cNvPr id="90" name="Shape 88"/>
          <p:cNvSpPr/>
          <p:nvPr/>
        </p:nvSpPr>
        <p:spPr>
          <a:xfrm>
            <a:off x="4709160" y="4700016"/>
            <a:ext cx="2606040" cy="393192"/>
          </a:xfrm>
          <a:prstGeom prst="rect">
            <a:avLst/>
          </a:prstGeom>
          <a:solidFill>
            <a:srgbClr val="F8FAFC"/>
          </a:solidFill>
          <a:ln w="3810">
            <a:solidFill>
              <a:srgbClr val="E2E8F0"/>
            </a:solidFill>
            <a:prstDash val="solid"/>
          </a:ln>
        </p:spPr>
      </p:sp>
      <p:sp>
        <p:nvSpPr>
          <p:cNvPr id="91" name="Text 89"/>
          <p:cNvSpPr/>
          <p:nvPr/>
        </p:nvSpPr>
        <p:spPr>
          <a:xfrm>
            <a:off x="4764024" y="4700016"/>
            <a:ext cx="2532888" cy="393192"/>
          </a:xfrm>
          <a:prstGeom prst="rect">
            <a:avLst/>
          </a:prstGeom>
          <a:noFill/>
          <a:ln/>
        </p:spPr>
        <p:txBody>
          <a:bodyPr wrap="square" lIns="0" tIns="0" rIns="0" bIns="0" rtlCol="0" anchor="ctr"/>
          <a:lstStyle/>
          <a:p>
            <a:pPr indent="0" marL="0">
              <a:buNone/>
            </a:pPr>
            <a:r>
              <a:rPr lang="en-US" sz="900" dirty="0">
                <a:solidFill>
                  <a:srgbClr val="0D1117"/>
                </a:solidFill>
                <a:latin typeface="Calibri" pitchFamily="34" charset="0"/>
                <a:ea typeface="Calibri" pitchFamily="34" charset="-122"/>
                <a:cs typeface="Calibri" pitchFamily="34" charset="-120"/>
              </a:rPr>
              <a:t>Mature: SSO, events, DeepWiki, fine-grained perms</a:t>
            </a:r>
            <a:endParaRPr lang="en-US" sz="900" dirty="0"/>
          </a:p>
        </p:txBody>
      </p:sp>
      <p:sp>
        <p:nvSpPr>
          <p:cNvPr id="92" name="Shape 90"/>
          <p:cNvSpPr/>
          <p:nvPr/>
        </p:nvSpPr>
        <p:spPr>
          <a:xfrm>
            <a:off x="7315200" y="4700016"/>
            <a:ext cx="1481328" cy="393192"/>
          </a:xfrm>
          <a:prstGeom prst="rect">
            <a:avLst/>
          </a:prstGeom>
          <a:solidFill>
            <a:srgbClr val="FFF7ED"/>
          </a:solidFill>
          <a:ln w="3810">
            <a:solidFill>
              <a:srgbClr val="E2E8F0"/>
            </a:solidFill>
            <a:prstDash val="solid"/>
          </a:ln>
        </p:spPr>
      </p:sp>
      <p:sp>
        <p:nvSpPr>
          <p:cNvPr id="93" name="Text 91"/>
          <p:cNvSpPr/>
          <p:nvPr/>
        </p:nvSpPr>
        <p:spPr>
          <a:xfrm>
            <a:off x="7370064" y="4700016"/>
            <a:ext cx="1408176" cy="393192"/>
          </a:xfrm>
          <a:prstGeom prst="rect">
            <a:avLst/>
          </a:prstGeom>
          <a:noFill/>
          <a:ln/>
        </p:spPr>
        <p:txBody>
          <a:bodyPr wrap="square" lIns="0" tIns="0" rIns="0" bIns="0" rtlCol="0" anchor="ctr"/>
          <a:lstStyle/>
          <a:p>
            <a:pPr indent="0" marL="0">
              <a:buNone/>
            </a:pPr>
            <a:r>
              <a:rPr lang="en-US" sz="900" dirty="0">
                <a:solidFill>
                  <a:srgbClr val="9A3412"/>
                </a:solidFill>
                <a:latin typeface="Calibri" pitchFamily="34" charset="0"/>
                <a:ea typeface="Calibri" pitchFamily="34" charset="-122"/>
                <a:cs typeface="Calibri" pitchFamily="34" charset="-120"/>
              </a:rPr>
              <a:t>Devin</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0"/>
            <a:ext cx="109728" cy="658368"/>
          </a:xfrm>
          <a:prstGeom prst="rect">
            <a:avLst/>
          </a:prstGeom>
          <a:solidFill>
            <a:srgbClr val="00D4AA"/>
          </a:solidFill>
          <a:ln w="12700">
            <a:solidFill>
              <a:srgbClr val="00D4AA"/>
            </a:solidFill>
            <a:prstDash val="solid"/>
          </a:ln>
        </p:spPr>
      </p:sp>
      <p:sp>
        <p:nvSpPr>
          <p:cNvPr id="4" name="Text 2"/>
          <p:cNvSpPr/>
          <p:nvPr/>
        </p:nvSpPr>
        <p:spPr>
          <a:xfrm>
            <a:off x="219456" y="0"/>
            <a:ext cx="685800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Canon vs Sandcastle — Runtime SDK vs Operator Platform (April 2026)</a:t>
            </a:r>
            <a:endParaRPr lang="en-US" sz="2100" dirty="0"/>
          </a:p>
        </p:txBody>
      </p:sp>
      <p:sp>
        <p:nvSpPr>
          <p:cNvPr id="5" name="Text 3"/>
          <p:cNvSpPr/>
          <p:nvPr/>
        </p:nvSpPr>
        <p:spPr>
          <a:xfrm>
            <a:off x="219456" y="0"/>
            <a:ext cx="8778240" cy="658368"/>
          </a:xfrm>
          <a:prstGeom prst="rect">
            <a:avLst/>
          </a:prstGeom>
          <a:noFill/>
          <a:ln/>
        </p:spPr>
        <p:txBody>
          <a:bodyPr wrap="square" lIns="0" tIns="0" rIns="0" bIns="0" rtlCol="0" anchor="ctr"/>
          <a:lstStyle/>
          <a:p>
            <a:pPr algn="r" indent="0" marL="0">
              <a:buNone/>
            </a:pPr>
            <a:r>
              <a:rPr lang="en-US" sz="1000" dirty="0">
                <a:solidFill>
                  <a:srgbClr val="4B6A8A"/>
                </a:solidFill>
                <a:latin typeface="Calibri" pitchFamily="34" charset="0"/>
                <a:ea typeface="Calibri" pitchFamily="34" charset="-122"/>
                <a:cs typeface="Calibri" pitchFamily="34" charset="-120"/>
              </a:rPr>
              <a:t>How We Compare</a:t>
            </a:r>
            <a:endParaRPr lang="en-US" sz="1000" dirty="0"/>
          </a:p>
        </p:txBody>
      </p:sp>
      <p:sp>
        <p:nvSpPr>
          <p:cNvPr id="6" name="Text 4"/>
          <p:cNvSpPr/>
          <p:nvPr/>
        </p:nvSpPr>
        <p:spPr>
          <a:xfrm>
            <a:off x="457200" y="749808"/>
            <a:ext cx="8229600" cy="256032"/>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Sandcastle: TypeScript agent runtime SDK (Docker/Podman/Vercel sandboxes, run(), createWorktree()). Canon: end-to-end memory + governance + evidence plane.</a:t>
            </a:r>
            <a:endParaRPr lang="en-US" sz="950" dirty="0"/>
          </a:p>
        </p:txBody>
      </p:sp>
      <p:sp>
        <p:nvSpPr>
          <p:cNvPr id="7" name="Shape 5"/>
          <p:cNvSpPr/>
          <p:nvPr/>
        </p:nvSpPr>
        <p:spPr>
          <a:xfrm>
            <a:off x="457200" y="1060704"/>
            <a:ext cx="1645920" cy="329184"/>
          </a:xfrm>
          <a:prstGeom prst="rect">
            <a:avLst/>
          </a:prstGeom>
          <a:solidFill>
            <a:srgbClr val="1E3A5F"/>
          </a:solidFill>
          <a:ln w="3810">
            <a:solidFill>
              <a:srgbClr val="E2E8F0"/>
            </a:solidFill>
            <a:prstDash val="solid"/>
          </a:ln>
        </p:spPr>
      </p:sp>
      <p:sp>
        <p:nvSpPr>
          <p:cNvPr id="8" name="Text 6"/>
          <p:cNvSpPr/>
          <p:nvPr/>
        </p:nvSpPr>
        <p:spPr>
          <a:xfrm>
            <a:off x="512064" y="1060704"/>
            <a:ext cx="1572768" cy="32918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Dimension</a:t>
            </a:r>
            <a:endParaRPr lang="en-US" sz="1050" dirty="0"/>
          </a:p>
        </p:txBody>
      </p:sp>
      <p:sp>
        <p:nvSpPr>
          <p:cNvPr id="9" name="Shape 7"/>
          <p:cNvSpPr/>
          <p:nvPr/>
        </p:nvSpPr>
        <p:spPr>
          <a:xfrm>
            <a:off x="2103120" y="1060704"/>
            <a:ext cx="2395728" cy="329184"/>
          </a:xfrm>
          <a:prstGeom prst="rect">
            <a:avLst/>
          </a:prstGeom>
          <a:solidFill>
            <a:srgbClr val="1E3A5F"/>
          </a:solidFill>
          <a:ln w="3810">
            <a:solidFill>
              <a:srgbClr val="E2E8F0"/>
            </a:solidFill>
            <a:prstDash val="solid"/>
          </a:ln>
        </p:spPr>
      </p:sp>
      <p:sp>
        <p:nvSpPr>
          <p:cNvPr id="10" name="Text 8"/>
          <p:cNvSpPr/>
          <p:nvPr/>
        </p:nvSpPr>
        <p:spPr>
          <a:xfrm>
            <a:off x="2157984" y="1060704"/>
            <a:ext cx="2322576" cy="32918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Canon Systems</a:t>
            </a:r>
            <a:endParaRPr lang="en-US" sz="1050" dirty="0"/>
          </a:p>
        </p:txBody>
      </p:sp>
      <p:sp>
        <p:nvSpPr>
          <p:cNvPr id="11" name="Shape 9"/>
          <p:cNvSpPr/>
          <p:nvPr/>
        </p:nvSpPr>
        <p:spPr>
          <a:xfrm>
            <a:off x="4498848" y="1060704"/>
            <a:ext cx="2395728" cy="329184"/>
          </a:xfrm>
          <a:prstGeom prst="rect">
            <a:avLst/>
          </a:prstGeom>
          <a:solidFill>
            <a:srgbClr val="1E3A5F"/>
          </a:solidFill>
          <a:ln w="3810">
            <a:solidFill>
              <a:srgbClr val="E2E8F0"/>
            </a:solidFill>
            <a:prstDash val="solid"/>
          </a:ln>
        </p:spPr>
      </p:sp>
      <p:sp>
        <p:nvSpPr>
          <p:cNvPr id="12" name="Text 10"/>
          <p:cNvSpPr/>
          <p:nvPr/>
        </p:nvSpPr>
        <p:spPr>
          <a:xfrm>
            <a:off x="4553712" y="1060704"/>
            <a:ext cx="2322576" cy="32918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Sandcastle</a:t>
            </a:r>
            <a:endParaRPr lang="en-US" sz="1050" dirty="0"/>
          </a:p>
        </p:txBody>
      </p:sp>
      <p:sp>
        <p:nvSpPr>
          <p:cNvPr id="13" name="Shape 11"/>
          <p:cNvSpPr/>
          <p:nvPr/>
        </p:nvSpPr>
        <p:spPr>
          <a:xfrm>
            <a:off x="6894576" y="1060704"/>
            <a:ext cx="1426464" cy="329184"/>
          </a:xfrm>
          <a:prstGeom prst="rect">
            <a:avLst/>
          </a:prstGeom>
          <a:solidFill>
            <a:srgbClr val="1E3A5F"/>
          </a:solidFill>
          <a:ln w="3810">
            <a:solidFill>
              <a:srgbClr val="E2E8F0"/>
            </a:solidFill>
            <a:prstDash val="solid"/>
          </a:ln>
        </p:spPr>
      </p:sp>
      <p:sp>
        <p:nvSpPr>
          <p:cNvPr id="14" name="Text 12"/>
          <p:cNvSpPr/>
          <p:nvPr/>
        </p:nvSpPr>
        <p:spPr>
          <a:xfrm>
            <a:off x="6949440" y="1060704"/>
            <a:ext cx="1353312" cy="32918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Edge</a:t>
            </a:r>
            <a:endParaRPr lang="en-US" sz="1050" dirty="0"/>
          </a:p>
        </p:txBody>
      </p:sp>
      <p:sp>
        <p:nvSpPr>
          <p:cNvPr id="15" name="Shape 13"/>
          <p:cNvSpPr/>
          <p:nvPr/>
        </p:nvSpPr>
        <p:spPr>
          <a:xfrm>
            <a:off x="457200" y="1389888"/>
            <a:ext cx="1645920" cy="329184"/>
          </a:xfrm>
          <a:prstGeom prst="rect">
            <a:avLst/>
          </a:prstGeom>
          <a:solidFill>
            <a:srgbClr val="FFFFFF"/>
          </a:solidFill>
          <a:ln w="3810">
            <a:solidFill>
              <a:srgbClr val="E2E8F0"/>
            </a:solidFill>
            <a:prstDash val="solid"/>
          </a:ln>
        </p:spPr>
      </p:sp>
      <p:sp>
        <p:nvSpPr>
          <p:cNvPr id="16" name="Text 14"/>
          <p:cNvSpPr/>
          <p:nvPr/>
        </p:nvSpPr>
        <p:spPr>
          <a:xfrm>
            <a:off x="512064" y="1389888"/>
            <a:ext cx="1572768" cy="329184"/>
          </a:xfrm>
          <a:prstGeom prst="rect">
            <a:avLst/>
          </a:prstGeom>
          <a:noFill/>
          <a:ln/>
        </p:spPr>
        <p:txBody>
          <a:bodyPr wrap="square" lIns="0" tIns="0" rIns="0" bIns="0" rtlCol="0" anchor="ctr"/>
          <a:lstStyle/>
          <a:p>
            <a:pPr indent="0" marL="0">
              <a:buNone/>
            </a:pPr>
            <a:r>
              <a:rPr lang="en-US" sz="850" b="1" dirty="0">
                <a:solidFill>
                  <a:srgbClr val="0D1117"/>
                </a:solidFill>
                <a:latin typeface="Calibri" pitchFamily="34" charset="0"/>
                <a:ea typeface="Calibri" pitchFamily="34" charset="-122"/>
                <a:cs typeface="Calibri" pitchFamily="34" charset="-120"/>
              </a:rPr>
              <a:t>Product Layer</a:t>
            </a:r>
            <a:endParaRPr lang="en-US" sz="850" dirty="0"/>
          </a:p>
        </p:txBody>
      </p:sp>
      <p:sp>
        <p:nvSpPr>
          <p:cNvPr id="17" name="Shape 15"/>
          <p:cNvSpPr/>
          <p:nvPr/>
        </p:nvSpPr>
        <p:spPr>
          <a:xfrm>
            <a:off x="2103120" y="1389888"/>
            <a:ext cx="2395728" cy="329184"/>
          </a:xfrm>
          <a:prstGeom prst="rect">
            <a:avLst/>
          </a:prstGeom>
          <a:solidFill>
            <a:srgbClr val="FFFFFF"/>
          </a:solidFill>
          <a:ln w="3810">
            <a:solidFill>
              <a:srgbClr val="E2E8F0"/>
            </a:solidFill>
            <a:prstDash val="solid"/>
          </a:ln>
        </p:spPr>
      </p:sp>
      <p:sp>
        <p:nvSpPr>
          <p:cNvPr id="18" name="Text 16"/>
          <p:cNvSpPr/>
          <p:nvPr/>
        </p:nvSpPr>
        <p:spPr>
          <a:xfrm>
            <a:off x="2157984" y="1389888"/>
            <a:ext cx="2322576" cy="329184"/>
          </a:xfrm>
          <a:prstGeom prst="rect">
            <a:avLst/>
          </a:prstGeom>
          <a:noFill/>
          <a:ln/>
        </p:spPr>
        <p:txBody>
          <a:bodyPr wrap="square" lIns="0" tIns="0" rIns="0" bIns="0" rtlCol="0" anchor="ctr"/>
          <a:lstStyle/>
          <a:p>
            <a:pPr indent="0" marL="0">
              <a:buNone/>
            </a:pPr>
            <a:r>
              <a:rPr lang="en-US" sz="850" dirty="0">
                <a:solidFill>
                  <a:srgbClr val="0D1117"/>
                </a:solidFill>
                <a:latin typeface="Calibri" pitchFamily="34" charset="0"/>
                <a:ea typeface="Calibri" pitchFamily="34" charset="-122"/>
                <a:cs typeface="Calibri" pitchFamily="34" charset="-120"/>
              </a:rPr>
              <a:t>End-to-end operator platform</a:t>
            </a:r>
            <a:endParaRPr lang="en-US" sz="850" dirty="0"/>
          </a:p>
        </p:txBody>
      </p:sp>
      <p:sp>
        <p:nvSpPr>
          <p:cNvPr id="19" name="Shape 17"/>
          <p:cNvSpPr/>
          <p:nvPr/>
        </p:nvSpPr>
        <p:spPr>
          <a:xfrm>
            <a:off x="4498848" y="1389888"/>
            <a:ext cx="2395728" cy="329184"/>
          </a:xfrm>
          <a:prstGeom prst="rect">
            <a:avLst/>
          </a:prstGeom>
          <a:solidFill>
            <a:srgbClr val="FFFFFF"/>
          </a:solidFill>
          <a:ln w="3810">
            <a:solidFill>
              <a:srgbClr val="E2E8F0"/>
            </a:solidFill>
            <a:prstDash val="solid"/>
          </a:ln>
        </p:spPr>
      </p:sp>
      <p:sp>
        <p:nvSpPr>
          <p:cNvPr id="20" name="Text 18"/>
          <p:cNvSpPr/>
          <p:nvPr/>
        </p:nvSpPr>
        <p:spPr>
          <a:xfrm>
            <a:off x="4553712" y="1389888"/>
            <a:ext cx="2322576" cy="329184"/>
          </a:xfrm>
          <a:prstGeom prst="rect">
            <a:avLst/>
          </a:prstGeom>
          <a:noFill/>
          <a:ln/>
        </p:spPr>
        <p:txBody>
          <a:bodyPr wrap="square" lIns="0" tIns="0" rIns="0" bIns="0" rtlCol="0" anchor="ctr"/>
          <a:lstStyle/>
          <a:p>
            <a:pPr indent="0" marL="0">
              <a:buNone/>
            </a:pPr>
            <a:r>
              <a:rPr lang="en-US" sz="850" dirty="0">
                <a:solidFill>
                  <a:srgbClr val="0D1117"/>
                </a:solidFill>
                <a:latin typeface="Calibri" pitchFamily="34" charset="0"/>
                <a:ea typeface="Calibri" pitchFamily="34" charset="-122"/>
                <a:cs typeface="Calibri" pitchFamily="34" charset="-120"/>
              </a:rPr>
              <a:t>Runtime / SDK / orchestration substrate</a:t>
            </a:r>
            <a:endParaRPr lang="en-US" sz="850" dirty="0"/>
          </a:p>
        </p:txBody>
      </p:sp>
      <p:sp>
        <p:nvSpPr>
          <p:cNvPr id="21" name="Shape 19"/>
          <p:cNvSpPr/>
          <p:nvPr/>
        </p:nvSpPr>
        <p:spPr>
          <a:xfrm>
            <a:off x="6894576" y="1389888"/>
            <a:ext cx="1426464" cy="329184"/>
          </a:xfrm>
          <a:prstGeom prst="rect">
            <a:avLst/>
          </a:prstGeom>
          <a:solidFill>
            <a:srgbClr val="EFF6FF"/>
          </a:solidFill>
          <a:ln w="3810">
            <a:solidFill>
              <a:srgbClr val="E2E8F0"/>
            </a:solidFill>
            <a:prstDash val="solid"/>
          </a:ln>
        </p:spPr>
      </p:sp>
      <p:sp>
        <p:nvSpPr>
          <p:cNvPr id="22" name="Text 20"/>
          <p:cNvSpPr/>
          <p:nvPr/>
        </p:nvSpPr>
        <p:spPr>
          <a:xfrm>
            <a:off x="6949440" y="1389888"/>
            <a:ext cx="1353312" cy="329184"/>
          </a:xfrm>
          <a:prstGeom prst="rect">
            <a:avLst/>
          </a:prstGeom>
          <a:noFill/>
          <a:ln/>
        </p:spPr>
        <p:txBody>
          <a:bodyPr wrap="square" lIns="0" tIns="0" rIns="0" bIns="0" rtlCol="0" anchor="ctr"/>
          <a:lstStyle/>
          <a:p>
            <a:pPr indent="0" marL="0">
              <a:buNone/>
            </a:pPr>
            <a:r>
              <a:rPr lang="en-US" sz="850" dirty="0">
                <a:solidFill>
                  <a:srgbClr val="1D4ED8"/>
                </a:solidFill>
                <a:latin typeface="Calibri" pitchFamily="34" charset="0"/>
                <a:ea typeface="Calibri" pitchFamily="34" charset="-122"/>
                <a:cs typeface="Calibri" pitchFamily="34" charset="-120"/>
              </a:rPr>
              <a:t>Different layers</a:t>
            </a:r>
            <a:endParaRPr lang="en-US" sz="850" dirty="0"/>
          </a:p>
        </p:txBody>
      </p:sp>
      <p:sp>
        <p:nvSpPr>
          <p:cNvPr id="23" name="Shape 21"/>
          <p:cNvSpPr/>
          <p:nvPr/>
        </p:nvSpPr>
        <p:spPr>
          <a:xfrm>
            <a:off x="457200" y="1719072"/>
            <a:ext cx="1645920" cy="329184"/>
          </a:xfrm>
          <a:prstGeom prst="rect">
            <a:avLst/>
          </a:prstGeom>
          <a:solidFill>
            <a:srgbClr val="F8FAFC"/>
          </a:solidFill>
          <a:ln w="3810">
            <a:solidFill>
              <a:srgbClr val="E2E8F0"/>
            </a:solidFill>
            <a:prstDash val="solid"/>
          </a:ln>
        </p:spPr>
      </p:sp>
      <p:sp>
        <p:nvSpPr>
          <p:cNvPr id="24" name="Text 22"/>
          <p:cNvSpPr/>
          <p:nvPr/>
        </p:nvSpPr>
        <p:spPr>
          <a:xfrm>
            <a:off x="512064" y="1719072"/>
            <a:ext cx="1572768" cy="329184"/>
          </a:xfrm>
          <a:prstGeom prst="rect">
            <a:avLst/>
          </a:prstGeom>
          <a:noFill/>
          <a:ln/>
        </p:spPr>
        <p:txBody>
          <a:bodyPr wrap="square" lIns="0" tIns="0" rIns="0" bIns="0" rtlCol="0" anchor="ctr"/>
          <a:lstStyle/>
          <a:p>
            <a:pPr indent="0" marL="0">
              <a:buNone/>
            </a:pPr>
            <a:r>
              <a:rPr lang="en-US" sz="850" b="1" dirty="0">
                <a:solidFill>
                  <a:srgbClr val="0D1117"/>
                </a:solidFill>
                <a:latin typeface="Calibri" pitchFamily="34" charset="0"/>
                <a:ea typeface="Calibri" pitchFamily="34" charset="-122"/>
                <a:cs typeface="Calibri" pitchFamily="34" charset="-120"/>
              </a:rPr>
              <a:t>Core Job</a:t>
            </a:r>
            <a:endParaRPr lang="en-US" sz="850" dirty="0"/>
          </a:p>
        </p:txBody>
      </p:sp>
      <p:sp>
        <p:nvSpPr>
          <p:cNvPr id="25" name="Shape 23"/>
          <p:cNvSpPr/>
          <p:nvPr/>
        </p:nvSpPr>
        <p:spPr>
          <a:xfrm>
            <a:off x="2103120" y="1719072"/>
            <a:ext cx="2395728" cy="329184"/>
          </a:xfrm>
          <a:prstGeom prst="rect">
            <a:avLst/>
          </a:prstGeom>
          <a:solidFill>
            <a:srgbClr val="F8FAFC"/>
          </a:solidFill>
          <a:ln w="3810">
            <a:solidFill>
              <a:srgbClr val="E2E8F0"/>
            </a:solidFill>
            <a:prstDash val="solid"/>
          </a:ln>
        </p:spPr>
      </p:sp>
      <p:sp>
        <p:nvSpPr>
          <p:cNvPr id="26" name="Text 24"/>
          <p:cNvSpPr/>
          <p:nvPr/>
        </p:nvSpPr>
        <p:spPr>
          <a:xfrm>
            <a:off x="2157984" y="1719072"/>
            <a:ext cx="2322576" cy="329184"/>
          </a:xfrm>
          <a:prstGeom prst="rect">
            <a:avLst/>
          </a:prstGeom>
          <a:noFill/>
          <a:ln/>
        </p:spPr>
        <p:txBody>
          <a:bodyPr wrap="square" lIns="0" tIns="0" rIns="0" bIns="0" rtlCol="0" anchor="ctr"/>
          <a:lstStyle/>
          <a:p>
            <a:pPr indent="0" marL="0">
              <a:buNone/>
            </a:pPr>
            <a:r>
              <a:rPr lang="en-US" sz="850" dirty="0">
                <a:solidFill>
                  <a:srgbClr val="0D1117"/>
                </a:solidFill>
                <a:latin typeface="Calibri" pitchFamily="34" charset="0"/>
                <a:ea typeface="Calibri" pitchFamily="34" charset="-122"/>
                <a:cs typeface="Calibri" pitchFamily="34" charset="-120"/>
              </a:rPr>
              <a:t>Memory, governance, evidence, release discipline</a:t>
            </a:r>
            <a:endParaRPr lang="en-US" sz="850" dirty="0"/>
          </a:p>
        </p:txBody>
      </p:sp>
      <p:sp>
        <p:nvSpPr>
          <p:cNvPr id="27" name="Shape 25"/>
          <p:cNvSpPr/>
          <p:nvPr/>
        </p:nvSpPr>
        <p:spPr>
          <a:xfrm>
            <a:off x="4498848" y="1719072"/>
            <a:ext cx="2395728" cy="329184"/>
          </a:xfrm>
          <a:prstGeom prst="rect">
            <a:avLst/>
          </a:prstGeom>
          <a:solidFill>
            <a:srgbClr val="F8FAFC"/>
          </a:solidFill>
          <a:ln w="3810">
            <a:solidFill>
              <a:srgbClr val="E2E8F0"/>
            </a:solidFill>
            <a:prstDash val="solid"/>
          </a:ln>
        </p:spPr>
      </p:sp>
      <p:sp>
        <p:nvSpPr>
          <p:cNvPr id="28" name="Text 26"/>
          <p:cNvSpPr/>
          <p:nvPr/>
        </p:nvSpPr>
        <p:spPr>
          <a:xfrm>
            <a:off x="4553712" y="1719072"/>
            <a:ext cx="2322576" cy="329184"/>
          </a:xfrm>
          <a:prstGeom prst="rect">
            <a:avLst/>
          </a:prstGeom>
          <a:noFill/>
          <a:ln/>
        </p:spPr>
        <p:txBody>
          <a:bodyPr wrap="square" lIns="0" tIns="0" rIns="0" bIns="0" rtlCol="0" anchor="ctr"/>
          <a:lstStyle/>
          <a:p>
            <a:pPr indent="0" marL="0">
              <a:buNone/>
            </a:pPr>
            <a:r>
              <a:rPr lang="en-US" sz="850" dirty="0">
                <a:solidFill>
                  <a:srgbClr val="0D1117"/>
                </a:solidFill>
                <a:latin typeface="Calibri" pitchFamily="34" charset="0"/>
                <a:ea typeface="Calibri" pitchFamily="34" charset="-122"/>
                <a:cs typeface="Calibri" pitchFamily="34" charset="-120"/>
              </a:rPr>
              <a:t>Isolated agent execution and orchestration</a:t>
            </a:r>
            <a:endParaRPr lang="en-US" sz="850" dirty="0"/>
          </a:p>
        </p:txBody>
      </p:sp>
      <p:sp>
        <p:nvSpPr>
          <p:cNvPr id="29" name="Shape 27"/>
          <p:cNvSpPr/>
          <p:nvPr/>
        </p:nvSpPr>
        <p:spPr>
          <a:xfrm>
            <a:off x="6894576" y="1719072"/>
            <a:ext cx="1426464" cy="329184"/>
          </a:xfrm>
          <a:prstGeom prst="rect">
            <a:avLst/>
          </a:prstGeom>
          <a:solidFill>
            <a:srgbClr val="F1F5F9"/>
          </a:solidFill>
          <a:ln w="3810">
            <a:solidFill>
              <a:srgbClr val="E2E8F0"/>
            </a:solidFill>
            <a:prstDash val="solid"/>
          </a:ln>
        </p:spPr>
      </p:sp>
      <p:sp>
        <p:nvSpPr>
          <p:cNvPr id="30" name="Text 28"/>
          <p:cNvSpPr/>
          <p:nvPr/>
        </p:nvSpPr>
        <p:spPr>
          <a:xfrm>
            <a:off x="6949440" y="1719072"/>
            <a:ext cx="1353312" cy="329184"/>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Tie</a:t>
            </a:r>
            <a:endParaRPr lang="en-US" sz="850" dirty="0"/>
          </a:p>
        </p:txBody>
      </p:sp>
      <p:sp>
        <p:nvSpPr>
          <p:cNvPr id="31" name="Shape 29"/>
          <p:cNvSpPr/>
          <p:nvPr/>
        </p:nvSpPr>
        <p:spPr>
          <a:xfrm>
            <a:off x="457200" y="2048256"/>
            <a:ext cx="1645920" cy="329184"/>
          </a:xfrm>
          <a:prstGeom prst="rect">
            <a:avLst/>
          </a:prstGeom>
          <a:solidFill>
            <a:srgbClr val="FFFFFF"/>
          </a:solidFill>
          <a:ln w="3810">
            <a:solidFill>
              <a:srgbClr val="E2E8F0"/>
            </a:solidFill>
            <a:prstDash val="solid"/>
          </a:ln>
        </p:spPr>
      </p:sp>
      <p:sp>
        <p:nvSpPr>
          <p:cNvPr id="32" name="Text 30"/>
          <p:cNvSpPr/>
          <p:nvPr/>
        </p:nvSpPr>
        <p:spPr>
          <a:xfrm>
            <a:off x="512064" y="2048256"/>
            <a:ext cx="1572768" cy="329184"/>
          </a:xfrm>
          <a:prstGeom prst="rect">
            <a:avLst/>
          </a:prstGeom>
          <a:noFill/>
          <a:ln/>
        </p:spPr>
        <p:txBody>
          <a:bodyPr wrap="square" lIns="0" tIns="0" rIns="0" bIns="0" rtlCol="0" anchor="ctr"/>
          <a:lstStyle/>
          <a:p>
            <a:pPr indent="0" marL="0">
              <a:buNone/>
            </a:pPr>
            <a:r>
              <a:rPr lang="en-US" sz="850" b="1" dirty="0">
                <a:solidFill>
                  <a:srgbClr val="0D1117"/>
                </a:solidFill>
                <a:latin typeface="Calibri" pitchFamily="34" charset="0"/>
                <a:ea typeface="Calibri" pitchFamily="34" charset="-122"/>
                <a:cs typeface="Calibri" pitchFamily="34" charset="-120"/>
              </a:rPr>
              <a:t>Execution Model</a:t>
            </a:r>
            <a:endParaRPr lang="en-US" sz="850" dirty="0"/>
          </a:p>
        </p:txBody>
      </p:sp>
      <p:sp>
        <p:nvSpPr>
          <p:cNvPr id="33" name="Shape 31"/>
          <p:cNvSpPr/>
          <p:nvPr/>
        </p:nvSpPr>
        <p:spPr>
          <a:xfrm>
            <a:off x="2103120" y="2048256"/>
            <a:ext cx="2395728" cy="329184"/>
          </a:xfrm>
          <a:prstGeom prst="rect">
            <a:avLst/>
          </a:prstGeom>
          <a:solidFill>
            <a:srgbClr val="FFFFFF"/>
          </a:solidFill>
          <a:ln w="3810">
            <a:solidFill>
              <a:srgbClr val="E2E8F0"/>
            </a:solidFill>
            <a:prstDash val="solid"/>
          </a:ln>
        </p:spPr>
      </p:sp>
      <p:sp>
        <p:nvSpPr>
          <p:cNvPr id="34" name="Text 32"/>
          <p:cNvSpPr/>
          <p:nvPr/>
        </p:nvSpPr>
        <p:spPr>
          <a:xfrm>
            <a:off x="2157984" y="2048256"/>
            <a:ext cx="2322576" cy="329184"/>
          </a:xfrm>
          <a:prstGeom prst="rect">
            <a:avLst/>
          </a:prstGeom>
          <a:noFill/>
          <a:ln/>
        </p:spPr>
        <p:txBody>
          <a:bodyPr wrap="square" lIns="0" tIns="0" rIns="0" bIns="0" rtlCol="0" anchor="ctr"/>
          <a:lstStyle/>
          <a:p>
            <a:pPr indent="0" marL="0">
              <a:buNone/>
            </a:pPr>
            <a:r>
              <a:rPr lang="en-US" sz="850" dirty="0">
                <a:solidFill>
                  <a:srgbClr val="0D1117"/>
                </a:solidFill>
                <a:latin typeface="Calibri" pitchFamily="34" charset="0"/>
                <a:ea typeface="Calibri" pitchFamily="34" charset="-122"/>
                <a:cs typeface="Calibri" pitchFamily="34" charset="-120"/>
              </a:rPr>
              <a:t>Fixed phase chain — mandatory handoffs and gates</a:t>
            </a:r>
            <a:endParaRPr lang="en-US" sz="850" dirty="0"/>
          </a:p>
        </p:txBody>
      </p:sp>
      <p:sp>
        <p:nvSpPr>
          <p:cNvPr id="35" name="Shape 33"/>
          <p:cNvSpPr/>
          <p:nvPr/>
        </p:nvSpPr>
        <p:spPr>
          <a:xfrm>
            <a:off x="4498848" y="2048256"/>
            <a:ext cx="2395728" cy="329184"/>
          </a:xfrm>
          <a:prstGeom prst="rect">
            <a:avLst/>
          </a:prstGeom>
          <a:solidFill>
            <a:srgbClr val="FFFFFF"/>
          </a:solidFill>
          <a:ln w="3810">
            <a:solidFill>
              <a:srgbClr val="E2E8F0"/>
            </a:solidFill>
            <a:prstDash val="solid"/>
          </a:ln>
        </p:spPr>
      </p:sp>
      <p:sp>
        <p:nvSpPr>
          <p:cNvPr id="36" name="Text 34"/>
          <p:cNvSpPr/>
          <p:nvPr/>
        </p:nvSpPr>
        <p:spPr>
          <a:xfrm>
            <a:off x="4553712" y="2048256"/>
            <a:ext cx="2322576" cy="329184"/>
          </a:xfrm>
          <a:prstGeom prst="rect">
            <a:avLst/>
          </a:prstGeom>
          <a:noFill/>
          <a:ln/>
        </p:spPr>
        <p:txBody>
          <a:bodyPr wrap="square" lIns="0" tIns="0" rIns="0" bIns="0" rtlCol="0" anchor="ctr"/>
          <a:lstStyle/>
          <a:p>
            <a:pPr indent="0" marL="0">
              <a:buNone/>
            </a:pPr>
            <a:r>
              <a:rPr lang="en-US" sz="850" dirty="0">
                <a:solidFill>
                  <a:srgbClr val="0D1117"/>
                </a:solidFill>
                <a:latin typeface="Calibri" pitchFamily="34" charset="0"/>
                <a:ea typeface="Calibri" pitchFamily="34" charset="-122"/>
                <a:cs typeface="Calibri" pitchFamily="34" charset="-120"/>
              </a:rPr>
              <a:t>Generic programmable primitives (run, worktree, sandbox)</a:t>
            </a:r>
            <a:endParaRPr lang="en-US" sz="850" dirty="0"/>
          </a:p>
        </p:txBody>
      </p:sp>
      <p:sp>
        <p:nvSpPr>
          <p:cNvPr id="37" name="Shape 35"/>
          <p:cNvSpPr/>
          <p:nvPr/>
        </p:nvSpPr>
        <p:spPr>
          <a:xfrm>
            <a:off x="6894576" y="2048256"/>
            <a:ext cx="1426464" cy="329184"/>
          </a:xfrm>
          <a:prstGeom prst="rect">
            <a:avLst/>
          </a:prstGeom>
          <a:solidFill>
            <a:srgbClr val="FFF7ED"/>
          </a:solidFill>
          <a:ln w="3810">
            <a:solidFill>
              <a:srgbClr val="E2E8F0"/>
            </a:solidFill>
            <a:prstDash val="solid"/>
          </a:ln>
        </p:spPr>
      </p:sp>
      <p:sp>
        <p:nvSpPr>
          <p:cNvPr id="38" name="Text 36"/>
          <p:cNvSpPr/>
          <p:nvPr/>
        </p:nvSpPr>
        <p:spPr>
          <a:xfrm>
            <a:off x="6949440" y="2048256"/>
            <a:ext cx="1353312" cy="329184"/>
          </a:xfrm>
          <a:prstGeom prst="rect">
            <a:avLst/>
          </a:prstGeom>
          <a:noFill/>
          <a:ln/>
        </p:spPr>
        <p:txBody>
          <a:bodyPr wrap="square" lIns="0" tIns="0" rIns="0" bIns="0" rtlCol="0" anchor="ctr"/>
          <a:lstStyle/>
          <a:p>
            <a:pPr indent="0" marL="0">
              <a:buNone/>
            </a:pPr>
            <a:r>
              <a:rPr lang="en-US" sz="850" dirty="0">
                <a:solidFill>
                  <a:srgbClr val="9A3412"/>
                </a:solidFill>
                <a:latin typeface="Calibri" pitchFamily="34" charset="0"/>
                <a:ea typeface="Calibri" pitchFamily="34" charset="-122"/>
                <a:cs typeface="Calibri" pitchFamily="34" charset="-120"/>
              </a:rPr>
              <a:t>Sandcastle</a:t>
            </a:r>
            <a:endParaRPr lang="en-US" sz="850" dirty="0"/>
          </a:p>
        </p:txBody>
      </p:sp>
      <p:sp>
        <p:nvSpPr>
          <p:cNvPr id="39" name="Shape 37"/>
          <p:cNvSpPr/>
          <p:nvPr/>
        </p:nvSpPr>
        <p:spPr>
          <a:xfrm>
            <a:off x="457200" y="2377440"/>
            <a:ext cx="1645920" cy="329184"/>
          </a:xfrm>
          <a:prstGeom prst="rect">
            <a:avLst/>
          </a:prstGeom>
          <a:solidFill>
            <a:srgbClr val="F8FAFC"/>
          </a:solidFill>
          <a:ln w="3810">
            <a:solidFill>
              <a:srgbClr val="E2E8F0"/>
            </a:solidFill>
            <a:prstDash val="solid"/>
          </a:ln>
        </p:spPr>
      </p:sp>
      <p:sp>
        <p:nvSpPr>
          <p:cNvPr id="40" name="Text 38"/>
          <p:cNvSpPr/>
          <p:nvPr/>
        </p:nvSpPr>
        <p:spPr>
          <a:xfrm>
            <a:off x="512064" y="2377440"/>
            <a:ext cx="1572768" cy="329184"/>
          </a:xfrm>
          <a:prstGeom prst="rect">
            <a:avLst/>
          </a:prstGeom>
          <a:noFill/>
          <a:ln/>
        </p:spPr>
        <p:txBody>
          <a:bodyPr wrap="square" lIns="0" tIns="0" rIns="0" bIns="0" rtlCol="0" anchor="ctr"/>
          <a:lstStyle/>
          <a:p>
            <a:pPr indent="0" marL="0">
              <a:buNone/>
            </a:pPr>
            <a:r>
              <a:rPr lang="en-US" sz="850" b="1" dirty="0">
                <a:solidFill>
                  <a:srgbClr val="0D1117"/>
                </a:solidFill>
                <a:latin typeface="Calibri" pitchFamily="34" charset="0"/>
                <a:ea typeface="Calibri" pitchFamily="34" charset="-122"/>
                <a:cs typeface="Calibri" pitchFamily="34" charset="-120"/>
              </a:rPr>
              <a:t>Memory &amp; Retrieval</a:t>
            </a:r>
            <a:endParaRPr lang="en-US" sz="850" dirty="0"/>
          </a:p>
        </p:txBody>
      </p:sp>
      <p:sp>
        <p:nvSpPr>
          <p:cNvPr id="41" name="Shape 39"/>
          <p:cNvSpPr/>
          <p:nvPr/>
        </p:nvSpPr>
        <p:spPr>
          <a:xfrm>
            <a:off x="2103120" y="2377440"/>
            <a:ext cx="2395728" cy="329184"/>
          </a:xfrm>
          <a:prstGeom prst="rect">
            <a:avLst/>
          </a:prstGeom>
          <a:solidFill>
            <a:srgbClr val="F8FAFC"/>
          </a:solidFill>
          <a:ln w="3810">
            <a:solidFill>
              <a:srgbClr val="E2E8F0"/>
            </a:solidFill>
            <a:prstDash val="solid"/>
          </a:ln>
        </p:spPr>
      </p:sp>
      <p:sp>
        <p:nvSpPr>
          <p:cNvPr id="42" name="Text 40"/>
          <p:cNvSpPr/>
          <p:nvPr/>
        </p:nvSpPr>
        <p:spPr>
          <a:xfrm>
            <a:off x="2157984" y="2377440"/>
            <a:ext cx="2322576" cy="329184"/>
          </a:xfrm>
          <a:prstGeom prst="rect">
            <a:avLst/>
          </a:prstGeom>
          <a:noFill/>
          <a:ln/>
        </p:spPr>
        <p:txBody>
          <a:bodyPr wrap="square" lIns="0" tIns="0" rIns="0" bIns="0" rtlCol="0" anchor="ctr"/>
          <a:lstStyle/>
          <a:p>
            <a:pPr indent="0" marL="0">
              <a:buNone/>
            </a:pPr>
            <a:r>
              <a:rPr lang="en-US" sz="850" dirty="0">
                <a:solidFill>
                  <a:srgbClr val="0D1117"/>
                </a:solidFill>
                <a:latin typeface="Calibri" pitchFamily="34" charset="0"/>
                <a:ea typeface="Calibri" pitchFamily="34" charset="-122"/>
                <a:cs typeface="Calibri" pitchFamily="34" charset="-120"/>
              </a:rPr>
              <a:t>Strong org memory across repos, tenant-scoped</a:t>
            </a:r>
            <a:endParaRPr lang="en-US" sz="850" dirty="0"/>
          </a:p>
        </p:txBody>
      </p:sp>
      <p:sp>
        <p:nvSpPr>
          <p:cNvPr id="43" name="Shape 41"/>
          <p:cNvSpPr/>
          <p:nvPr/>
        </p:nvSpPr>
        <p:spPr>
          <a:xfrm>
            <a:off x="4498848" y="2377440"/>
            <a:ext cx="2395728" cy="329184"/>
          </a:xfrm>
          <a:prstGeom prst="rect">
            <a:avLst/>
          </a:prstGeom>
          <a:solidFill>
            <a:srgbClr val="F8FAFC"/>
          </a:solidFill>
          <a:ln w="3810">
            <a:solidFill>
              <a:srgbClr val="E2E8F0"/>
            </a:solidFill>
            <a:prstDash val="solid"/>
          </a:ln>
        </p:spPr>
      </p:sp>
      <p:sp>
        <p:nvSpPr>
          <p:cNvPr id="44" name="Text 42"/>
          <p:cNvSpPr/>
          <p:nvPr/>
        </p:nvSpPr>
        <p:spPr>
          <a:xfrm>
            <a:off x="4553712" y="2377440"/>
            <a:ext cx="2322576" cy="329184"/>
          </a:xfrm>
          <a:prstGeom prst="rect">
            <a:avLst/>
          </a:prstGeom>
          <a:noFill/>
          <a:ln/>
        </p:spPr>
        <p:txBody>
          <a:bodyPr wrap="square" lIns="0" tIns="0" rIns="0" bIns="0" rtlCol="0" anchor="ctr"/>
          <a:lstStyle/>
          <a:p>
            <a:pPr indent="0" marL="0">
              <a:buNone/>
            </a:pPr>
            <a:r>
              <a:rPr lang="en-US" sz="850" dirty="0">
                <a:solidFill>
                  <a:srgbClr val="0D1117"/>
                </a:solidFill>
                <a:latin typeface="Calibri" pitchFamily="34" charset="0"/>
                <a:ea typeface="Calibri" pitchFamily="34" charset="-122"/>
                <a:cs typeface="Calibri" pitchFamily="34" charset="-120"/>
              </a:rPr>
              <a:t>No comparable first-class memory plane in repo surface</a:t>
            </a:r>
            <a:endParaRPr lang="en-US" sz="850" dirty="0"/>
          </a:p>
        </p:txBody>
      </p:sp>
      <p:sp>
        <p:nvSpPr>
          <p:cNvPr id="45" name="Shape 43"/>
          <p:cNvSpPr/>
          <p:nvPr/>
        </p:nvSpPr>
        <p:spPr>
          <a:xfrm>
            <a:off x="6894576" y="2377440"/>
            <a:ext cx="1426464" cy="329184"/>
          </a:xfrm>
          <a:prstGeom prst="rect">
            <a:avLst/>
          </a:prstGeom>
          <a:solidFill>
            <a:srgbClr val="ECFDF5"/>
          </a:solidFill>
          <a:ln w="3810">
            <a:solidFill>
              <a:srgbClr val="E2E8F0"/>
            </a:solidFill>
            <a:prstDash val="solid"/>
          </a:ln>
        </p:spPr>
      </p:sp>
      <p:sp>
        <p:nvSpPr>
          <p:cNvPr id="46" name="Text 44"/>
          <p:cNvSpPr/>
          <p:nvPr/>
        </p:nvSpPr>
        <p:spPr>
          <a:xfrm>
            <a:off x="6949440" y="2377440"/>
            <a:ext cx="1353312" cy="329184"/>
          </a:xfrm>
          <a:prstGeom prst="rect">
            <a:avLst/>
          </a:prstGeom>
          <a:noFill/>
          <a:ln/>
        </p:spPr>
        <p:txBody>
          <a:bodyPr wrap="square" lIns="0" tIns="0" rIns="0" bIns="0" rtlCol="0" anchor="ctr"/>
          <a:lstStyle/>
          <a:p>
            <a:pPr indent="0" marL="0">
              <a:buNone/>
            </a:pPr>
            <a:r>
              <a:rPr lang="en-US" sz="850" dirty="0">
                <a:solidFill>
                  <a:srgbClr val="065F46"/>
                </a:solidFill>
                <a:latin typeface="Calibri" pitchFamily="34" charset="0"/>
                <a:ea typeface="Calibri" pitchFamily="34" charset="-122"/>
                <a:cs typeface="Calibri" pitchFamily="34" charset="-120"/>
              </a:rPr>
              <a:t>Canon</a:t>
            </a:r>
            <a:endParaRPr lang="en-US" sz="850" dirty="0"/>
          </a:p>
        </p:txBody>
      </p:sp>
      <p:sp>
        <p:nvSpPr>
          <p:cNvPr id="47" name="Shape 45"/>
          <p:cNvSpPr/>
          <p:nvPr/>
        </p:nvSpPr>
        <p:spPr>
          <a:xfrm>
            <a:off x="457200" y="2706624"/>
            <a:ext cx="1645920" cy="329184"/>
          </a:xfrm>
          <a:prstGeom prst="rect">
            <a:avLst/>
          </a:prstGeom>
          <a:solidFill>
            <a:srgbClr val="FFFFFF"/>
          </a:solidFill>
          <a:ln w="3810">
            <a:solidFill>
              <a:srgbClr val="E2E8F0"/>
            </a:solidFill>
            <a:prstDash val="solid"/>
          </a:ln>
        </p:spPr>
      </p:sp>
      <p:sp>
        <p:nvSpPr>
          <p:cNvPr id="48" name="Text 46"/>
          <p:cNvSpPr/>
          <p:nvPr/>
        </p:nvSpPr>
        <p:spPr>
          <a:xfrm>
            <a:off x="512064" y="2706624"/>
            <a:ext cx="1572768" cy="329184"/>
          </a:xfrm>
          <a:prstGeom prst="rect">
            <a:avLst/>
          </a:prstGeom>
          <a:noFill/>
          <a:ln/>
        </p:spPr>
        <p:txBody>
          <a:bodyPr wrap="square" lIns="0" tIns="0" rIns="0" bIns="0" rtlCol="0" anchor="ctr"/>
          <a:lstStyle/>
          <a:p>
            <a:pPr indent="0" marL="0">
              <a:buNone/>
            </a:pPr>
            <a:r>
              <a:rPr lang="en-US" sz="850" b="1" dirty="0">
                <a:solidFill>
                  <a:srgbClr val="0D1117"/>
                </a:solidFill>
                <a:latin typeface="Calibri" pitchFamily="34" charset="0"/>
                <a:ea typeface="Calibri" pitchFamily="34" charset="-122"/>
                <a:cs typeface="Calibri" pitchFamily="34" charset="-120"/>
              </a:rPr>
              <a:t>Governance &amp; Audit</a:t>
            </a:r>
            <a:endParaRPr lang="en-US" sz="850" dirty="0"/>
          </a:p>
        </p:txBody>
      </p:sp>
      <p:sp>
        <p:nvSpPr>
          <p:cNvPr id="49" name="Shape 47"/>
          <p:cNvSpPr/>
          <p:nvPr/>
        </p:nvSpPr>
        <p:spPr>
          <a:xfrm>
            <a:off x="2103120" y="2706624"/>
            <a:ext cx="2395728" cy="329184"/>
          </a:xfrm>
          <a:prstGeom prst="rect">
            <a:avLst/>
          </a:prstGeom>
          <a:solidFill>
            <a:srgbClr val="FFFFFF"/>
          </a:solidFill>
          <a:ln w="3810">
            <a:solidFill>
              <a:srgbClr val="E2E8F0"/>
            </a:solidFill>
            <a:prstDash val="solid"/>
          </a:ln>
        </p:spPr>
      </p:sp>
      <p:sp>
        <p:nvSpPr>
          <p:cNvPr id="50" name="Text 48"/>
          <p:cNvSpPr/>
          <p:nvPr/>
        </p:nvSpPr>
        <p:spPr>
          <a:xfrm>
            <a:off x="2157984" y="2706624"/>
            <a:ext cx="2322576" cy="329184"/>
          </a:xfrm>
          <a:prstGeom prst="rect">
            <a:avLst/>
          </a:prstGeom>
          <a:noFill/>
          <a:ln/>
        </p:spPr>
        <p:txBody>
          <a:bodyPr wrap="square" lIns="0" tIns="0" rIns="0" bIns="0" rtlCol="0" anchor="ctr"/>
          <a:lstStyle/>
          <a:p>
            <a:pPr indent="0" marL="0">
              <a:buNone/>
            </a:pPr>
            <a:r>
              <a:rPr lang="en-US" sz="850" dirty="0">
                <a:solidFill>
                  <a:srgbClr val="0D1117"/>
                </a:solidFill>
                <a:latin typeface="Calibri" pitchFamily="34" charset="0"/>
                <a:ea typeface="Calibri" pitchFamily="34" charset="-122"/>
                <a:cs typeface="Calibri" pitchFamily="34" charset="-120"/>
              </a:rPr>
              <a:t>Very strong: checkpoints, packets, telemetry, QA, audit</a:t>
            </a:r>
            <a:endParaRPr lang="en-US" sz="850" dirty="0"/>
          </a:p>
        </p:txBody>
      </p:sp>
      <p:sp>
        <p:nvSpPr>
          <p:cNvPr id="51" name="Shape 49"/>
          <p:cNvSpPr/>
          <p:nvPr/>
        </p:nvSpPr>
        <p:spPr>
          <a:xfrm>
            <a:off x="4498848" y="2706624"/>
            <a:ext cx="2395728" cy="329184"/>
          </a:xfrm>
          <a:prstGeom prst="rect">
            <a:avLst/>
          </a:prstGeom>
          <a:solidFill>
            <a:srgbClr val="FFFFFF"/>
          </a:solidFill>
          <a:ln w="3810">
            <a:solidFill>
              <a:srgbClr val="E2E8F0"/>
            </a:solidFill>
            <a:prstDash val="solid"/>
          </a:ln>
        </p:spPr>
      </p:sp>
      <p:sp>
        <p:nvSpPr>
          <p:cNvPr id="52" name="Text 50"/>
          <p:cNvSpPr/>
          <p:nvPr/>
        </p:nvSpPr>
        <p:spPr>
          <a:xfrm>
            <a:off x="4553712" y="2706624"/>
            <a:ext cx="2322576" cy="329184"/>
          </a:xfrm>
          <a:prstGeom prst="rect">
            <a:avLst/>
          </a:prstGeom>
          <a:noFill/>
          <a:ln/>
        </p:spPr>
        <p:txBody>
          <a:bodyPr wrap="square" lIns="0" tIns="0" rIns="0" bIns="0" rtlCol="0" anchor="ctr"/>
          <a:lstStyle/>
          <a:p>
            <a:pPr indent="0" marL="0">
              <a:buNone/>
            </a:pPr>
            <a:r>
              <a:rPr lang="en-US" sz="850" dirty="0">
                <a:solidFill>
                  <a:srgbClr val="0D1117"/>
                </a:solidFill>
                <a:latin typeface="Calibri" pitchFamily="34" charset="0"/>
                <a:ea typeface="Calibri" pitchFamily="34" charset="-122"/>
                <a:cs typeface="Calibri" pitchFamily="34" charset="-120"/>
              </a:rPr>
              <a:t>Lighter; focused on runtime, not delivery governance</a:t>
            </a:r>
            <a:endParaRPr lang="en-US" sz="850" dirty="0"/>
          </a:p>
        </p:txBody>
      </p:sp>
      <p:sp>
        <p:nvSpPr>
          <p:cNvPr id="53" name="Shape 51"/>
          <p:cNvSpPr/>
          <p:nvPr/>
        </p:nvSpPr>
        <p:spPr>
          <a:xfrm>
            <a:off x="6894576" y="2706624"/>
            <a:ext cx="1426464" cy="329184"/>
          </a:xfrm>
          <a:prstGeom prst="rect">
            <a:avLst/>
          </a:prstGeom>
          <a:solidFill>
            <a:srgbClr val="ECFDF5"/>
          </a:solidFill>
          <a:ln w="3810">
            <a:solidFill>
              <a:srgbClr val="E2E8F0"/>
            </a:solidFill>
            <a:prstDash val="solid"/>
          </a:ln>
        </p:spPr>
      </p:sp>
      <p:sp>
        <p:nvSpPr>
          <p:cNvPr id="54" name="Text 52"/>
          <p:cNvSpPr/>
          <p:nvPr/>
        </p:nvSpPr>
        <p:spPr>
          <a:xfrm>
            <a:off x="6949440" y="2706624"/>
            <a:ext cx="1353312" cy="329184"/>
          </a:xfrm>
          <a:prstGeom prst="rect">
            <a:avLst/>
          </a:prstGeom>
          <a:noFill/>
          <a:ln/>
        </p:spPr>
        <p:txBody>
          <a:bodyPr wrap="square" lIns="0" tIns="0" rIns="0" bIns="0" rtlCol="0" anchor="ctr"/>
          <a:lstStyle/>
          <a:p>
            <a:pPr indent="0" marL="0">
              <a:buNone/>
            </a:pPr>
            <a:r>
              <a:rPr lang="en-US" sz="850" dirty="0">
                <a:solidFill>
                  <a:srgbClr val="065F46"/>
                </a:solidFill>
                <a:latin typeface="Calibri" pitchFamily="34" charset="0"/>
                <a:ea typeface="Calibri" pitchFamily="34" charset="-122"/>
                <a:cs typeface="Calibri" pitchFamily="34" charset="-120"/>
              </a:rPr>
              <a:t>Canon</a:t>
            </a:r>
            <a:endParaRPr lang="en-US" sz="850" dirty="0"/>
          </a:p>
        </p:txBody>
      </p:sp>
      <p:sp>
        <p:nvSpPr>
          <p:cNvPr id="55" name="Shape 53"/>
          <p:cNvSpPr/>
          <p:nvPr/>
        </p:nvSpPr>
        <p:spPr>
          <a:xfrm>
            <a:off x="457200" y="3035808"/>
            <a:ext cx="1645920" cy="329184"/>
          </a:xfrm>
          <a:prstGeom prst="rect">
            <a:avLst/>
          </a:prstGeom>
          <a:solidFill>
            <a:srgbClr val="F8FAFC"/>
          </a:solidFill>
          <a:ln w="3810">
            <a:solidFill>
              <a:srgbClr val="E2E8F0"/>
            </a:solidFill>
            <a:prstDash val="solid"/>
          </a:ln>
        </p:spPr>
      </p:sp>
      <p:sp>
        <p:nvSpPr>
          <p:cNvPr id="56" name="Text 54"/>
          <p:cNvSpPr/>
          <p:nvPr/>
        </p:nvSpPr>
        <p:spPr>
          <a:xfrm>
            <a:off x="512064" y="3035808"/>
            <a:ext cx="1572768" cy="329184"/>
          </a:xfrm>
          <a:prstGeom prst="rect">
            <a:avLst/>
          </a:prstGeom>
          <a:noFill/>
          <a:ln/>
        </p:spPr>
        <p:txBody>
          <a:bodyPr wrap="square" lIns="0" tIns="0" rIns="0" bIns="0" rtlCol="0" anchor="ctr"/>
          <a:lstStyle/>
          <a:p>
            <a:pPr indent="0" marL="0">
              <a:buNone/>
            </a:pPr>
            <a:r>
              <a:rPr lang="en-US" sz="850" b="1" dirty="0">
                <a:solidFill>
                  <a:srgbClr val="0D1117"/>
                </a:solidFill>
                <a:latin typeface="Calibri" pitchFamily="34" charset="0"/>
                <a:ea typeface="Calibri" pitchFamily="34" charset="-122"/>
                <a:cs typeface="Calibri" pitchFamily="34" charset="-120"/>
              </a:rPr>
              <a:t>Sandboxing</a:t>
            </a:r>
            <a:endParaRPr lang="en-US" sz="850" dirty="0"/>
          </a:p>
        </p:txBody>
      </p:sp>
      <p:sp>
        <p:nvSpPr>
          <p:cNvPr id="57" name="Shape 55"/>
          <p:cNvSpPr/>
          <p:nvPr/>
        </p:nvSpPr>
        <p:spPr>
          <a:xfrm>
            <a:off x="2103120" y="3035808"/>
            <a:ext cx="2395728" cy="329184"/>
          </a:xfrm>
          <a:prstGeom prst="rect">
            <a:avLst/>
          </a:prstGeom>
          <a:solidFill>
            <a:srgbClr val="F8FAFC"/>
          </a:solidFill>
          <a:ln w="3810">
            <a:solidFill>
              <a:srgbClr val="E2E8F0"/>
            </a:solidFill>
            <a:prstDash val="solid"/>
          </a:ln>
        </p:spPr>
      </p:sp>
      <p:sp>
        <p:nvSpPr>
          <p:cNvPr id="58" name="Text 56"/>
          <p:cNvSpPr/>
          <p:nvPr/>
        </p:nvSpPr>
        <p:spPr>
          <a:xfrm>
            <a:off x="2157984" y="3035808"/>
            <a:ext cx="2322576" cy="329184"/>
          </a:xfrm>
          <a:prstGeom prst="rect">
            <a:avLst/>
          </a:prstGeom>
          <a:noFill/>
          <a:ln/>
        </p:spPr>
        <p:txBody>
          <a:bodyPr wrap="square" lIns="0" tIns="0" rIns="0" bIns="0" rtlCol="0" anchor="ctr"/>
          <a:lstStyle/>
          <a:p>
            <a:pPr indent="0" marL="0">
              <a:buNone/>
            </a:pPr>
            <a:r>
              <a:rPr lang="en-US" sz="850" dirty="0">
                <a:solidFill>
                  <a:srgbClr val="0D1117"/>
                </a:solidFill>
                <a:latin typeface="Calibri" pitchFamily="34" charset="0"/>
                <a:ea typeface="Calibri" pitchFamily="34" charset="-122"/>
                <a:cs typeface="Calibri" pitchFamily="34" charset="-120"/>
              </a:rPr>
              <a:t>Indirect; not the central abstraction</a:t>
            </a:r>
            <a:endParaRPr lang="en-US" sz="850" dirty="0"/>
          </a:p>
        </p:txBody>
      </p:sp>
      <p:sp>
        <p:nvSpPr>
          <p:cNvPr id="59" name="Shape 57"/>
          <p:cNvSpPr/>
          <p:nvPr/>
        </p:nvSpPr>
        <p:spPr>
          <a:xfrm>
            <a:off x="4498848" y="3035808"/>
            <a:ext cx="2395728" cy="329184"/>
          </a:xfrm>
          <a:prstGeom prst="rect">
            <a:avLst/>
          </a:prstGeom>
          <a:solidFill>
            <a:srgbClr val="F8FAFC"/>
          </a:solidFill>
          <a:ln w="3810">
            <a:solidFill>
              <a:srgbClr val="E2E8F0"/>
            </a:solidFill>
            <a:prstDash val="solid"/>
          </a:ln>
        </p:spPr>
      </p:sp>
      <p:sp>
        <p:nvSpPr>
          <p:cNvPr id="60" name="Text 58"/>
          <p:cNvSpPr/>
          <p:nvPr/>
        </p:nvSpPr>
        <p:spPr>
          <a:xfrm>
            <a:off x="4553712" y="3035808"/>
            <a:ext cx="2322576" cy="329184"/>
          </a:xfrm>
          <a:prstGeom prst="rect">
            <a:avLst/>
          </a:prstGeom>
          <a:noFill/>
          <a:ln/>
        </p:spPr>
        <p:txBody>
          <a:bodyPr wrap="square" lIns="0" tIns="0" rIns="0" bIns="0" rtlCol="0" anchor="ctr"/>
          <a:lstStyle/>
          <a:p>
            <a:pPr indent="0" marL="0">
              <a:buNone/>
            </a:pPr>
            <a:r>
              <a:rPr lang="en-US" sz="850" dirty="0">
                <a:solidFill>
                  <a:srgbClr val="0D1117"/>
                </a:solidFill>
                <a:latin typeface="Calibri" pitchFamily="34" charset="0"/>
                <a:ea typeface="Calibri" pitchFamily="34" charset="-122"/>
                <a:cs typeface="Calibri" pitchFamily="34" charset="-120"/>
              </a:rPr>
              <a:t>First-class, explicit, provider-agnostic (Docker/Podman/Vercel)</a:t>
            </a:r>
            <a:endParaRPr lang="en-US" sz="850" dirty="0"/>
          </a:p>
        </p:txBody>
      </p:sp>
      <p:sp>
        <p:nvSpPr>
          <p:cNvPr id="61" name="Shape 59"/>
          <p:cNvSpPr/>
          <p:nvPr/>
        </p:nvSpPr>
        <p:spPr>
          <a:xfrm>
            <a:off x="6894576" y="3035808"/>
            <a:ext cx="1426464" cy="329184"/>
          </a:xfrm>
          <a:prstGeom prst="rect">
            <a:avLst/>
          </a:prstGeom>
          <a:solidFill>
            <a:srgbClr val="FFF7ED"/>
          </a:solidFill>
          <a:ln w="3810">
            <a:solidFill>
              <a:srgbClr val="E2E8F0"/>
            </a:solidFill>
            <a:prstDash val="solid"/>
          </a:ln>
        </p:spPr>
      </p:sp>
      <p:sp>
        <p:nvSpPr>
          <p:cNvPr id="62" name="Text 60"/>
          <p:cNvSpPr/>
          <p:nvPr/>
        </p:nvSpPr>
        <p:spPr>
          <a:xfrm>
            <a:off x="6949440" y="3035808"/>
            <a:ext cx="1353312" cy="329184"/>
          </a:xfrm>
          <a:prstGeom prst="rect">
            <a:avLst/>
          </a:prstGeom>
          <a:noFill/>
          <a:ln/>
        </p:spPr>
        <p:txBody>
          <a:bodyPr wrap="square" lIns="0" tIns="0" rIns="0" bIns="0" rtlCol="0" anchor="ctr"/>
          <a:lstStyle/>
          <a:p>
            <a:pPr indent="0" marL="0">
              <a:buNone/>
            </a:pPr>
            <a:r>
              <a:rPr lang="en-US" sz="850" dirty="0">
                <a:solidFill>
                  <a:srgbClr val="9A3412"/>
                </a:solidFill>
                <a:latin typeface="Calibri" pitchFamily="34" charset="0"/>
                <a:ea typeface="Calibri" pitchFamily="34" charset="-122"/>
                <a:cs typeface="Calibri" pitchFamily="34" charset="-120"/>
              </a:rPr>
              <a:t>Sandcastle</a:t>
            </a:r>
            <a:endParaRPr lang="en-US" sz="850" dirty="0"/>
          </a:p>
        </p:txBody>
      </p:sp>
      <p:sp>
        <p:nvSpPr>
          <p:cNvPr id="63" name="Shape 61"/>
          <p:cNvSpPr/>
          <p:nvPr/>
        </p:nvSpPr>
        <p:spPr>
          <a:xfrm>
            <a:off x="457200" y="3364992"/>
            <a:ext cx="1645920" cy="329184"/>
          </a:xfrm>
          <a:prstGeom prst="rect">
            <a:avLst/>
          </a:prstGeom>
          <a:solidFill>
            <a:srgbClr val="FFFFFF"/>
          </a:solidFill>
          <a:ln w="3810">
            <a:solidFill>
              <a:srgbClr val="E2E8F0"/>
            </a:solidFill>
            <a:prstDash val="solid"/>
          </a:ln>
        </p:spPr>
      </p:sp>
      <p:sp>
        <p:nvSpPr>
          <p:cNvPr id="64" name="Text 62"/>
          <p:cNvSpPr/>
          <p:nvPr/>
        </p:nvSpPr>
        <p:spPr>
          <a:xfrm>
            <a:off x="512064" y="3364992"/>
            <a:ext cx="1572768" cy="329184"/>
          </a:xfrm>
          <a:prstGeom prst="rect">
            <a:avLst/>
          </a:prstGeom>
          <a:noFill/>
          <a:ln/>
        </p:spPr>
        <p:txBody>
          <a:bodyPr wrap="square" lIns="0" tIns="0" rIns="0" bIns="0" rtlCol="0" anchor="ctr"/>
          <a:lstStyle/>
          <a:p>
            <a:pPr indent="0" marL="0">
              <a:buNone/>
            </a:pPr>
            <a:r>
              <a:rPr lang="en-US" sz="850" b="1" dirty="0">
                <a:solidFill>
                  <a:srgbClr val="0D1117"/>
                </a:solidFill>
                <a:latin typeface="Calibri" pitchFamily="34" charset="0"/>
                <a:ea typeface="Calibri" pitchFamily="34" charset="-122"/>
                <a:cs typeface="Calibri" pitchFamily="34" charset="-120"/>
              </a:rPr>
              <a:t>Extensibility</a:t>
            </a:r>
            <a:endParaRPr lang="en-US" sz="850" dirty="0"/>
          </a:p>
        </p:txBody>
      </p:sp>
      <p:sp>
        <p:nvSpPr>
          <p:cNvPr id="65" name="Shape 63"/>
          <p:cNvSpPr/>
          <p:nvPr/>
        </p:nvSpPr>
        <p:spPr>
          <a:xfrm>
            <a:off x="2103120" y="3364992"/>
            <a:ext cx="2395728" cy="329184"/>
          </a:xfrm>
          <a:prstGeom prst="rect">
            <a:avLst/>
          </a:prstGeom>
          <a:solidFill>
            <a:srgbClr val="FFFFFF"/>
          </a:solidFill>
          <a:ln w="3810">
            <a:solidFill>
              <a:srgbClr val="E2E8F0"/>
            </a:solidFill>
            <a:prstDash val="solid"/>
          </a:ln>
        </p:spPr>
      </p:sp>
      <p:sp>
        <p:nvSpPr>
          <p:cNvPr id="66" name="Text 64"/>
          <p:cNvSpPr/>
          <p:nvPr/>
        </p:nvSpPr>
        <p:spPr>
          <a:xfrm>
            <a:off x="2157984" y="3364992"/>
            <a:ext cx="2322576" cy="329184"/>
          </a:xfrm>
          <a:prstGeom prst="rect">
            <a:avLst/>
          </a:prstGeom>
          <a:noFill/>
          <a:ln/>
        </p:spPr>
        <p:txBody>
          <a:bodyPr wrap="square" lIns="0" tIns="0" rIns="0" bIns="0" rtlCol="0" anchor="ctr"/>
          <a:lstStyle/>
          <a:p>
            <a:pPr indent="0" marL="0">
              <a:buNone/>
            </a:pPr>
            <a:r>
              <a:rPr lang="en-US" sz="850" dirty="0">
                <a:solidFill>
                  <a:srgbClr val="0D1117"/>
                </a:solidFill>
                <a:latin typeface="Calibri" pitchFamily="34" charset="0"/>
                <a:ea typeface="Calibri" pitchFamily="34" charset="-122"/>
                <a:cs typeface="Calibri" pitchFamily="34" charset="-120"/>
              </a:rPr>
              <a:t>Opinionated and heavier; strong for Canon-native teams</a:t>
            </a:r>
            <a:endParaRPr lang="en-US" sz="850" dirty="0"/>
          </a:p>
        </p:txBody>
      </p:sp>
      <p:sp>
        <p:nvSpPr>
          <p:cNvPr id="67" name="Shape 65"/>
          <p:cNvSpPr/>
          <p:nvPr/>
        </p:nvSpPr>
        <p:spPr>
          <a:xfrm>
            <a:off x="4498848" y="3364992"/>
            <a:ext cx="2395728" cy="329184"/>
          </a:xfrm>
          <a:prstGeom prst="rect">
            <a:avLst/>
          </a:prstGeom>
          <a:solidFill>
            <a:srgbClr val="FFFFFF"/>
          </a:solidFill>
          <a:ln w="3810">
            <a:solidFill>
              <a:srgbClr val="E2E8F0"/>
            </a:solidFill>
            <a:prstDash val="solid"/>
          </a:ln>
        </p:spPr>
      </p:sp>
      <p:sp>
        <p:nvSpPr>
          <p:cNvPr id="68" name="Text 66"/>
          <p:cNvSpPr/>
          <p:nvPr/>
        </p:nvSpPr>
        <p:spPr>
          <a:xfrm>
            <a:off x="4553712" y="3364992"/>
            <a:ext cx="2322576" cy="329184"/>
          </a:xfrm>
          <a:prstGeom prst="rect">
            <a:avLst/>
          </a:prstGeom>
          <a:noFill/>
          <a:ln/>
        </p:spPr>
        <p:txBody>
          <a:bodyPr wrap="square" lIns="0" tIns="0" rIns="0" bIns="0" rtlCol="0" anchor="ctr"/>
          <a:lstStyle/>
          <a:p>
            <a:pPr indent="0" marL="0">
              <a:buNone/>
            </a:pPr>
            <a:r>
              <a:rPr lang="en-US" sz="850" dirty="0">
                <a:solidFill>
                  <a:srgbClr val="0D1117"/>
                </a:solidFill>
                <a:latin typeface="Calibri" pitchFamily="34" charset="0"/>
                <a:ea typeface="Calibri" pitchFamily="34" charset="-122"/>
                <a:cs typeface="Calibri" pitchFamily="34" charset="-120"/>
              </a:rPr>
              <a:t>Excellent for custom TypeScript workflows</a:t>
            </a:r>
            <a:endParaRPr lang="en-US" sz="850" dirty="0"/>
          </a:p>
        </p:txBody>
      </p:sp>
      <p:sp>
        <p:nvSpPr>
          <p:cNvPr id="69" name="Shape 67"/>
          <p:cNvSpPr/>
          <p:nvPr/>
        </p:nvSpPr>
        <p:spPr>
          <a:xfrm>
            <a:off x="6894576" y="3364992"/>
            <a:ext cx="1426464" cy="329184"/>
          </a:xfrm>
          <a:prstGeom prst="rect">
            <a:avLst/>
          </a:prstGeom>
          <a:solidFill>
            <a:srgbClr val="FFF7ED"/>
          </a:solidFill>
          <a:ln w="3810">
            <a:solidFill>
              <a:srgbClr val="E2E8F0"/>
            </a:solidFill>
            <a:prstDash val="solid"/>
          </a:ln>
        </p:spPr>
      </p:sp>
      <p:sp>
        <p:nvSpPr>
          <p:cNvPr id="70" name="Text 68"/>
          <p:cNvSpPr/>
          <p:nvPr/>
        </p:nvSpPr>
        <p:spPr>
          <a:xfrm>
            <a:off x="6949440" y="3364992"/>
            <a:ext cx="1353312" cy="329184"/>
          </a:xfrm>
          <a:prstGeom prst="rect">
            <a:avLst/>
          </a:prstGeom>
          <a:noFill/>
          <a:ln/>
        </p:spPr>
        <p:txBody>
          <a:bodyPr wrap="square" lIns="0" tIns="0" rIns="0" bIns="0" rtlCol="0" anchor="ctr"/>
          <a:lstStyle/>
          <a:p>
            <a:pPr indent="0" marL="0">
              <a:buNone/>
            </a:pPr>
            <a:r>
              <a:rPr lang="en-US" sz="850" dirty="0">
                <a:solidFill>
                  <a:srgbClr val="9A3412"/>
                </a:solidFill>
                <a:latin typeface="Calibri" pitchFamily="34" charset="0"/>
                <a:ea typeface="Calibri" pitchFamily="34" charset="-122"/>
                <a:cs typeface="Calibri" pitchFamily="34" charset="-120"/>
              </a:rPr>
              <a:t>Sandcastle</a:t>
            </a:r>
            <a:endParaRPr lang="en-US" sz="850" dirty="0"/>
          </a:p>
        </p:txBody>
      </p:sp>
      <p:sp>
        <p:nvSpPr>
          <p:cNvPr id="71" name="Shape 69"/>
          <p:cNvSpPr/>
          <p:nvPr/>
        </p:nvSpPr>
        <p:spPr>
          <a:xfrm>
            <a:off x="457200" y="3694176"/>
            <a:ext cx="1645920" cy="329184"/>
          </a:xfrm>
          <a:prstGeom prst="rect">
            <a:avLst/>
          </a:prstGeom>
          <a:solidFill>
            <a:srgbClr val="F8FAFC"/>
          </a:solidFill>
          <a:ln w="3810">
            <a:solidFill>
              <a:srgbClr val="E2E8F0"/>
            </a:solidFill>
            <a:prstDash val="solid"/>
          </a:ln>
        </p:spPr>
      </p:sp>
      <p:sp>
        <p:nvSpPr>
          <p:cNvPr id="72" name="Text 70"/>
          <p:cNvSpPr/>
          <p:nvPr/>
        </p:nvSpPr>
        <p:spPr>
          <a:xfrm>
            <a:off x="512064" y="3694176"/>
            <a:ext cx="1572768" cy="329184"/>
          </a:xfrm>
          <a:prstGeom prst="rect">
            <a:avLst/>
          </a:prstGeom>
          <a:noFill/>
          <a:ln/>
        </p:spPr>
        <p:txBody>
          <a:bodyPr wrap="square" lIns="0" tIns="0" rIns="0" bIns="0" rtlCol="0" anchor="ctr"/>
          <a:lstStyle/>
          <a:p>
            <a:pPr indent="0" marL="0">
              <a:buNone/>
            </a:pPr>
            <a:r>
              <a:rPr lang="en-US" sz="850" b="1" dirty="0">
                <a:solidFill>
                  <a:srgbClr val="0D1117"/>
                </a:solidFill>
                <a:latin typeface="Calibri" pitchFamily="34" charset="0"/>
                <a:ea typeface="Calibri" pitchFamily="34" charset="-122"/>
                <a:cs typeface="Calibri" pitchFamily="34" charset="-120"/>
              </a:rPr>
              <a:t>Enterprise Control</a:t>
            </a:r>
            <a:endParaRPr lang="en-US" sz="850" dirty="0"/>
          </a:p>
        </p:txBody>
      </p:sp>
      <p:sp>
        <p:nvSpPr>
          <p:cNvPr id="73" name="Shape 71"/>
          <p:cNvSpPr/>
          <p:nvPr/>
        </p:nvSpPr>
        <p:spPr>
          <a:xfrm>
            <a:off x="2103120" y="3694176"/>
            <a:ext cx="2395728" cy="329184"/>
          </a:xfrm>
          <a:prstGeom prst="rect">
            <a:avLst/>
          </a:prstGeom>
          <a:solidFill>
            <a:srgbClr val="F8FAFC"/>
          </a:solidFill>
          <a:ln w="3810">
            <a:solidFill>
              <a:srgbClr val="E2E8F0"/>
            </a:solidFill>
            <a:prstDash val="solid"/>
          </a:ln>
        </p:spPr>
      </p:sp>
      <p:sp>
        <p:nvSpPr>
          <p:cNvPr id="74" name="Text 72"/>
          <p:cNvSpPr/>
          <p:nvPr/>
        </p:nvSpPr>
        <p:spPr>
          <a:xfrm>
            <a:off x="2157984" y="3694176"/>
            <a:ext cx="2322576" cy="329184"/>
          </a:xfrm>
          <a:prstGeom prst="rect">
            <a:avLst/>
          </a:prstGeom>
          <a:noFill/>
          <a:ln/>
        </p:spPr>
        <p:txBody>
          <a:bodyPr wrap="square" lIns="0" tIns="0" rIns="0" bIns="0" rtlCol="0" anchor="ctr"/>
          <a:lstStyle/>
          <a:p>
            <a:pPr indent="0" marL="0">
              <a:buNone/>
            </a:pPr>
            <a:r>
              <a:rPr lang="en-US" sz="850" dirty="0">
                <a:solidFill>
                  <a:srgbClr val="0D1117"/>
                </a:solidFill>
                <a:latin typeface="Calibri" pitchFamily="34" charset="0"/>
                <a:ea typeface="Calibri" pitchFamily="34" charset="-122"/>
                <a:cs typeface="Calibri" pitchFamily="34" charset="-120"/>
              </a:rPr>
              <a:t>Strong self-hosted + data-sovereignty story</a:t>
            </a:r>
            <a:endParaRPr lang="en-US" sz="850" dirty="0"/>
          </a:p>
        </p:txBody>
      </p:sp>
      <p:sp>
        <p:nvSpPr>
          <p:cNvPr id="75" name="Shape 73"/>
          <p:cNvSpPr/>
          <p:nvPr/>
        </p:nvSpPr>
        <p:spPr>
          <a:xfrm>
            <a:off x="4498848" y="3694176"/>
            <a:ext cx="2395728" cy="329184"/>
          </a:xfrm>
          <a:prstGeom prst="rect">
            <a:avLst/>
          </a:prstGeom>
          <a:solidFill>
            <a:srgbClr val="F8FAFC"/>
          </a:solidFill>
          <a:ln w="3810">
            <a:solidFill>
              <a:srgbClr val="E2E8F0"/>
            </a:solidFill>
            <a:prstDash val="solid"/>
          </a:ln>
        </p:spPr>
      </p:sp>
      <p:sp>
        <p:nvSpPr>
          <p:cNvPr id="76" name="Text 74"/>
          <p:cNvSpPr/>
          <p:nvPr/>
        </p:nvSpPr>
        <p:spPr>
          <a:xfrm>
            <a:off x="4553712" y="3694176"/>
            <a:ext cx="2322576" cy="329184"/>
          </a:xfrm>
          <a:prstGeom prst="rect">
            <a:avLst/>
          </a:prstGeom>
          <a:noFill/>
          <a:ln/>
        </p:spPr>
        <p:txBody>
          <a:bodyPr wrap="square" lIns="0" tIns="0" rIns="0" bIns="0" rtlCol="0" anchor="ctr"/>
          <a:lstStyle/>
          <a:p>
            <a:pPr indent="0" marL="0">
              <a:buNone/>
            </a:pPr>
            <a:r>
              <a:rPr lang="en-US" sz="850" dirty="0">
                <a:solidFill>
                  <a:srgbClr val="0D1117"/>
                </a:solidFill>
                <a:latin typeface="Calibri" pitchFamily="34" charset="0"/>
                <a:ea typeface="Calibri" pitchFamily="34" charset="-122"/>
                <a:cs typeface="Calibri" pitchFamily="34" charset="-120"/>
              </a:rPr>
              <a:t>Good isolation; not an enterprise control plane</a:t>
            </a:r>
            <a:endParaRPr lang="en-US" sz="850" dirty="0"/>
          </a:p>
        </p:txBody>
      </p:sp>
      <p:sp>
        <p:nvSpPr>
          <p:cNvPr id="77" name="Shape 75"/>
          <p:cNvSpPr/>
          <p:nvPr/>
        </p:nvSpPr>
        <p:spPr>
          <a:xfrm>
            <a:off x="6894576" y="3694176"/>
            <a:ext cx="1426464" cy="329184"/>
          </a:xfrm>
          <a:prstGeom prst="rect">
            <a:avLst/>
          </a:prstGeom>
          <a:solidFill>
            <a:srgbClr val="ECFDF5"/>
          </a:solidFill>
          <a:ln w="3810">
            <a:solidFill>
              <a:srgbClr val="E2E8F0"/>
            </a:solidFill>
            <a:prstDash val="solid"/>
          </a:ln>
        </p:spPr>
      </p:sp>
      <p:sp>
        <p:nvSpPr>
          <p:cNvPr id="78" name="Text 76"/>
          <p:cNvSpPr/>
          <p:nvPr/>
        </p:nvSpPr>
        <p:spPr>
          <a:xfrm>
            <a:off x="6949440" y="3694176"/>
            <a:ext cx="1353312" cy="329184"/>
          </a:xfrm>
          <a:prstGeom prst="rect">
            <a:avLst/>
          </a:prstGeom>
          <a:noFill/>
          <a:ln/>
        </p:spPr>
        <p:txBody>
          <a:bodyPr wrap="square" lIns="0" tIns="0" rIns="0" bIns="0" rtlCol="0" anchor="ctr"/>
          <a:lstStyle/>
          <a:p>
            <a:pPr indent="0" marL="0">
              <a:buNone/>
            </a:pPr>
            <a:r>
              <a:rPr lang="en-US" sz="850" dirty="0">
                <a:solidFill>
                  <a:srgbClr val="065F46"/>
                </a:solidFill>
                <a:latin typeface="Calibri" pitchFamily="34" charset="0"/>
                <a:ea typeface="Calibri" pitchFamily="34" charset="-122"/>
                <a:cs typeface="Calibri" pitchFamily="34" charset="-120"/>
              </a:rPr>
              <a:t>Canon</a:t>
            </a:r>
            <a:endParaRPr lang="en-US" sz="850" dirty="0"/>
          </a:p>
        </p:txBody>
      </p:sp>
      <p:sp>
        <p:nvSpPr>
          <p:cNvPr id="79" name="Shape 77"/>
          <p:cNvSpPr/>
          <p:nvPr/>
        </p:nvSpPr>
        <p:spPr>
          <a:xfrm>
            <a:off x="457200" y="4023360"/>
            <a:ext cx="1645920" cy="329184"/>
          </a:xfrm>
          <a:prstGeom prst="rect">
            <a:avLst/>
          </a:prstGeom>
          <a:solidFill>
            <a:srgbClr val="FFFFFF"/>
          </a:solidFill>
          <a:ln w="3810">
            <a:solidFill>
              <a:srgbClr val="E2E8F0"/>
            </a:solidFill>
            <a:prstDash val="solid"/>
          </a:ln>
        </p:spPr>
      </p:sp>
      <p:sp>
        <p:nvSpPr>
          <p:cNvPr id="80" name="Text 78"/>
          <p:cNvSpPr/>
          <p:nvPr/>
        </p:nvSpPr>
        <p:spPr>
          <a:xfrm>
            <a:off x="512064" y="4023360"/>
            <a:ext cx="1572768" cy="329184"/>
          </a:xfrm>
          <a:prstGeom prst="rect">
            <a:avLst/>
          </a:prstGeom>
          <a:noFill/>
          <a:ln/>
        </p:spPr>
        <p:txBody>
          <a:bodyPr wrap="square" lIns="0" tIns="0" rIns="0" bIns="0" rtlCol="0" anchor="ctr"/>
          <a:lstStyle/>
          <a:p>
            <a:pPr indent="0" marL="0">
              <a:buNone/>
            </a:pPr>
            <a:r>
              <a:rPr lang="en-US" sz="850" b="1" dirty="0">
                <a:solidFill>
                  <a:srgbClr val="0D1117"/>
                </a:solidFill>
                <a:latin typeface="Calibri" pitchFamily="34" charset="0"/>
                <a:ea typeface="Calibri" pitchFamily="34" charset="-122"/>
                <a:cs typeface="Calibri" pitchFamily="34" charset="-120"/>
              </a:rPr>
              <a:t>Time to First Agent</a:t>
            </a:r>
            <a:endParaRPr lang="en-US" sz="850" dirty="0"/>
          </a:p>
        </p:txBody>
      </p:sp>
      <p:sp>
        <p:nvSpPr>
          <p:cNvPr id="81" name="Shape 79"/>
          <p:cNvSpPr/>
          <p:nvPr/>
        </p:nvSpPr>
        <p:spPr>
          <a:xfrm>
            <a:off x="2103120" y="4023360"/>
            <a:ext cx="2395728" cy="329184"/>
          </a:xfrm>
          <a:prstGeom prst="rect">
            <a:avLst/>
          </a:prstGeom>
          <a:solidFill>
            <a:srgbClr val="FFFFFF"/>
          </a:solidFill>
          <a:ln w="3810">
            <a:solidFill>
              <a:srgbClr val="E2E8F0"/>
            </a:solidFill>
            <a:prstDash val="solid"/>
          </a:ln>
        </p:spPr>
      </p:sp>
      <p:sp>
        <p:nvSpPr>
          <p:cNvPr id="82" name="Text 80"/>
          <p:cNvSpPr/>
          <p:nvPr/>
        </p:nvSpPr>
        <p:spPr>
          <a:xfrm>
            <a:off x="2157984" y="4023360"/>
            <a:ext cx="2322576" cy="329184"/>
          </a:xfrm>
          <a:prstGeom prst="rect">
            <a:avLst/>
          </a:prstGeom>
          <a:noFill/>
          <a:ln/>
        </p:spPr>
        <p:txBody>
          <a:bodyPr wrap="square" lIns="0" tIns="0" rIns="0" bIns="0" rtlCol="0" anchor="ctr"/>
          <a:lstStyle/>
          <a:p>
            <a:pPr indent="0" marL="0">
              <a:buNone/>
            </a:pPr>
            <a:r>
              <a:rPr lang="en-US" sz="850" dirty="0">
                <a:solidFill>
                  <a:srgbClr val="0D1117"/>
                </a:solidFill>
                <a:latin typeface="Calibri" pitchFamily="34" charset="0"/>
                <a:ea typeface="Calibri" pitchFamily="34" charset="-122"/>
                <a:cs typeface="Calibri" pitchFamily="34" charset="-120"/>
              </a:rPr>
              <a:t>Slower; more policy and platform to absorb</a:t>
            </a:r>
            <a:endParaRPr lang="en-US" sz="850" dirty="0"/>
          </a:p>
        </p:txBody>
      </p:sp>
      <p:sp>
        <p:nvSpPr>
          <p:cNvPr id="83" name="Shape 81"/>
          <p:cNvSpPr/>
          <p:nvPr/>
        </p:nvSpPr>
        <p:spPr>
          <a:xfrm>
            <a:off x="4498848" y="4023360"/>
            <a:ext cx="2395728" cy="329184"/>
          </a:xfrm>
          <a:prstGeom prst="rect">
            <a:avLst/>
          </a:prstGeom>
          <a:solidFill>
            <a:srgbClr val="FFFFFF"/>
          </a:solidFill>
          <a:ln w="3810">
            <a:solidFill>
              <a:srgbClr val="E2E8F0"/>
            </a:solidFill>
            <a:prstDash val="solid"/>
          </a:ln>
        </p:spPr>
      </p:sp>
      <p:sp>
        <p:nvSpPr>
          <p:cNvPr id="84" name="Text 82"/>
          <p:cNvSpPr/>
          <p:nvPr/>
        </p:nvSpPr>
        <p:spPr>
          <a:xfrm>
            <a:off x="4553712" y="4023360"/>
            <a:ext cx="2322576" cy="329184"/>
          </a:xfrm>
          <a:prstGeom prst="rect">
            <a:avLst/>
          </a:prstGeom>
          <a:noFill/>
          <a:ln/>
        </p:spPr>
        <p:txBody>
          <a:bodyPr wrap="square" lIns="0" tIns="0" rIns="0" bIns="0" rtlCol="0" anchor="ctr"/>
          <a:lstStyle/>
          <a:p>
            <a:pPr indent="0" marL="0">
              <a:buNone/>
            </a:pPr>
            <a:r>
              <a:rPr lang="en-US" sz="850" dirty="0">
                <a:solidFill>
                  <a:srgbClr val="0D1117"/>
                </a:solidFill>
                <a:latin typeface="Calibri" pitchFamily="34" charset="0"/>
                <a:ea typeface="Calibri" pitchFamily="34" charset="-122"/>
                <a:cs typeface="Calibri" pitchFamily="34" charset="-120"/>
              </a:rPr>
              <a:t>Faster; easier to compose from scratch</a:t>
            </a:r>
            <a:endParaRPr lang="en-US" sz="850" dirty="0"/>
          </a:p>
        </p:txBody>
      </p:sp>
      <p:sp>
        <p:nvSpPr>
          <p:cNvPr id="85" name="Shape 83"/>
          <p:cNvSpPr/>
          <p:nvPr/>
        </p:nvSpPr>
        <p:spPr>
          <a:xfrm>
            <a:off x="6894576" y="4023360"/>
            <a:ext cx="1426464" cy="329184"/>
          </a:xfrm>
          <a:prstGeom prst="rect">
            <a:avLst/>
          </a:prstGeom>
          <a:solidFill>
            <a:srgbClr val="FFF7ED"/>
          </a:solidFill>
          <a:ln w="3810">
            <a:solidFill>
              <a:srgbClr val="E2E8F0"/>
            </a:solidFill>
            <a:prstDash val="solid"/>
          </a:ln>
        </p:spPr>
      </p:sp>
      <p:sp>
        <p:nvSpPr>
          <p:cNvPr id="86" name="Text 84"/>
          <p:cNvSpPr/>
          <p:nvPr/>
        </p:nvSpPr>
        <p:spPr>
          <a:xfrm>
            <a:off x="6949440" y="4023360"/>
            <a:ext cx="1353312" cy="329184"/>
          </a:xfrm>
          <a:prstGeom prst="rect">
            <a:avLst/>
          </a:prstGeom>
          <a:noFill/>
          <a:ln/>
        </p:spPr>
        <p:txBody>
          <a:bodyPr wrap="square" lIns="0" tIns="0" rIns="0" bIns="0" rtlCol="0" anchor="ctr"/>
          <a:lstStyle/>
          <a:p>
            <a:pPr indent="0" marL="0">
              <a:buNone/>
            </a:pPr>
            <a:r>
              <a:rPr lang="en-US" sz="850" dirty="0">
                <a:solidFill>
                  <a:srgbClr val="9A3412"/>
                </a:solidFill>
                <a:latin typeface="Calibri" pitchFamily="34" charset="0"/>
                <a:ea typeface="Calibri" pitchFamily="34" charset="-122"/>
                <a:cs typeface="Calibri" pitchFamily="34" charset="-120"/>
              </a:rPr>
              <a:t>Sandcastle</a:t>
            </a:r>
            <a:endParaRPr lang="en-US" sz="850" dirty="0"/>
          </a:p>
        </p:txBody>
      </p:sp>
      <p:sp>
        <p:nvSpPr>
          <p:cNvPr id="87" name="Shape 85"/>
          <p:cNvSpPr/>
          <p:nvPr/>
        </p:nvSpPr>
        <p:spPr>
          <a:xfrm>
            <a:off x="457200" y="4517136"/>
            <a:ext cx="8046720" cy="274320"/>
          </a:xfrm>
          <a:prstGeom prst="rect">
            <a:avLst/>
          </a:prstGeom>
          <a:solidFill>
            <a:srgbClr val="0D1B2A"/>
          </a:solidFill>
          <a:ln w="12700">
            <a:solidFill>
              <a:srgbClr val="1E3A5F"/>
            </a:solidFill>
            <a:prstDash val="solid"/>
          </a:ln>
        </p:spPr>
      </p:sp>
      <p:sp>
        <p:nvSpPr>
          <p:cNvPr id="88" name="Text 86"/>
          <p:cNvSpPr/>
          <p:nvPr/>
        </p:nvSpPr>
        <p:spPr>
          <a:xfrm>
            <a:off x="566928" y="4517136"/>
            <a:ext cx="7827264" cy="274320"/>
          </a:xfrm>
          <a:prstGeom prst="rect">
            <a:avLst/>
          </a:prstGeom>
          <a:noFill/>
          <a:ln/>
        </p:spPr>
        <p:txBody>
          <a:bodyPr wrap="square" lIns="0" tIns="0" rIns="0" bIns="0" rtlCol="0" anchor="ctr"/>
          <a:lstStyle/>
          <a:p>
            <a:pPr indent="0" marL="0">
              <a:buNone/>
            </a:pPr>
            <a:r>
              <a:rPr lang="en-US" sz="950" b="1" dirty="0">
                <a:solidFill>
                  <a:srgbClr val="7BA3C4"/>
                </a:solidFill>
                <a:latin typeface="Calibri" pitchFamily="34" charset="0"/>
                <a:ea typeface="Calibri" pitchFamily="34" charset="-122"/>
                <a:cs typeface="Calibri" pitchFamily="34" charset="-120"/>
              </a:rPr>
              <a:t>Sandcastle wins where execution flexibility matters. Canon wins where delivery governance, org memory, and audit discipline matter.</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0"/>
            <a:ext cx="109728" cy="658368"/>
          </a:xfrm>
          <a:prstGeom prst="rect">
            <a:avLst/>
          </a:prstGeom>
          <a:solidFill>
            <a:srgbClr val="00D4AA"/>
          </a:solidFill>
          <a:ln w="12700">
            <a:solidFill>
              <a:srgbClr val="00D4AA"/>
            </a:solidFill>
            <a:prstDash val="solid"/>
          </a:ln>
        </p:spPr>
      </p:sp>
      <p:sp>
        <p:nvSpPr>
          <p:cNvPr id="4" name="Text 2"/>
          <p:cNvSpPr/>
          <p:nvPr/>
        </p:nvSpPr>
        <p:spPr>
          <a:xfrm>
            <a:off x="219456" y="0"/>
            <a:ext cx="685800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Governance as a Product Category</a:t>
            </a:r>
            <a:endParaRPr lang="en-US" sz="2100" dirty="0"/>
          </a:p>
        </p:txBody>
      </p:sp>
      <p:sp>
        <p:nvSpPr>
          <p:cNvPr id="5" name="Text 3"/>
          <p:cNvSpPr/>
          <p:nvPr/>
        </p:nvSpPr>
        <p:spPr>
          <a:xfrm>
            <a:off x="219456" y="0"/>
            <a:ext cx="8778240" cy="658368"/>
          </a:xfrm>
          <a:prstGeom prst="rect">
            <a:avLst/>
          </a:prstGeom>
          <a:noFill/>
          <a:ln/>
        </p:spPr>
        <p:txBody>
          <a:bodyPr wrap="square" lIns="0" tIns="0" rIns="0" bIns="0" rtlCol="0" anchor="ctr"/>
          <a:lstStyle/>
          <a:p>
            <a:pPr algn="r" indent="0" marL="0">
              <a:buNone/>
            </a:pPr>
            <a:r>
              <a:rPr lang="en-US" sz="1000" dirty="0">
                <a:solidFill>
                  <a:srgbClr val="4B6A8A"/>
                </a:solidFill>
                <a:latin typeface="Calibri" pitchFamily="34" charset="0"/>
                <a:ea typeface="Calibri" pitchFamily="34" charset="-122"/>
                <a:cs typeface="Calibri" pitchFamily="34" charset="-120"/>
              </a:rPr>
              <a:t>How We Compare → Strategic Insight</a:t>
            </a:r>
            <a:endParaRPr lang="en-US" sz="1000" dirty="0"/>
          </a:p>
        </p:txBody>
      </p:sp>
      <p:sp>
        <p:nvSpPr>
          <p:cNvPr id="6" name="Shape 4"/>
          <p:cNvSpPr/>
          <p:nvPr/>
        </p:nvSpPr>
        <p:spPr>
          <a:xfrm>
            <a:off x="457200" y="786384"/>
            <a:ext cx="8229600" cy="1261872"/>
          </a:xfrm>
          <a:prstGeom prst="rect">
            <a:avLst/>
          </a:prstGeom>
          <a:solidFill>
            <a:srgbClr val="1E3A5F"/>
          </a:solidFill>
          <a:ln w="12700">
            <a:solidFill>
              <a:srgbClr val="1E3A5F"/>
            </a:solidFill>
            <a:prstDash val="solid"/>
          </a:ln>
        </p:spPr>
      </p:sp>
      <p:sp>
        <p:nvSpPr>
          <p:cNvPr id="7" name="Shape 5"/>
          <p:cNvSpPr/>
          <p:nvPr/>
        </p:nvSpPr>
        <p:spPr>
          <a:xfrm>
            <a:off x="457200" y="786384"/>
            <a:ext cx="91440" cy="1261872"/>
          </a:xfrm>
          <a:prstGeom prst="rect">
            <a:avLst/>
          </a:prstGeom>
          <a:solidFill>
            <a:srgbClr val="00D4AA"/>
          </a:solidFill>
          <a:ln w="12700">
            <a:solidFill>
              <a:srgbClr val="00D4AA"/>
            </a:solidFill>
            <a:prstDash val="solid"/>
          </a:ln>
        </p:spPr>
      </p:sp>
      <p:sp>
        <p:nvSpPr>
          <p:cNvPr id="8" name="Text 6"/>
          <p:cNvSpPr/>
          <p:nvPr/>
        </p:nvSpPr>
        <p:spPr>
          <a:xfrm>
            <a:off x="676656" y="822960"/>
            <a:ext cx="7845552" cy="1170432"/>
          </a:xfrm>
          <a:prstGeom prst="rect">
            <a:avLst/>
          </a:prstGeom>
          <a:noFill/>
          <a:ln/>
        </p:spPr>
        <p:txBody>
          <a:bodyPr wrap="square" lIns="0" tIns="0" rIns="0" bIns="0" rtlCol="0" anchor="ctr"/>
          <a:lstStyle/>
          <a:p>
            <a:pPr indent="0" marL="0">
              <a:buNone/>
            </a:pPr>
            <a:r>
              <a:rPr lang="en-US" sz="1300" i="1" dirty="0">
                <a:solidFill>
                  <a:srgbClr val="A8C4E0"/>
                </a:solidFill>
                <a:latin typeface="Calibri" pitchFamily="34" charset="0"/>
                <a:ea typeface="Calibri" pitchFamily="34" charset="-122"/>
                <a:cs typeface="Calibri" pitchFamily="34" charset="-120"/>
              </a:rPr>
              <a:t>“Not governance as in auth/permissions — governance of the software delivery process itself: making sure AI work follows required steps, uses org memory/policies, produces evidence, and can’t quietly skip QA or release discipline. That alone could be a real product category.”</a:t>
            </a:r>
            <a:endParaRPr lang="en-US" sz="1300" dirty="0"/>
          </a:p>
        </p:txBody>
      </p:sp>
      <p:sp>
        <p:nvSpPr>
          <p:cNvPr id="9" name="Shape 7"/>
          <p:cNvSpPr/>
          <p:nvPr/>
        </p:nvSpPr>
        <p:spPr>
          <a:xfrm>
            <a:off x="457200" y="2194560"/>
            <a:ext cx="2651760" cy="248716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10" name="Shape 8"/>
          <p:cNvSpPr/>
          <p:nvPr/>
        </p:nvSpPr>
        <p:spPr>
          <a:xfrm>
            <a:off x="457200" y="2194560"/>
            <a:ext cx="64008" cy="2487168"/>
          </a:xfrm>
          <a:prstGeom prst="rect">
            <a:avLst/>
          </a:prstGeom>
          <a:solidFill>
            <a:srgbClr val="0891B2"/>
          </a:solidFill>
          <a:ln w="12700">
            <a:solidFill>
              <a:srgbClr val="0891B2"/>
            </a:solidFill>
            <a:prstDash val="solid"/>
          </a:ln>
        </p:spPr>
      </p:sp>
      <p:sp>
        <p:nvSpPr>
          <p:cNvPr id="11" name="Shape 9"/>
          <p:cNvSpPr/>
          <p:nvPr/>
        </p:nvSpPr>
        <p:spPr>
          <a:xfrm>
            <a:off x="594360" y="2340864"/>
            <a:ext cx="475488" cy="475488"/>
          </a:xfrm>
          <a:prstGeom prst="ellipse">
            <a:avLst/>
          </a:prstGeom>
          <a:solidFill>
            <a:srgbClr val="0891B2"/>
          </a:solidFill>
          <a:ln w="12700">
            <a:solidFill>
              <a:srgbClr val="0891B2"/>
            </a:solidFill>
            <a:prstDash val="solid"/>
          </a:ln>
        </p:spPr>
      </p:sp>
      <p:sp>
        <p:nvSpPr>
          <p:cNvPr id="12" name="Text 10"/>
          <p:cNvSpPr/>
          <p:nvPr/>
        </p:nvSpPr>
        <p:spPr>
          <a:xfrm>
            <a:off x="594360" y="2340864"/>
            <a:ext cx="475488" cy="4754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3" name="Text 11"/>
          <p:cNvSpPr/>
          <p:nvPr/>
        </p:nvSpPr>
        <p:spPr>
          <a:xfrm>
            <a:off x="621792" y="2907792"/>
            <a:ext cx="2340864" cy="493776"/>
          </a:xfrm>
          <a:prstGeom prst="rect">
            <a:avLst/>
          </a:prstGeom>
          <a:noFill/>
          <a:ln/>
        </p:spPr>
        <p:txBody>
          <a:bodyPr wrap="square" lIns="0" tIns="0" rIns="0" bIns="0" rtlCol="0" anchor="ctr"/>
          <a:lstStyle/>
          <a:p>
            <a:pPr indent="0" marL="0">
              <a:buNone/>
            </a:pPr>
            <a:r>
              <a:rPr lang="en-US" sz="1200" b="1" dirty="0">
                <a:solidFill>
                  <a:srgbClr val="0D1117"/>
                </a:solidFill>
                <a:latin typeface="Calibri" pitchFamily="34" charset="0"/>
                <a:ea typeface="Calibri" pitchFamily="34" charset="-122"/>
                <a:cs typeface="Calibri" pitchFamily="34" charset="-120"/>
              </a:rPr>
              <a:t>Required steps, not optional suggestions</a:t>
            </a:r>
            <a:endParaRPr lang="en-US" sz="1200" dirty="0"/>
          </a:p>
        </p:txBody>
      </p:sp>
      <p:sp>
        <p:nvSpPr>
          <p:cNvPr id="14" name="Text 12"/>
          <p:cNvSpPr/>
          <p:nvPr/>
        </p:nvSpPr>
        <p:spPr>
          <a:xfrm>
            <a:off x="621792" y="3419856"/>
            <a:ext cx="2340864" cy="117043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Every task must pass through the scoper to implementer to qa-gate to release chain. Agents cannot declare done without file-backed packets. The chain is enforced, not advisory.</a:t>
            </a:r>
            <a:endParaRPr lang="en-US" sz="1000" dirty="0"/>
          </a:p>
        </p:txBody>
      </p:sp>
      <p:sp>
        <p:nvSpPr>
          <p:cNvPr id="15" name="Shape 13"/>
          <p:cNvSpPr/>
          <p:nvPr/>
        </p:nvSpPr>
        <p:spPr>
          <a:xfrm>
            <a:off x="3246120" y="2194560"/>
            <a:ext cx="2651760" cy="248716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16" name="Shape 14"/>
          <p:cNvSpPr/>
          <p:nvPr/>
        </p:nvSpPr>
        <p:spPr>
          <a:xfrm>
            <a:off x="3246120" y="2194560"/>
            <a:ext cx="64008" cy="2487168"/>
          </a:xfrm>
          <a:prstGeom prst="rect">
            <a:avLst/>
          </a:prstGeom>
          <a:solidFill>
            <a:srgbClr val="00D4AA"/>
          </a:solidFill>
          <a:ln w="12700">
            <a:solidFill>
              <a:srgbClr val="00D4AA"/>
            </a:solidFill>
            <a:prstDash val="solid"/>
          </a:ln>
        </p:spPr>
      </p:sp>
      <p:sp>
        <p:nvSpPr>
          <p:cNvPr id="17" name="Shape 15"/>
          <p:cNvSpPr/>
          <p:nvPr/>
        </p:nvSpPr>
        <p:spPr>
          <a:xfrm>
            <a:off x="3383280" y="2340864"/>
            <a:ext cx="475488" cy="475488"/>
          </a:xfrm>
          <a:prstGeom prst="ellipse">
            <a:avLst/>
          </a:prstGeom>
          <a:solidFill>
            <a:srgbClr val="00D4AA"/>
          </a:solidFill>
          <a:ln w="12700">
            <a:solidFill>
              <a:srgbClr val="00D4AA"/>
            </a:solidFill>
            <a:prstDash val="solid"/>
          </a:ln>
        </p:spPr>
      </p:sp>
      <p:sp>
        <p:nvSpPr>
          <p:cNvPr id="18" name="Text 16"/>
          <p:cNvSpPr/>
          <p:nvPr/>
        </p:nvSpPr>
        <p:spPr>
          <a:xfrm>
            <a:off x="3383280" y="2340864"/>
            <a:ext cx="475488" cy="4754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9" name="Text 17"/>
          <p:cNvSpPr/>
          <p:nvPr/>
        </p:nvSpPr>
        <p:spPr>
          <a:xfrm>
            <a:off x="3410712" y="2907792"/>
            <a:ext cx="2340864" cy="493776"/>
          </a:xfrm>
          <a:prstGeom prst="rect">
            <a:avLst/>
          </a:prstGeom>
          <a:noFill/>
          <a:ln/>
        </p:spPr>
        <p:txBody>
          <a:bodyPr wrap="square" lIns="0" tIns="0" rIns="0" bIns="0" rtlCol="0" anchor="ctr"/>
          <a:lstStyle/>
          <a:p>
            <a:pPr indent="0" marL="0">
              <a:buNone/>
            </a:pPr>
            <a:r>
              <a:rPr lang="en-US" sz="1200" b="1" dirty="0">
                <a:solidFill>
                  <a:srgbClr val="0D1117"/>
                </a:solidFill>
                <a:latin typeface="Calibri" pitchFamily="34" charset="0"/>
                <a:ea typeface="Calibri" pitchFamily="34" charset="-122"/>
                <a:cs typeface="Calibri" pitchFamily="34" charset="-120"/>
              </a:rPr>
              <a:t>Evidence grounded in org memory and policy</a:t>
            </a:r>
            <a:endParaRPr lang="en-US" sz="1200" dirty="0"/>
          </a:p>
        </p:txBody>
      </p:sp>
      <p:sp>
        <p:nvSpPr>
          <p:cNvPr id="20" name="Text 18"/>
          <p:cNvSpPr/>
          <p:nvPr/>
        </p:nvSpPr>
        <p:spPr>
          <a:xfrm>
            <a:off x="3410712" y="3419856"/>
            <a:ext cx="2340864" cy="117043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Retrieval is tenant-scoped and repo-bounded. Agents work from what the org has decided and captured, not from general model knowledge or stale context. DoR enforces this before a line of code is written.</a:t>
            </a:r>
            <a:endParaRPr lang="en-US" sz="1000" dirty="0"/>
          </a:p>
        </p:txBody>
      </p:sp>
      <p:sp>
        <p:nvSpPr>
          <p:cNvPr id="21" name="Shape 19"/>
          <p:cNvSpPr/>
          <p:nvPr/>
        </p:nvSpPr>
        <p:spPr>
          <a:xfrm>
            <a:off x="6035040" y="2194560"/>
            <a:ext cx="2651760" cy="248716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22" name="Shape 20"/>
          <p:cNvSpPr/>
          <p:nvPr/>
        </p:nvSpPr>
        <p:spPr>
          <a:xfrm>
            <a:off x="6035040" y="2194560"/>
            <a:ext cx="64008" cy="2487168"/>
          </a:xfrm>
          <a:prstGeom prst="rect">
            <a:avLst/>
          </a:prstGeom>
          <a:solidFill>
            <a:srgbClr val="6366F1"/>
          </a:solidFill>
          <a:ln w="12700">
            <a:solidFill>
              <a:srgbClr val="6366F1"/>
            </a:solidFill>
            <a:prstDash val="solid"/>
          </a:ln>
        </p:spPr>
      </p:sp>
      <p:sp>
        <p:nvSpPr>
          <p:cNvPr id="23" name="Shape 21"/>
          <p:cNvSpPr/>
          <p:nvPr/>
        </p:nvSpPr>
        <p:spPr>
          <a:xfrm>
            <a:off x="6172200" y="2340864"/>
            <a:ext cx="475488" cy="475488"/>
          </a:xfrm>
          <a:prstGeom prst="ellipse">
            <a:avLst/>
          </a:prstGeom>
          <a:solidFill>
            <a:srgbClr val="6366F1"/>
          </a:solidFill>
          <a:ln w="12700">
            <a:solidFill>
              <a:srgbClr val="6366F1"/>
            </a:solidFill>
            <a:prstDash val="solid"/>
          </a:ln>
        </p:spPr>
      </p:sp>
      <p:sp>
        <p:nvSpPr>
          <p:cNvPr id="24" name="Text 22"/>
          <p:cNvSpPr/>
          <p:nvPr/>
        </p:nvSpPr>
        <p:spPr>
          <a:xfrm>
            <a:off x="6172200" y="2340864"/>
            <a:ext cx="475488" cy="4754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5" name="Text 23"/>
          <p:cNvSpPr/>
          <p:nvPr/>
        </p:nvSpPr>
        <p:spPr>
          <a:xfrm>
            <a:off x="6199632" y="2907792"/>
            <a:ext cx="2340864" cy="493776"/>
          </a:xfrm>
          <a:prstGeom prst="rect">
            <a:avLst/>
          </a:prstGeom>
          <a:noFill/>
          <a:ln/>
        </p:spPr>
        <p:txBody>
          <a:bodyPr wrap="square" lIns="0" tIns="0" rIns="0" bIns="0" rtlCol="0" anchor="ctr"/>
          <a:lstStyle/>
          <a:p>
            <a:pPr indent="0" marL="0">
              <a:buNone/>
            </a:pPr>
            <a:r>
              <a:rPr lang="en-US" sz="1200" b="1" dirty="0">
                <a:solidFill>
                  <a:srgbClr val="0D1117"/>
                </a:solidFill>
                <a:latin typeface="Calibri" pitchFamily="34" charset="0"/>
                <a:ea typeface="Calibri" pitchFamily="34" charset="-122"/>
                <a:cs typeface="Calibri" pitchFamily="34" charset="-120"/>
              </a:rPr>
              <a:t>Extractable — can sit above any agent runtime</a:t>
            </a:r>
            <a:endParaRPr lang="en-US" sz="1200" dirty="0"/>
          </a:p>
        </p:txBody>
      </p:sp>
      <p:sp>
        <p:nvSpPr>
          <p:cNvPr id="26" name="Text 24"/>
          <p:cNvSpPr/>
          <p:nvPr/>
        </p:nvSpPr>
        <p:spPr>
          <a:xfrm>
            <a:off x="6199632" y="3419856"/>
            <a:ext cx="2340864" cy="117043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The governance layer does not need to own the model, tools, or prompt. Teams keep their existing agent workflow. Canon enforces handoffs, checkpoints, QA gates, and the audit trail at the boundaries.</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1F35"/>
          </a:solidFill>
          <a:ln w="12700">
            <a:solidFill>
              <a:srgbClr val="0A1F35"/>
            </a:solidFill>
            <a:prstDash val="solid"/>
          </a:ln>
        </p:spPr>
      </p:sp>
      <p:sp>
        <p:nvSpPr>
          <p:cNvPr id="3" name="Shape 1"/>
          <p:cNvSpPr/>
          <p:nvPr/>
        </p:nvSpPr>
        <p:spPr>
          <a:xfrm>
            <a:off x="0" y="0"/>
            <a:ext cx="109728" cy="658368"/>
          </a:xfrm>
          <a:prstGeom prst="rect">
            <a:avLst/>
          </a:prstGeom>
          <a:solidFill>
            <a:srgbClr val="00D4AA"/>
          </a:solidFill>
          <a:ln w="12700">
            <a:solidFill>
              <a:srgbClr val="00D4AA"/>
            </a:solidFill>
            <a:prstDash val="solid"/>
          </a:ln>
        </p:spPr>
      </p:sp>
      <p:sp>
        <p:nvSpPr>
          <p:cNvPr id="4" name="Text 2"/>
          <p:cNvSpPr/>
          <p:nvPr/>
        </p:nvSpPr>
        <p:spPr>
          <a:xfrm>
            <a:off x="219456" y="0"/>
            <a:ext cx="685800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Remote Workers &amp; Remote Subagents</a:t>
            </a:r>
            <a:endParaRPr lang="en-US" sz="2100" dirty="0"/>
          </a:p>
        </p:txBody>
      </p:sp>
      <p:sp>
        <p:nvSpPr>
          <p:cNvPr id="5" name="Text 3"/>
          <p:cNvSpPr/>
          <p:nvPr/>
        </p:nvSpPr>
        <p:spPr>
          <a:xfrm>
            <a:off x="219456" y="0"/>
            <a:ext cx="8778240" cy="658368"/>
          </a:xfrm>
          <a:prstGeom prst="rect">
            <a:avLst/>
          </a:prstGeom>
          <a:noFill/>
          <a:ln/>
        </p:spPr>
        <p:txBody>
          <a:bodyPr wrap="square" lIns="0" tIns="0" rIns="0" bIns="0" rtlCol="0" anchor="ctr"/>
          <a:lstStyle/>
          <a:p>
            <a:pPr algn="r" indent="0" marL="0">
              <a:buNone/>
            </a:pPr>
            <a:r>
              <a:rPr lang="en-US" sz="1000" dirty="0">
                <a:solidFill>
                  <a:srgbClr val="4B6A8A"/>
                </a:solidFill>
                <a:latin typeface="Calibri" pitchFamily="34" charset="0"/>
                <a:ea typeface="Calibri" pitchFamily="34" charset="-122"/>
                <a:cs typeface="Calibri" pitchFamily="34" charset="-120"/>
              </a:rPr>
              <a:t>How We Compare → Execution Model</a:t>
            </a:r>
            <a:endParaRPr lang="en-US" sz="1000" dirty="0"/>
          </a:p>
        </p:txBody>
      </p:sp>
      <p:sp>
        <p:nvSpPr>
          <p:cNvPr id="6" name="Text 4"/>
          <p:cNvSpPr/>
          <p:nvPr/>
        </p:nvSpPr>
        <p:spPr>
          <a:xfrm>
            <a:off x="347472" y="749808"/>
            <a:ext cx="8412480" cy="274320"/>
          </a:xfrm>
          <a:prstGeom prst="rect">
            <a:avLst/>
          </a:prstGeom>
          <a:noFill/>
          <a:ln/>
        </p:spPr>
        <p:txBody>
          <a:bodyPr wrap="square" lIns="0" tIns="0" rIns="0" bIns="0" rtlCol="0" anchor="ctr"/>
          <a:lstStyle/>
          <a:p>
            <a:pPr indent="0" marL="0">
              <a:buNone/>
            </a:pPr>
            <a:r>
              <a:rPr lang="en-US" sz="1200" i="1" dirty="0">
                <a:solidFill>
                  <a:srgbClr val="7BA3C4"/>
                </a:solidFill>
                <a:latin typeface="Calibri" pitchFamily="34" charset="0"/>
                <a:ea typeface="Calibri" pitchFamily="34" charset="-122"/>
                <a:cs typeface="Calibri" pitchFamily="34" charset="-120"/>
              </a:rPr>
              <a:t>Cursor stays as the user-facing shell. Canon owns the real execution, evidence, and governance path remotely.</a:t>
            </a:r>
            <a:endParaRPr lang="en-US" sz="1200" dirty="0"/>
          </a:p>
        </p:txBody>
      </p:sp>
      <p:sp>
        <p:nvSpPr>
          <p:cNvPr id="7" name="Shape 5"/>
          <p:cNvSpPr/>
          <p:nvPr/>
        </p:nvSpPr>
        <p:spPr>
          <a:xfrm>
            <a:off x="365760" y="1115568"/>
            <a:ext cx="1938528" cy="1170432"/>
          </a:xfrm>
          <a:prstGeom prst="rect">
            <a:avLst/>
          </a:prstGeom>
          <a:solidFill>
            <a:srgbClr val="334155"/>
          </a:solidFill>
          <a:ln w="12700">
            <a:solidFill>
              <a:srgbClr val="334155"/>
            </a:solidFill>
            <a:prstDash val="solid"/>
          </a:ln>
        </p:spPr>
      </p:sp>
      <p:sp>
        <p:nvSpPr>
          <p:cNvPr id="8" name="Text 6"/>
          <p:cNvSpPr/>
          <p:nvPr/>
        </p:nvSpPr>
        <p:spPr>
          <a:xfrm>
            <a:off x="365760" y="1115568"/>
            <a:ext cx="1938528"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User in Cursor</a:t>
            </a:r>
            <a:endParaRPr lang="en-US" sz="1100" dirty="0"/>
          </a:p>
        </p:txBody>
      </p:sp>
      <p:sp>
        <p:nvSpPr>
          <p:cNvPr id="9" name="Text 7"/>
          <p:cNvSpPr/>
          <p:nvPr/>
        </p:nvSpPr>
        <p:spPr>
          <a:xfrm>
            <a:off x="365760" y="1737360"/>
            <a:ext cx="1938528" cy="548640"/>
          </a:xfrm>
          <a:prstGeom prst="rect">
            <a:avLst/>
          </a:prstGeom>
          <a:noFill/>
          <a:ln/>
        </p:spPr>
        <p:txBody>
          <a:bodyPr wrap="square" lIns="0" tIns="0" rIns="0" bIns="0" rtlCol="0" anchor="t"/>
          <a:lstStyle/>
          <a:p>
            <a:pPr algn="ctr" indent="0" marL="0">
              <a:buNone/>
            </a:pPr>
            <a:r>
              <a:rPr lang="en-US" sz="900" dirty="0">
                <a:solidFill>
                  <a:srgbClr val="B0C8E0"/>
                </a:solidFill>
                <a:latin typeface="Calibri" pitchFamily="34" charset="0"/>
                <a:ea typeface="Calibri" pitchFamily="34" charset="-122"/>
                <a:cs typeface="Calibri" pitchFamily="34" charset="-120"/>
              </a:rPr>
              <a:t>local hooks or</a:t>
            </a:r>
            <a:endParaRPr lang="en-US" sz="900" dirty="0"/>
          </a:p>
          <a:p>
            <a:pPr algn="ctr" indent="0" marL="0">
              <a:buNone/>
            </a:pPr>
            <a:r>
              <a:rPr lang="en-US" sz="900" dirty="0">
                <a:solidFill>
                  <a:srgbClr val="B0C8E0"/>
                </a:solidFill>
                <a:latin typeface="Calibri" pitchFamily="34" charset="0"/>
                <a:ea typeface="Calibri" pitchFamily="34" charset="-122"/>
                <a:cs typeface="Calibri" pitchFamily="34" charset="-120"/>
              </a:rPr>
              <a:t>command dispatch</a:t>
            </a:r>
            <a:endParaRPr lang="en-US" sz="900" dirty="0"/>
          </a:p>
        </p:txBody>
      </p:sp>
      <p:sp>
        <p:nvSpPr>
          <p:cNvPr id="10" name="Shape 8"/>
          <p:cNvSpPr/>
          <p:nvPr/>
        </p:nvSpPr>
        <p:spPr>
          <a:xfrm>
            <a:off x="2304288" y="1645920"/>
            <a:ext cx="182880" cy="54864"/>
          </a:xfrm>
          <a:prstGeom prst="rect">
            <a:avLst/>
          </a:prstGeom>
          <a:solidFill>
            <a:srgbClr val="00D4AA"/>
          </a:solidFill>
          <a:ln w="12700">
            <a:solidFill>
              <a:srgbClr val="00D4AA"/>
            </a:solidFill>
            <a:prstDash val="solid"/>
          </a:ln>
        </p:spPr>
      </p:sp>
      <p:sp>
        <p:nvSpPr>
          <p:cNvPr id="11" name="Shape 9"/>
          <p:cNvSpPr/>
          <p:nvPr/>
        </p:nvSpPr>
        <p:spPr>
          <a:xfrm>
            <a:off x="2487168" y="1115568"/>
            <a:ext cx="1938528" cy="1170432"/>
          </a:xfrm>
          <a:prstGeom prst="rect">
            <a:avLst/>
          </a:prstGeom>
          <a:solidFill>
            <a:srgbClr val="1E3A5F"/>
          </a:solidFill>
          <a:ln w="12700">
            <a:solidFill>
              <a:srgbClr val="1E3A5F"/>
            </a:solidFill>
            <a:prstDash val="solid"/>
          </a:ln>
        </p:spPr>
      </p:sp>
      <p:sp>
        <p:nvSpPr>
          <p:cNvPr id="12" name="Text 10"/>
          <p:cNvSpPr/>
          <p:nvPr/>
        </p:nvSpPr>
        <p:spPr>
          <a:xfrm>
            <a:off x="2487168" y="1115568"/>
            <a:ext cx="1938528"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Canon Control Plane</a:t>
            </a:r>
            <a:endParaRPr lang="en-US" sz="1100" dirty="0"/>
          </a:p>
        </p:txBody>
      </p:sp>
      <p:sp>
        <p:nvSpPr>
          <p:cNvPr id="13" name="Text 11"/>
          <p:cNvSpPr/>
          <p:nvPr/>
        </p:nvSpPr>
        <p:spPr>
          <a:xfrm>
            <a:off x="2487168" y="1737360"/>
            <a:ext cx="1938528" cy="548640"/>
          </a:xfrm>
          <a:prstGeom prst="rect">
            <a:avLst/>
          </a:prstGeom>
          <a:noFill/>
          <a:ln/>
        </p:spPr>
        <p:txBody>
          <a:bodyPr wrap="square" lIns="0" tIns="0" rIns="0" bIns="0" rtlCol="0" anchor="t"/>
          <a:lstStyle/>
          <a:p>
            <a:pPr algn="ctr" indent="0" marL="0">
              <a:buNone/>
            </a:pPr>
            <a:r>
              <a:rPr lang="en-US" sz="900" dirty="0">
                <a:solidFill>
                  <a:srgbClr val="B0C8E0"/>
                </a:solidFill>
                <a:latin typeface="Calibri" pitchFamily="34" charset="0"/>
                <a:ea typeface="Calibri" pitchFamily="34" charset="-122"/>
                <a:cs typeface="Calibri" pitchFamily="34" charset="-120"/>
              </a:rPr>
              <a:t>AWS-hosted</a:t>
            </a:r>
            <a:endParaRPr lang="en-US" sz="900" dirty="0"/>
          </a:p>
          <a:p>
            <a:pPr algn="ctr" indent="0" marL="0">
              <a:buNone/>
            </a:pPr>
            <a:r>
              <a:rPr lang="en-US" sz="900" dirty="0">
                <a:solidFill>
                  <a:srgbClr val="B0C8E0"/>
                </a:solidFill>
                <a:latin typeface="Calibri" pitchFamily="34" charset="0"/>
                <a:ea typeface="Calibri" pitchFamily="34" charset="-122"/>
                <a:cs typeface="Calibri" pitchFamily="34" charset="-120"/>
              </a:rPr>
              <a:t>memory + governance</a:t>
            </a:r>
            <a:endParaRPr lang="en-US" sz="900" dirty="0"/>
          </a:p>
        </p:txBody>
      </p:sp>
      <p:sp>
        <p:nvSpPr>
          <p:cNvPr id="14" name="Shape 12"/>
          <p:cNvSpPr/>
          <p:nvPr/>
        </p:nvSpPr>
        <p:spPr>
          <a:xfrm>
            <a:off x="4425696" y="1645920"/>
            <a:ext cx="182880" cy="54864"/>
          </a:xfrm>
          <a:prstGeom prst="rect">
            <a:avLst/>
          </a:prstGeom>
          <a:solidFill>
            <a:srgbClr val="00D4AA"/>
          </a:solidFill>
          <a:ln w="12700">
            <a:solidFill>
              <a:srgbClr val="00D4AA"/>
            </a:solidFill>
            <a:prstDash val="solid"/>
          </a:ln>
        </p:spPr>
      </p:sp>
      <p:sp>
        <p:nvSpPr>
          <p:cNvPr id="15" name="Shape 13"/>
          <p:cNvSpPr/>
          <p:nvPr/>
        </p:nvSpPr>
        <p:spPr>
          <a:xfrm>
            <a:off x="4608576" y="1115568"/>
            <a:ext cx="1938528" cy="1170432"/>
          </a:xfrm>
          <a:prstGeom prst="rect">
            <a:avLst/>
          </a:prstGeom>
          <a:solidFill>
            <a:srgbClr val="6366F1"/>
          </a:solidFill>
          <a:ln w="12700">
            <a:solidFill>
              <a:srgbClr val="6366F1"/>
            </a:solidFill>
            <a:prstDash val="solid"/>
          </a:ln>
        </p:spPr>
      </p:sp>
      <p:sp>
        <p:nvSpPr>
          <p:cNvPr id="16" name="Text 14"/>
          <p:cNvSpPr/>
          <p:nvPr/>
        </p:nvSpPr>
        <p:spPr>
          <a:xfrm>
            <a:off x="4608576" y="1115568"/>
            <a:ext cx="1938528"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Cursor SDK Cloud Agent</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or Remote Worker</a:t>
            </a:r>
            <a:endParaRPr lang="en-US" sz="1100" dirty="0"/>
          </a:p>
        </p:txBody>
      </p:sp>
      <p:sp>
        <p:nvSpPr>
          <p:cNvPr id="17" name="Text 15"/>
          <p:cNvSpPr/>
          <p:nvPr/>
        </p:nvSpPr>
        <p:spPr>
          <a:xfrm>
            <a:off x="4608576" y="1737360"/>
            <a:ext cx="1938528" cy="548640"/>
          </a:xfrm>
          <a:prstGeom prst="rect">
            <a:avLst/>
          </a:prstGeom>
          <a:noFill/>
          <a:ln/>
        </p:spPr>
        <p:txBody>
          <a:bodyPr wrap="square" lIns="0" tIns="0" rIns="0" bIns="0" rtlCol="0" anchor="t"/>
          <a:lstStyle/>
          <a:p>
            <a:pPr algn="ctr" indent="0" marL="0">
              <a:buNone/>
            </a:pPr>
            <a:r>
              <a:rPr lang="en-US" sz="900" dirty="0">
                <a:solidFill>
                  <a:srgbClr val="B0C8E0"/>
                </a:solidFill>
                <a:latin typeface="Calibri" pitchFamily="34" charset="0"/>
                <a:ea typeface="Calibri" pitchFamily="34" charset="-122"/>
                <a:cs typeface="Calibri" pitchFamily="34" charset="-120"/>
              </a:rPr>
              <a:t>ECS Fargate task</a:t>
            </a:r>
            <a:endParaRPr lang="en-US" sz="900" dirty="0"/>
          </a:p>
          <a:p>
            <a:pPr algn="ctr" indent="0" marL="0">
              <a:buNone/>
            </a:pPr>
            <a:r>
              <a:rPr lang="en-US" sz="900" dirty="0">
                <a:solidFill>
                  <a:srgbClr val="B0C8E0"/>
                </a:solidFill>
                <a:latin typeface="Calibri" pitchFamily="34" charset="0"/>
                <a:ea typeface="Calibri" pitchFamily="34" charset="-122"/>
                <a:cs typeface="Calibri" pitchFamily="34" charset="-120"/>
              </a:rPr>
              <a:t>executes the real work</a:t>
            </a:r>
            <a:endParaRPr lang="en-US" sz="900" dirty="0"/>
          </a:p>
        </p:txBody>
      </p:sp>
      <p:sp>
        <p:nvSpPr>
          <p:cNvPr id="18" name="Shape 16"/>
          <p:cNvSpPr/>
          <p:nvPr/>
        </p:nvSpPr>
        <p:spPr>
          <a:xfrm>
            <a:off x="6547104" y="1645920"/>
            <a:ext cx="182880" cy="54864"/>
          </a:xfrm>
          <a:prstGeom prst="rect">
            <a:avLst/>
          </a:prstGeom>
          <a:solidFill>
            <a:srgbClr val="00D4AA"/>
          </a:solidFill>
          <a:ln w="12700">
            <a:solidFill>
              <a:srgbClr val="00D4AA"/>
            </a:solidFill>
            <a:prstDash val="solid"/>
          </a:ln>
        </p:spPr>
      </p:sp>
      <p:sp>
        <p:nvSpPr>
          <p:cNvPr id="19" name="Shape 17"/>
          <p:cNvSpPr/>
          <p:nvPr/>
        </p:nvSpPr>
        <p:spPr>
          <a:xfrm>
            <a:off x="6729984" y="1115568"/>
            <a:ext cx="1938528" cy="1170432"/>
          </a:xfrm>
          <a:prstGeom prst="rect">
            <a:avLst/>
          </a:prstGeom>
          <a:solidFill>
            <a:srgbClr val="00D4AA"/>
          </a:solidFill>
          <a:ln w="12700">
            <a:solidFill>
              <a:srgbClr val="00D4AA"/>
            </a:solidFill>
            <a:prstDash val="solid"/>
          </a:ln>
        </p:spPr>
      </p:sp>
      <p:sp>
        <p:nvSpPr>
          <p:cNvPr id="20" name="Text 18"/>
          <p:cNvSpPr/>
          <p:nvPr/>
        </p:nvSpPr>
        <p:spPr>
          <a:xfrm>
            <a:off x="6729984" y="1115568"/>
            <a:ext cx="1938528"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Branch / PR / Result</a:t>
            </a:r>
            <a:endParaRPr lang="en-US" sz="1100" dirty="0"/>
          </a:p>
        </p:txBody>
      </p:sp>
      <p:sp>
        <p:nvSpPr>
          <p:cNvPr id="21" name="Text 19"/>
          <p:cNvSpPr/>
          <p:nvPr/>
        </p:nvSpPr>
        <p:spPr>
          <a:xfrm>
            <a:off x="6729984" y="1737360"/>
            <a:ext cx="1938528" cy="548640"/>
          </a:xfrm>
          <a:prstGeom prst="rect">
            <a:avLst/>
          </a:prstGeom>
          <a:noFill/>
          <a:ln/>
        </p:spPr>
        <p:txBody>
          <a:bodyPr wrap="square" lIns="0" tIns="0" rIns="0" bIns="0" rtlCol="0" anchor="t"/>
          <a:lstStyle/>
          <a:p>
            <a:pPr algn="ctr" indent="0" marL="0">
              <a:buNone/>
            </a:pPr>
            <a:r>
              <a:rPr lang="en-US" sz="900" dirty="0">
                <a:solidFill>
                  <a:srgbClr val="B0C8E0"/>
                </a:solidFill>
                <a:latin typeface="Calibri" pitchFamily="34" charset="0"/>
                <a:ea typeface="Calibri" pitchFamily="34" charset="-122"/>
                <a:cs typeface="Calibri" pitchFamily="34" charset="-120"/>
              </a:rPr>
              <a:t>packets + evidence</a:t>
            </a:r>
            <a:endParaRPr lang="en-US" sz="900" dirty="0"/>
          </a:p>
          <a:p>
            <a:pPr algn="ctr" indent="0" marL="0">
              <a:buNone/>
            </a:pPr>
            <a:r>
              <a:rPr lang="en-US" sz="900" dirty="0">
                <a:solidFill>
                  <a:srgbClr val="B0C8E0"/>
                </a:solidFill>
                <a:latin typeface="Calibri" pitchFamily="34" charset="0"/>
                <a:ea typeface="Calibri" pitchFamily="34" charset="-122"/>
                <a:cs typeface="Calibri" pitchFamily="34" charset="-120"/>
              </a:rPr>
              <a:t>gates + audit trail</a:t>
            </a:r>
            <a:endParaRPr lang="en-US" sz="900" dirty="0"/>
          </a:p>
        </p:txBody>
      </p:sp>
      <p:sp>
        <p:nvSpPr>
          <p:cNvPr id="22" name="Shape 20"/>
          <p:cNvSpPr/>
          <p:nvPr/>
        </p:nvSpPr>
        <p:spPr>
          <a:xfrm>
            <a:off x="365760" y="2432304"/>
            <a:ext cx="2688336" cy="2340864"/>
          </a:xfrm>
          <a:prstGeom prst="rect">
            <a:avLst/>
          </a:prstGeom>
          <a:solidFill>
            <a:srgbClr val="0D1B2A"/>
          </a:solidFill>
          <a:ln w="6350">
            <a:solidFill>
              <a:srgbClr val="64748B"/>
            </a:solidFill>
            <a:prstDash val="solid"/>
          </a:ln>
        </p:spPr>
      </p:sp>
      <p:sp>
        <p:nvSpPr>
          <p:cNvPr id="23" name="Shape 21"/>
          <p:cNvSpPr/>
          <p:nvPr/>
        </p:nvSpPr>
        <p:spPr>
          <a:xfrm>
            <a:off x="365760" y="2432304"/>
            <a:ext cx="2688336" cy="54864"/>
          </a:xfrm>
          <a:prstGeom prst="rect">
            <a:avLst/>
          </a:prstGeom>
          <a:solidFill>
            <a:srgbClr val="64748B"/>
          </a:solidFill>
          <a:ln w="12700">
            <a:solidFill>
              <a:srgbClr val="64748B"/>
            </a:solidFill>
            <a:prstDash val="solid"/>
          </a:ln>
        </p:spPr>
      </p:sp>
      <p:sp>
        <p:nvSpPr>
          <p:cNvPr id="24" name="Text 22"/>
          <p:cNvSpPr/>
          <p:nvPr/>
        </p:nvSpPr>
        <p:spPr>
          <a:xfrm>
            <a:off x="457200" y="2523744"/>
            <a:ext cx="2505456" cy="365760"/>
          </a:xfrm>
          <a:prstGeom prst="rect">
            <a:avLst/>
          </a:prstGeom>
          <a:noFill/>
          <a:ln/>
        </p:spPr>
        <p:txBody>
          <a:bodyPr wrap="square" lIns="0" tIns="0" rIns="0" bIns="0"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Canon hides (by default)</a:t>
            </a:r>
            <a:endParaRPr lang="en-US" sz="1100" dirty="0"/>
          </a:p>
        </p:txBody>
      </p:sp>
      <p:sp>
        <p:nvSpPr>
          <p:cNvPr id="25" name="Text 23"/>
          <p:cNvSpPr/>
          <p:nvPr/>
        </p:nvSpPr>
        <p:spPr>
          <a:xfrm>
            <a:off x="457200" y="2944368"/>
            <a:ext cx="2505456" cy="420624"/>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-&gt; Internal subagent prompt files</a:t>
            </a:r>
            <a:endParaRPr lang="en-US" sz="950" dirty="0"/>
          </a:p>
        </p:txBody>
      </p:sp>
      <p:sp>
        <p:nvSpPr>
          <p:cNvPr id="26" name="Text 24"/>
          <p:cNvSpPr/>
          <p:nvPr/>
        </p:nvSpPr>
        <p:spPr>
          <a:xfrm>
            <a:off x="457200" y="3401568"/>
            <a:ext cx="2505456" cy="420624"/>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-&gt; Remote orchestration internals and tool call sequences</a:t>
            </a:r>
            <a:endParaRPr lang="en-US" sz="950" dirty="0"/>
          </a:p>
        </p:txBody>
      </p:sp>
      <p:sp>
        <p:nvSpPr>
          <p:cNvPr id="27" name="Text 25"/>
          <p:cNvSpPr/>
          <p:nvPr/>
        </p:nvSpPr>
        <p:spPr>
          <a:xfrm>
            <a:off x="457200" y="3858768"/>
            <a:ext cx="2505456" cy="420624"/>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-&gt; Prompt drift details and retry history</a:t>
            </a:r>
            <a:endParaRPr lang="en-US" sz="950" dirty="0"/>
          </a:p>
        </p:txBody>
      </p:sp>
      <p:sp>
        <p:nvSpPr>
          <p:cNvPr id="28" name="Text 26"/>
          <p:cNvSpPr/>
          <p:nvPr/>
        </p:nvSpPr>
        <p:spPr>
          <a:xfrm>
            <a:off x="457200" y="4315968"/>
            <a:ext cx="2505456" cy="420624"/>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-&gt; Raw ECS task internals</a:t>
            </a:r>
            <a:endParaRPr lang="en-US" sz="950" dirty="0"/>
          </a:p>
        </p:txBody>
      </p:sp>
      <p:sp>
        <p:nvSpPr>
          <p:cNvPr id="29" name="Shape 27"/>
          <p:cNvSpPr/>
          <p:nvPr/>
        </p:nvSpPr>
        <p:spPr>
          <a:xfrm>
            <a:off x="3200400" y="2432304"/>
            <a:ext cx="2688336" cy="2340864"/>
          </a:xfrm>
          <a:prstGeom prst="rect">
            <a:avLst/>
          </a:prstGeom>
          <a:solidFill>
            <a:srgbClr val="0D1B2A"/>
          </a:solidFill>
          <a:ln w="6350">
            <a:solidFill>
              <a:srgbClr val="00D4AA"/>
            </a:solidFill>
            <a:prstDash val="solid"/>
          </a:ln>
        </p:spPr>
      </p:sp>
      <p:sp>
        <p:nvSpPr>
          <p:cNvPr id="30" name="Shape 28"/>
          <p:cNvSpPr/>
          <p:nvPr/>
        </p:nvSpPr>
        <p:spPr>
          <a:xfrm>
            <a:off x="3200400" y="2432304"/>
            <a:ext cx="2688336" cy="54864"/>
          </a:xfrm>
          <a:prstGeom prst="rect">
            <a:avLst/>
          </a:prstGeom>
          <a:solidFill>
            <a:srgbClr val="00D4AA"/>
          </a:solidFill>
          <a:ln w="12700">
            <a:solidFill>
              <a:srgbClr val="00D4AA"/>
            </a:solidFill>
            <a:prstDash val="solid"/>
          </a:ln>
        </p:spPr>
      </p:sp>
      <p:sp>
        <p:nvSpPr>
          <p:cNvPr id="31" name="Text 29"/>
          <p:cNvSpPr/>
          <p:nvPr/>
        </p:nvSpPr>
        <p:spPr>
          <a:xfrm>
            <a:off x="3291840" y="2523744"/>
            <a:ext cx="2505456" cy="365760"/>
          </a:xfrm>
          <a:prstGeom prst="rect">
            <a:avLst/>
          </a:prstGeom>
          <a:noFill/>
          <a:ln/>
        </p:spPr>
        <p:txBody>
          <a:bodyPr wrap="square" lIns="0" tIns="0" rIns="0" bIns="0" rtlCol="0" anchor="ctr"/>
          <a:lstStyle/>
          <a:p>
            <a:pPr indent="0" marL="0">
              <a:buNone/>
            </a:pPr>
            <a:r>
              <a:rPr lang="en-US" sz="1100" b="1" dirty="0">
                <a:solidFill>
                  <a:srgbClr val="00D4AA"/>
                </a:solidFill>
                <a:latin typeface="Calibri" pitchFamily="34" charset="0"/>
                <a:ea typeface="Calibri" pitchFamily="34" charset="-122"/>
                <a:cs typeface="Calibri" pitchFamily="34" charset="-120"/>
              </a:rPr>
              <a:t>Canon always exposes</a:t>
            </a:r>
            <a:endParaRPr lang="en-US" sz="1100" dirty="0"/>
          </a:p>
        </p:txBody>
      </p:sp>
      <p:sp>
        <p:nvSpPr>
          <p:cNvPr id="32" name="Text 30"/>
          <p:cNvSpPr/>
          <p:nvPr/>
        </p:nvSpPr>
        <p:spPr>
          <a:xfrm>
            <a:off x="3291840" y="2944368"/>
            <a:ext cx="2505456" cy="420624"/>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-&gt; Packet / evidence outputs on disk</a:t>
            </a:r>
            <a:endParaRPr lang="en-US" sz="950" dirty="0"/>
          </a:p>
        </p:txBody>
      </p:sp>
      <p:sp>
        <p:nvSpPr>
          <p:cNvPr id="33" name="Text 31"/>
          <p:cNvSpPr/>
          <p:nvPr/>
        </p:nvSpPr>
        <p:spPr>
          <a:xfrm>
            <a:off x="3291840" y="3401568"/>
            <a:ext cx="2505456" cy="420624"/>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-&gt; Gate results: QA PASS | FAIL | MISSING_EVIDENCE</a:t>
            </a:r>
            <a:endParaRPr lang="en-US" sz="950" dirty="0"/>
          </a:p>
        </p:txBody>
      </p:sp>
      <p:sp>
        <p:nvSpPr>
          <p:cNvPr id="34" name="Text 32"/>
          <p:cNvSpPr/>
          <p:nvPr/>
        </p:nvSpPr>
        <p:spPr>
          <a:xfrm>
            <a:off x="3291840" y="3858768"/>
            <a:ext cx="2505456" cy="420624"/>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-&gt; Canonical event trail (agentId, runId, model, duration)</a:t>
            </a:r>
            <a:endParaRPr lang="en-US" sz="950" dirty="0"/>
          </a:p>
        </p:txBody>
      </p:sp>
      <p:sp>
        <p:nvSpPr>
          <p:cNvPr id="35" name="Text 33"/>
          <p:cNvSpPr/>
          <p:nvPr/>
        </p:nvSpPr>
        <p:spPr>
          <a:xfrm>
            <a:off x="3291840" y="4315968"/>
            <a:ext cx="2505456" cy="420624"/>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-&gt; Policy compliance state per task and per repo</a:t>
            </a:r>
            <a:endParaRPr lang="en-US" sz="950" dirty="0"/>
          </a:p>
        </p:txBody>
      </p:sp>
      <p:sp>
        <p:nvSpPr>
          <p:cNvPr id="36" name="Shape 34"/>
          <p:cNvSpPr/>
          <p:nvPr/>
        </p:nvSpPr>
        <p:spPr>
          <a:xfrm>
            <a:off x="6035040" y="2432304"/>
            <a:ext cx="2688336" cy="2340864"/>
          </a:xfrm>
          <a:prstGeom prst="rect">
            <a:avLst/>
          </a:prstGeom>
          <a:solidFill>
            <a:srgbClr val="0D1B2A"/>
          </a:solidFill>
          <a:ln w="6350">
            <a:solidFill>
              <a:srgbClr val="6366F1"/>
            </a:solidFill>
            <a:prstDash val="solid"/>
          </a:ln>
        </p:spPr>
      </p:sp>
      <p:sp>
        <p:nvSpPr>
          <p:cNvPr id="37" name="Shape 35"/>
          <p:cNvSpPr/>
          <p:nvPr/>
        </p:nvSpPr>
        <p:spPr>
          <a:xfrm>
            <a:off x="6035040" y="2432304"/>
            <a:ext cx="2688336" cy="54864"/>
          </a:xfrm>
          <a:prstGeom prst="rect">
            <a:avLst/>
          </a:prstGeom>
          <a:solidFill>
            <a:srgbClr val="6366F1"/>
          </a:solidFill>
          <a:ln w="12700">
            <a:solidFill>
              <a:srgbClr val="6366F1"/>
            </a:solidFill>
            <a:prstDash val="solid"/>
          </a:ln>
        </p:spPr>
      </p:sp>
      <p:sp>
        <p:nvSpPr>
          <p:cNvPr id="38" name="Text 36"/>
          <p:cNvSpPr/>
          <p:nvPr/>
        </p:nvSpPr>
        <p:spPr>
          <a:xfrm>
            <a:off x="6126480" y="2523744"/>
            <a:ext cx="2505456" cy="365760"/>
          </a:xfrm>
          <a:prstGeom prst="rect">
            <a:avLst/>
          </a:prstGeom>
          <a:noFill/>
          <a:ln/>
        </p:spPr>
        <p:txBody>
          <a:bodyPr wrap="square" lIns="0" tIns="0" rIns="0" bIns="0" rtlCol="0" anchor="ctr"/>
          <a:lstStyle/>
          <a:p>
            <a:pPr indent="0" marL="0">
              <a:buNone/>
            </a:pPr>
            <a:r>
              <a:rPr lang="en-US" sz="1100" b="1" dirty="0">
                <a:solidFill>
                  <a:srgbClr val="6366F1"/>
                </a:solidFill>
                <a:latin typeface="Calibri" pitchFamily="34" charset="0"/>
                <a:ea typeface="Calibri" pitchFamily="34" charset="-122"/>
                <a:cs typeface="Calibri" pitchFamily="34" charset="-120"/>
              </a:rPr>
              <a:t>Why this matters</a:t>
            </a:r>
            <a:endParaRPr lang="en-US" sz="1100" dirty="0"/>
          </a:p>
        </p:txBody>
      </p:sp>
      <p:sp>
        <p:nvSpPr>
          <p:cNvPr id="39" name="Text 37"/>
          <p:cNvSpPr/>
          <p:nvPr/>
        </p:nvSpPr>
        <p:spPr>
          <a:xfrm>
            <a:off x="6126480" y="2944368"/>
            <a:ext cx="2505456" cy="420624"/>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-&gt; Avoids relying on user-local subagent behavior</a:t>
            </a:r>
            <a:endParaRPr lang="en-US" sz="950" dirty="0"/>
          </a:p>
        </p:txBody>
      </p:sp>
      <p:sp>
        <p:nvSpPr>
          <p:cNvPr id="40" name="Text 38"/>
          <p:cNvSpPr/>
          <p:nvPr/>
        </p:nvSpPr>
        <p:spPr>
          <a:xfrm>
            <a:off x="6126480" y="3401568"/>
            <a:ext cx="2505456" cy="420624"/>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-&gt; Avoids depending on user-owned tokens for core execution</a:t>
            </a:r>
            <a:endParaRPr lang="en-US" sz="950" dirty="0"/>
          </a:p>
        </p:txBody>
      </p:sp>
      <p:sp>
        <p:nvSpPr>
          <p:cNvPr id="41" name="Text 39"/>
          <p:cNvSpPr/>
          <p:nvPr/>
        </p:nvSpPr>
        <p:spPr>
          <a:xfrm>
            <a:off x="6126480" y="3858768"/>
            <a:ext cx="2505456" cy="420624"/>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-&gt; Governance consistency regardless of where code runs</a:t>
            </a:r>
            <a:endParaRPr lang="en-US" sz="950" dirty="0"/>
          </a:p>
        </p:txBody>
      </p:sp>
      <p:sp>
        <p:nvSpPr>
          <p:cNvPr id="42" name="Text 40"/>
          <p:cNvSpPr/>
          <p:nvPr/>
        </p:nvSpPr>
        <p:spPr>
          <a:xfrm>
            <a:off x="6126480" y="4315968"/>
            <a:ext cx="2505456" cy="420624"/>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-&gt; Cleaner enterprise UX — status without internal noise</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0"/>
            <a:ext cx="109728" cy="658368"/>
          </a:xfrm>
          <a:prstGeom prst="rect">
            <a:avLst/>
          </a:prstGeom>
          <a:solidFill>
            <a:srgbClr val="00D4AA"/>
          </a:solidFill>
          <a:ln w="12700">
            <a:solidFill>
              <a:srgbClr val="00D4AA"/>
            </a:solidFill>
            <a:prstDash val="solid"/>
          </a:ln>
        </p:spPr>
      </p:sp>
      <p:sp>
        <p:nvSpPr>
          <p:cNvPr id="4" name="Text 2"/>
          <p:cNvSpPr/>
          <p:nvPr/>
        </p:nvSpPr>
        <p:spPr>
          <a:xfrm>
            <a:off x="219456" y="0"/>
            <a:ext cx="685800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Validated: AWS ECS -&gt; Cursor SDK -&gt; GitHub PR (May 1, 2026)</a:t>
            </a:r>
            <a:endParaRPr lang="en-US" sz="2100" dirty="0"/>
          </a:p>
        </p:txBody>
      </p:sp>
      <p:sp>
        <p:nvSpPr>
          <p:cNvPr id="5" name="Text 3"/>
          <p:cNvSpPr/>
          <p:nvPr/>
        </p:nvSpPr>
        <p:spPr>
          <a:xfrm>
            <a:off x="219456" y="0"/>
            <a:ext cx="8778240" cy="658368"/>
          </a:xfrm>
          <a:prstGeom prst="rect">
            <a:avLst/>
          </a:prstGeom>
          <a:noFill/>
          <a:ln/>
        </p:spPr>
        <p:txBody>
          <a:bodyPr wrap="square" lIns="0" tIns="0" rIns="0" bIns="0" rtlCol="0" anchor="ctr"/>
          <a:lstStyle/>
          <a:p>
            <a:pPr algn="r" indent="0" marL="0">
              <a:buNone/>
            </a:pPr>
            <a:r>
              <a:rPr lang="en-US" sz="1000" dirty="0">
                <a:solidFill>
                  <a:srgbClr val="4B6A8A"/>
                </a:solidFill>
                <a:latin typeface="Calibri" pitchFamily="34" charset="0"/>
                <a:ea typeface="Calibri" pitchFamily="34" charset="-122"/>
                <a:cs typeface="Calibri" pitchFamily="34" charset="-120"/>
              </a:rPr>
              <a:t>How We Compare -&gt; Proof Point</a:t>
            </a:r>
            <a:endParaRPr lang="en-US" sz="1000" dirty="0"/>
          </a:p>
        </p:txBody>
      </p:sp>
      <p:sp>
        <p:nvSpPr>
          <p:cNvPr id="6" name="Text 4"/>
          <p:cNvSpPr/>
          <p:nvPr/>
        </p:nvSpPr>
        <p:spPr>
          <a:xfrm>
            <a:off x="365760" y="749808"/>
            <a:ext cx="8412480" cy="32004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Remote execution is no longer the risky unknown. The product challenge is now governance: making every remote run auditable, policy-bound, and safe to merge.</a:t>
            </a:r>
            <a:endParaRPr lang="en-US" sz="1200" dirty="0"/>
          </a:p>
        </p:txBody>
      </p:sp>
      <p:sp>
        <p:nvSpPr>
          <p:cNvPr id="7" name="Shape 5"/>
          <p:cNvSpPr/>
          <p:nvPr/>
        </p:nvSpPr>
        <p:spPr>
          <a:xfrm>
            <a:off x="365760" y="1152144"/>
            <a:ext cx="3986784" cy="301752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8" name="Shape 6"/>
          <p:cNvSpPr/>
          <p:nvPr/>
        </p:nvSpPr>
        <p:spPr>
          <a:xfrm>
            <a:off x="365760" y="1152144"/>
            <a:ext cx="64008" cy="3017520"/>
          </a:xfrm>
          <a:prstGeom prst="rect">
            <a:avLst/>
          </a:prstGeom>
          <a:solidFill>
            <a:srgbClr val="0891B2"/>
          </a:solidFill>
          <a:ln w="12700">
            <a:solidFill>
              <a:srgbClr val="0891B2"/>
            </a:solidFill>
            <a:prstDash val="solid"/>
          </a:ln>
        </p:spPr>
      </p:sp>
      <p:sp>
        <p:nvSpPr>
          <p:cNvPr id="9" name="Shape 7"/>
          <p:cNvSpPr/>
          <p:nvPr/>
        </p:nvSpPr>
        <p:spPr>
          <a:xfrm>
            <a:off x="365760" y="1152144"/>
            <a:ext cx="3986784" cy="329184"/>
          </a:xfrm>
          <a:prstGeom prst="rect">
            <a:avLst/>
          </a:prstGeom>
          <a:solidFill>
            <a:srgbClr val="0891B2"/>
          </a:solidFill>
          <a:ln w="12700">
            <a:solidFill>
              <a:srgbClr val="0891B2"/>
            </a:solidFill>
            <a:prstDash val="solid"/>
          </a:ln>
        </p:spPr>
      </p:sp>
      <p:sp>
        <p:nvSpPr>
          <p:cNvPr id="10" name="Text 8"/>
          <p:cNvSpPr/>
          <p:nvPr/>
        </p:nvSpPr>
        <p:spPr>
          <a:xfrm>
            <a:off x="457200" y="1152144"/>
            <a:ext cx="3803904"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Read-Only Run  — Completed</a:t>
            </a:r>
            <a:endParaRPr lang="en-US" sz="1100" dirty="0"/>
          </a:p>
        </p:txBody>
      </p:sp>
      <p:sp>
        <p:nvSpPr>
          <p:cNvPr id="11" name="Text 9"/>
          <p:cNvSpPr/>
          <p:nvPr/>
        </p:nvSpPr>
        <p:spPr>
          <a:xfrm>
            <a:off x="475488" y="1554480"/>
            <a:ext cx="3749040" cy="274320"/>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status:        finished</a:t>
            </a:r>
            <a:endParaRPr lang="en-US" sz="900" dirty="0"/>
          </a:p>
        </p:txBody>
      </p:sp>
      <p:sp>
        <p:nvSpPr>
          <p:cNvPr id="12" name="Text 10"/>
          <p:cNvSpPr/>
          <p:nvPr/>
        </p:nvSpPr>
        <p:spPr>
          <a:xfrm>
            <a:off x="475488" y="1856232"/>
            <a:ext cx="3749040" cy="274320"/>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durationMs:    20,506</a:t>
            </a:r>
            <a:endParaRPr lang="en-US" sz="900" dirty="0"/>
          </a:p>
        </p:txBody>
      </p:sp>
      <p:sp>
        <p:nvSpPr>
          <p:cNvPr id="13" name="Text 11"/>
          <p:cNvSpPr/>
          <p:nvPr/>
        </p:nvSpPr>
        <p:spPr>
          <a:xfrm>
            <a:off x="475488" y="2157984"/>
            <a:ext cx="3749040" cy="274320"/>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eventCount:    278</a:t>
            </a:r>
            <a:endParaRPr lang="en-US" sz="900" dirty="0"/>
          </a:p>
        </p:txBody>
      </p:sp>
      <p:sp>
        <p:nvSpPr>
          <p:cNvPr id="14" name="Text 12"/>
          <p:cNvSpPr/>
          <p:nvPr/>
        </p:nvSpPr>
        <p:spPr>
          <a:xfrm>
            <a:off x="475488" y="2459736"/>
            <a:ext cx="3749040" cy="274320"/>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cursorAgentId: bc-094d7156-...</a:t>
            </a:r>
            <a:endParaRPr lang="en-US" sz="900" dirty="0"/>
          </a:p>
        </p:txBody>
      </p:sp>
      <p:sp>
        <p:nvSpPr>
          <p:cNvPr id="15" name="Text 13"/>
          <p:cNvSpPr/>
          <p:nvPr/>
        </p:nvSpPr>
        <p:spPr>
          <a:xfrm>
            <a:off x="475488" y="2761488"/>
            <a:ext cx="3749040" cy="274320"/>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cursorRunId:   run-f84a6a41-...</a:t>
            </a:r>
            <a:endParaRPr lang="en-US" sz="900" dirty="0"/>
          </a:p>
        </p:txBody>
      </p:sp>
      <p:sp>
        <p:nvSpPr>
          <p:cNvPr id="16" name="Text 14"/>
          <p:cNvSpPr/>
          <p:nvPr/>
        </p:nvSpPr>
        <p:spPr>
          <a:xfrm>
            <a:off x="475488" y="3063240"/>
            <a:ext cx="3749040" cy="274320"/>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ECS cluster:   canon-systems-v2-dev-cluster</a:t>
            </a:r>
            <a:endParaRPr lang="en-US" sz="900" dirty="0"/>
          </a:p>
        </p:txBody>
      </p:sp>
      <p:sp>
        <p:nvSpPr>
          <p:cNvPr id="17" name="Text 15"/>
          <p:cNvSpPr/>
          <p:nvPr/>
        </p:nvSpPr>
        <p:spPr>
          <a:xfrm>
            <a:off x="475488" y="3364992"/>
            <a:ext cx="3749040" cy="274320"/>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target repo:   github.com/CanonSystems/canon-systems</a:t>
            </a:r>
            <a:endParaRPr lang="en-US" sz="900" dirty="0"/>
          </a:p>
        </p:txBody>
      </p:sp>
      <p:sp>
        <p:nvSpPr>
          <p:cNvPr id="18" name="Text 16"/>
          <p:cNvSpPr/>
          <p:nvPr/>
        </p:nvSpPr>
        <p:spPr>
          <a:xfrm>
            <a:off x="475488" y="3666744"/>
            <a:ext cx="3749040" cy="274320"/>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result:        repo read, summary returned, no changes</a:t>
            </a:r>
            <a:endParaRPr lang="en-US" sz="900" dirty="0"/>
          </a:p>
        </p:txBody>
      </p:sp>
      <p:sp>
        <p:nvSpPr>
          <p:cNvPr id="19" name="Shape 17"/>
          <p:cNvSpPr/>
          <p:nvPr/>
        </p:nvSpPr>
        <p:spPr>
          <a:xfrm>
            <a:off x="4572000" y="1152144"/>
            <a:ext cx="4206240" cy="301752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20" name="Shape 18"/>
          <p:cNvSpPr/>
          <p:nvPr/>
        </p:nvSpPr>
        <p:spPr>
          <a:xfrm>
            <a:off x="4572000" y="1152144"/>
            <a:ext cx="64008" cy="3017520"/>
          </a:xfrm>
          <a:prstGeom prst="rect">
            <a:avLst/>
          </a:prstGeom>
          <a:solidFill>
            <a:srgbClr val="00D4AA"/>
          </a:solidFill>
          <a:ln w="12700">
            <a:solidFill>
              <a:srgbClr val="00D4AA"/>
            </a:solidFill>
            <a:prstDash val="solid"/>
          </a:ln>
        </p:spPr>
      </p:sp>
      <p:sp>
        <p:nvSpPr>
          <p:cNvPr id="21" name="Shape 19"/>
          <p:cNvSpPr/>
          <p:nvPr/>
        </p:nvSpPr>
        <p:spPr>
          <a:xfrm>
            <a:off x="4572000" y="1152144"/>
            <a:ext cx="4206240" cy="329184"/>
          </a:xfrm>
          <a:prstGeom prst="rect">
            <a:avLst/>
          </a:prstGeom>
          <a:solidFill>
            <a:srgbClr val="00D4AA"/>
          </a:solidFill>
          <a:ln w="12700">
            <a:solidFill>
              <a:srgbClr val="00D4AA"/>
            </a:solidFill>
            <a:prstDash val="solid"/>
          </a:ln>
        </p:spPr>
      </p:sp>
      <p:sp>
        <p:nvSpPr>
          <p:cNvPr id="22" name="Text 20"/>
          <p:cNvSpPr/>
          <p:nvPr/>
        </p:nvSpPr>
        <p:spPr>
          <a:xfrm>
            <a:off x="4663440" y="1152144"/>
            <a:ext cx="4023360" cy="329184"/>
          </a:xfrm>
          <a:prstGeom prst="rect">
            <a:avLst/>
          </a:prstGeom>
          <a:noFill/>
          <a:ln/>
        </p:spPr>
        <p:txBody>
          <a:bodyPr wrap="square" lIns="0" tIns="0" rIns="0" bIns="0" rtlCol="0" anchor="ctr"/>
          <a:lstStyle/>
          <a:p>
            <a:pPr indent="0" marL="0">
              <a:buNone/>
            </a:pPr>
            <a:r>
              <a:rPr lang="en-US" sz="1100" b="1" dirty="0">
                <a:solidFill>
                  <a:srgbClr val="0D1117"/>
                </a:solidFill>
                <a:latin typeface="Calibri" pitchFamily="34" charset="0"/>
                <a:ea typeface="Calibri" pitchFamily="34" charset="-122"/>
                <a:cs typeface="Calibri" pitchFamily="34" charset="-120"/>
              </a:rPr>
              <a:t>Write-Path Run  — Completed</a:t>
            </a:r>
            <a:endParaRPr lang="en-US" sz="1100" dirty="0"/>
          </a:p>
        </p:txBody>
      </p:sp>
      <p:sp>
        <p:nvSpPr>
          <p:cNvPr id="23" name="Text 21"/>
          <p:cNvSpPr/>
          <p:nvPr/>
        </p:nvSpPr>
        <p:spPr>
          <a:xfrm>
            <a:off x="4681728" y="1554480"/>
            <a:ext cx="3968496" cy="274320"/>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status:        finished</a:t>
            </a:r>
            <a:endParaRPr lang="en-US" sz="900" dirty="0"/>
          </a:p>
        </p:txBody>
      </p:sp>
      <p:sp>
        <p:nvSpPr>
          <p:cNvPr id="24" name="Text 22"/>
          <p:cNvSpPr/>
          <p:nvPr/>
        </p:nvSpPr>
        <p:spPr>
          <a:xfrm>
            <a:off x="4681728" y="1856232"/>
            <a:ext cx="3968496" cy="274320"/>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durationMs:    24,777</a:t>
            </a:r>
            <a:endParaRPr lang="en-US" sz="900" dirty="0"/>
          </a:p>
        </p:txBody>
      </p:sp>
      <p:sp>
        <p:nvSpPr>
          <p:cNvPr id="25" name="Text 23"/>
          <p:cNvSpPr/>
          <p:nvPr/>
        </p:nvSpPr>
        <p:spPr>
          <a:xfrm>
            <a:off x="4681728" y="2157984"/>
            <a:ext cx="3968496" cy="274320"/>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eventCount:    84</a:t>
            </a:r>
            <a:endParaRPr lang="en-US" sz="900" dirty="0"/>
          </a:p>
        </p:txBody>
      </p:sp>
      <p:sp>
        <p:nvSpPr>
          <p:cNvPr id="26" name="Text 24"/>
          <p:cNvSpPr/>
          <p:nvPr/>
        </p:nvSpPr>
        <p:spPr>
          <a:xfrm>
            <a:off x="4681728" y="2459736"/>
            <a:ext cx="3968496" cy="274320"/>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cursorAgentId: bc-bb3c8998-...</a:t>
            </a:r>
            <a:endParaRPr lang="en-US" sz="900" dirty="0"/>
          </a:p>
        </p:txBody>
      </p:sp>
      <p:sp>
        <p:nvSpPr>
          <p:cNvPr id="27" name="Text 25"/>
          <p:cNvSpPr/>
          <p:nvPr/>
        </p:nvSpPr>
        <p:spPr>
          <a:xfrm>
            <a:off x="4681728" y="2761488"/>
            <a:ext cx="3968496" cy="274320"/>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branch:        cursor/cursor-sdk-write-path-smoke-647e</a:t>
            </a:r>
            <a:endParaRPr lang="en-US" sz="900" dirty="0"/>
          </a:p>
        </p:txBody>
      </p:sp>
      <p:sp>
        <p:nvSpPr>
          <p:cNvPr id="28" name="Text 26"/>
          <p:cNvSpPr/>
          <p:nvPr/>
        </p:nvSpPr>
        <p:spPr>
          <a:xfrm>
            <a:off x="4681728" y="3063240"/>
            <a:ext cx="3968496" cy="274320"/>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commit:        8d47e7c0f0a592fd1ab08039526a9f04...</a:t>
            </a:r>
            <a:endParaRPr lang="en-US" sz="900" dirty="0"/>
          </a:p>
        </p:txBody>
      </p:sp>
      <p:sp>
        <p:nvSpPr>
          <p:cNvPr id="29" name="Text 27"/>
          <p:cNvSpPr/>
          <p:nvPr/>
        </p:nvSpPr>
        <p:spPr>
          <a:xfrm>
            <a:off x="4681728" y="3364992"/>
            <a:ext cx="3968496" cy="274320"/>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PR:            github.com/CanonSystems/canon-systems/pull/9</a:t>
            </a:r>
            <a:endParaRPr lang="en-US" sz="900" dirty="0"/>
          </a:p>
        </p:txBody>
      </p:sp>
      <p:sp>
        <p:nvSpPr>
          <p:cNvPr id="30" name="Text 28"/>
          <p:cNvSpPr/>
          <p:nvPr/>
        </p:nvSpPr>
        <p:spPr>
          <a:xfrm>
            <a:off x="4681728" y="3666744"/>
            <a:ext cx="3968496" cy="274320"/>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diff:          docs/CURSOR-SDK-WRITE-PATH-SMOKE.md (+1/-0)</a:t>
            </a:r>
            <a:endParaRPr lang="en-US" sz="900" dirty="0"/>
          </a:p>
        </p:txBody>
      </p:sp>
      <p:sp>
        <p:nvSpPr>
          <p:cNvPr id="31" name="Shape 29"/>
          <p:cNvSpPr/>
          <p:nvPr/>
        </p:nvSpPr>
        <p:spPr>
          <a:xfrm>
            <a:off x="365760" y="4279392"/>
            <a:ext cx="8412480" cy="749808"/>
          </a:xfrm>
          <a:prstGeom prst="rect">
            <a:avLst/>
          </a:prstGeom>
          <a:solidFill>
            <a:srgbClr val="F8FAFC"/>
          </a:solidFill>
          <a:ln w="12700">
            <a:solidFill>
              <a:srgbClr val="E2E8F0"/>
            </a:solidFill>
            <a:prstDash val="solid"/>
          </a:ln>
        </p:spPr>
      </p:sp>
      <p:sp>
        <p:nvSpPr>
          <p:cNvPr id="32" name="Text 30"/>
          <p:cNvSpPr/>
          <p:nvPr/>
        </p:nvSpPr>
        <p:spPr>
          <a:xfrm>
            <a:off x="548640" y="4334256"/>
            <a:ext cx="2651760" cy="292608"/>
          </a:xfrm>
          <a:prstGeom prst="rect">
            <a:avLst/>
          </a:prstGeom>
          <a:noFill/>
          <a:ln/>
        </p:spPr>
        <p:txBody>
          <a:bodyPr wrap="square" lIns="0" tIns="0" rIns="0" bIns="0" rtlCol="0" anchor="ctr"/>
          <a:lstStyle/>
          <a:p>
            <a:pPr indent="0" marL="0">
              <a:buNone/>
            </a:pPr>
            <a:r>
              <a:rPr lang="en-US" sz="950" dirty="0">
                <a:solidFill>
                  <a:srgbClr val="059669"/>
                </a:solidFill>
                <a:latin typeface="Calibri" pitchFamily="34" charset="0"/>
                <a:ea typeface="Calibri" pitchFamily="34" charset="-122"/>
                <a:cs typeface="Calibri" pitchFamily="34" charset="-120"/>
              </a:rPr>
              <a:t>[DONE]  AWS dispatches Cursor SDK</a:t>
            </a:r>
            <a:endParaRPr lang="en-US" sz="950" dirty="0"/>
          </a:p>
        </p:txBody>
      </p:sp>
      <p:sp>
        <p:nvSpPr>
          <p:cNvPr id="33" name="Text 31"/>
          <p:cNvSpPr/>
          <p:nvPr/>
        </p:nvSpPr>
        <p:spPr>
          <a:xfrm>
            <a:off x="3346704" y="4334256"/>
            <a:ext cx="2651760" cy="292608"/>
          </a:xfrm>
          <a:prstGeom prst="rect">
            <a:avLst/>
          </a:prstGeom>
          <a:noFill/>
          <a:ln/>
        </p:spPr>
        <p:txBody>
          <a:bodyPr wrap="square" lIns="0" tIns="0" rIns="0" bIns="0" rtlCol="0" anchor="ctr"/>
          <a:lstStyle/>
          <a:p>
            <a:pPr indent="0" marL="0">
              <a:buNone/>
            </a:pPr>
            <a:r>
              <a:rPr lang="en-US" sz="950" dirty="0">
                <a:solidFill>
                  <a:srgbClr val="059669"/>
                </a:solidFill>
                <a:latin typeface="Calibri" pitchFamily="34" charset="0"/>
                <a:ea typeface="Calibri" pitchFamily="34" charset="-122"/>
                <a:cs typeface="Calibri" pitchFamily="34" charset="-120"/>
              </a:rPr>
              <a:t>[DONE]  Read-only run completes</a:t>
            </a:r>
            <a:endParaRPr lang="en-US" sz="950" dirty="0"/>
          </a:p>
        </p:txBody>
      </p:sp>
      <p:sp>
        <p:nvSpPr>
          <p:cNvPr id="34" name="Text 32"/>
          <p:cNvSpPr/>
          <p:nvPr/>
        </p:nvSpPr>
        <p:spPr>
          <a:xfrm>
            <a:off x="6144768" y="4334256"/>
            <a:ext cx="2651760" cy="292608"/>
          </a:xfrm>
          <a:prstGeom prst="rect">
            <a:avLst/>
          </a:prstGeom>
          <a:noFill/>
          <a:ln/>
        </p:spPr>
        <p:txBody>
          <a:bodyPr wrap="square" lIns="0" tIns="0" rIns="0" bIns="0" rtlCol="0" anchor="ctr"/>
          <a:lstStyle/>
          <a:p>
            <a:pPr indent="0" marL="0">
              <a:buNone/>
            </a:pPr>
            <a:r>
              <a:rPr lang="en-US" sz="950" dirty="0">
                <a:solidFill>
                  <a:srgbClr val="059669"/>
                </a:solidFill>
                <a:latin typeface="Calibri" pitchFamily="34" charset="0"/>
                <a:ea typeface="Calibri" pitchFamily="34" charset="-122"/>
                <a:cs typeface="Calibri" pitchFamily="34" charset="-120"/>
              </a:rPr>
              <a:t>[DONE]  Write-path: branch + PR</a:t>
            </a:r>
            <a:endParaRPr lang="en-US" sz="950" dirty="0"/>
          </a:p>
        </p:txBody>
      </p:sp>
      <p:sp>
        <p:nvSpPr>
          <p:cNvPr id="35" name="Text 33"/>
          <p:cNvSpPr/>
          <p:nvPr/>
        </p:nvSpPr>
        <p:spPr>
          <a:xfrm>
            <a:off x="548640" y="4663440"/>
            <a:ext cx="2651760" cy="29260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[NEXT]  Canon evidence envelope</a:t>
            </a:r>
            <a:endParaRPr lang="en-US" sz="950" dirty="0"/>
          </a:p>
        </p:txBody>
      </p:sp>
      <p:sp>
        <p:nvSpPr>
          <p:cNvPr id="36" name="Text 34"/>
          <p:cNvSpPr/>
          <p:nvPr/>
        </p:nvSpPr>
        <p:spPr>
          <a:xfrm>
            <a:off x="3346704" y="4663440"/>
            <a:ext cx="2651760" cy="29260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[NEXT]  Negative gate tests</a:t>
            </a:r>
            <a:endParaRPr lang="en-US" sz="950" dirty="0"/>
          </a:p>
        </p:txBody>
      </p:sp>
      <p:sp>
        <p:nvSpPr>
          <p:cNvPr id="37" name="Text 35"/>
          <p:cNvSpPr/>
          <p:nvPr/>
        </p:nvSpPr>
        <p:spPr>
          <a:xfrm>
            <a:off x="6144768" y="4663440"/>
            <a:ext cx="2651760" cy="29260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[NEXT]  Credential lifecycle / cleanup</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0"/>
            <a:ext cx="109728" cy="658368"/>
          </a:xfrm>
          <a:prstGeom prst="rect">
            <a:avLst/>
          </a:prstGeom>
          <a:solidFill>
            <a:srgbClr val="00D4AA"/>
          </a:solidFill>
          <a:ln w="12700">
            <a:solidFill>
              <a:srgbClr val="00D4AA"/>
            </a:solidFill>
            <a:prstDash val="solid"/>
          </a:ln>
        </p:spPr>
      </p:sp>
      <p:sp>
        <p:nvSpPr>
          <p:cNvPr id="4" name="Text 2"/>
          <p:cNvSpPr/>
          <p:nvPr/>
        </p:nvSpPr>
        <p:spPr>
          <a:xfrm>
            <a:off x="219456" y="0"/>
            <a:ext cx="685800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Where Canon Wins — and Where We're Closing the Gap</a:t>
            </a:r>
            <a:endParaRPr lang="en-US" sz="2100" dirty="0"/>
          </a:p>
        </p:txBody>
      </p:sp>
      <p:sp>
        <p:nvSpPr>
          <p:cNvPr id="5" name="Text 3"/>
          <p:cNvSpPr/>
          <p:nvPr/>
        </p:nvSpPr>
        <p:spPr>
          <a:xfrm>
            <a:off x="219456" y="0"/>
            <a:ext cx="8778240" cy="658368"/>
          </a:xfrm>
          <a:prstGeom prst="rect">
            <a:avLst/>
          </a:prstGeom>
          <a:noFill/>
          <a:ln/>
        </p:spPr>
        <p:txBody>
          <a:bodyPr wrap="square" lIns="0" tIns="0" rIns="0" bIns="0" rtlCol="0" anchor="ctr"/>
          <a:lstStyle/>
          <a:p>
            <a:pPr algn="r" indent="0" marL="0">
              <a:buNone/>
            </a:pPr>
            <a:r>
              <a:rPr lang="en-US" sz="1000" dirty="0">
                <a:solidFill>
                  <a:srgbClr val="4B6A8A"/>
                </a:solidFill>
                <a:latin typeface="Calibri" pitchFamily="34" charset="0"/>
                <a:ea typeface="Calibri" pitchFamily="34" charset="-122"/>
                <a:cs typeface="Calibri" pitchFamily="34" charset="-120"/>
              </a:rPr>
              <a:t>How We Compare → Strategy</a:t>
            </a:r>
            <a:endParaRPr lang="en-US" sz="1000" dirty="0"/>
          </a:p>
        </p:txBody>
      </p:sp>
      <p:sp>
        <p:nvSpPr>
          <p:cNvPr id="6" name="Shape 4"/>
          <p:cNvSpPr/>
          <p:nvPr/>
        </p:nvSpPr>
        <p:spPr>
          <a:xfrm>
            <a:off x="320040" y="786384"/>
            <a:ext cx="4114800" cy="413308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320040" y="786384"/>
            <a:ext cx="64008" cy="4133088"/>
          </a:xfrm>
          <a:prstGeom prst="rect">
            <a:avLst/>
          </a:prstGeom>
          <a:solidFill>
            <a:srgbClr val="059669"/>
          </a:solidFill>
          <a:ln w="12700">
            <a:solidFill>
              <a:srgbClr val="059669"/>
            </a:solidFill>
            <a:prstDash val="solid"/>
          </a:ln>
        </p:spPr>
      </p:sp>
      <p:sp>
        <p:nvSpPr>
          <p:cNvPr id="8" name="Text 6"/>
          <p:cNvSpPr/>
          <p:nvPr/>
        </p:nvSpPr>
        <p:spPr>
          <a:xfrm>
            <a:off x="502920" y="932688"/>
            <a:ext cx="3749040" cy="365760"/>
          </a:xfrm>
          <a:prstGeom prst="rect">
            <a:avLst/>
          </a:prstGeom>
          <a:noFill/>
          <a:ln/>
        </p:spPr>
        <p:txBody>
          <a:bodyPr wrap="square" lIns="0" tIns="0" rIns="0" bIns="0" rtlCol="0" anchor="ctr"/>
          <a:lstStyle/>
          <a:p>
            <a:pPr indent="0" marL="0">
              <a:buNone/>
            </a:pPr>
            <a:r>
              <a:rPr lang="en-US" sz="1500" b="1" dirty="0">
                <a:solidFill>
                  <a:srgbClr val="059669"/>
                </a:solidFill>
                <a:latin typeface="Calibri" pitchFamily="34" charset="0"/>
                <a:ea typeface="Calibri" pitchFamily="34" charset="-122"/>
                <a:cs typeface="Calibri" pitchFamily="34" charset="-120"/>
              </a:rPr>
              <a:t>Canon already wins</a:t>
            </a:r>
            <a:endParaRPr lang="en-US" sz="1500" dirty="0"/>
          </a:p>
        </p:txBody>
      </p:sp>
      <p:sp>
        <p:nvSpPr>
          <p:cNvPr id="9" name="Shape 7"/>
          <p:cNvSpPr/>
          <p:nvPr/>
        </p:nvSpPr>
        <p:spPr>
          <a:xfrm>
            <a:off x="502920" y="1399032"/>
            <a:ext cx="54864" cy="411480"/>
          </a:xfrm>
          <a:prstGeom prst="rect">
            <a:avLst/>
          </a:prstGeom>
          <a:solidFill>
            <a:srgbClr val="059669"/>
          </a:solidFill>
          <a:ln w="12700">
            <a:solidFill>
              <a:srgbClr val="059669"/>
            </a:solidFill>
            <a:prstDash val="solid"/>
          </a:ln>
        </p:spPr>
      </p:sp>
      <p:sp>
        <p:nvSpPr>
          <p:cNvPr id="10" name="Text 8"/>
          <p:cNvSpPr/>
          <p:nvPr/>
        </p:nvSpPr>
        <p:spPr>
          <a:xfrm>
            <a:off x="658368" y="1399032"/>
            <a:ext cx="3621024" cy="219456"/>
          </a:xfrm>
          <a:prstGeom prst="rect">
            <a:avLst/>
          </a:prstGeom>
          <a:noFill/>
          <a:ln/>
        </p:spPr>
        <p:txBody>
          <a:bodyPr wrap="square" lIns="0" tIns="0" rIns="0" bIns="0" rtlCol="0" anchor="ctr"/>
          <a:lstStyle/>
          <a:p>
            <a:pPr indent="0" marL="0">
              <a:buNone/>
            </a:pPr>
            <a:r>
              <a:rPr lang="en-US" sz="1200" b="1" dirty="0">
                <a:solidFill>
                  <a:srgbClr val="0D1117"/>
                </a:solidFill>
                <a:latin typeface="Calibri" pitchFamily="34" charset="0"/>
                <a:ea typeface="Calibri" pitchFamily="34" charset="-122"/>
                <a:cs typeface="Calibri" pitchFamily="34" charset="-120"/>
              </a:rPr>
              <a:t>IDE-native integration</a:t>
            </a:r>
            <a:endParaRPr lang="en-US" sz="1200" dirty="0"/>
          </a:p>
        </p:txBody>
      </p:sp>
      <p:sp>
        <p:nvSpPr>
          <p:cNvPr id="11" name="Text 9"/>
          <p:cNvSpPr/>
          <p:nvPr/>
        </p:nvSpPr>
        <p:spPr>
          <a:xfrm>
            <a:off x="658368" y="1609344"/>
            <a:ext cx="3621024" cy="219456"/>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Hooks on every turn. Cursor rules. Subagent prompts. No competing sandbox.</a:t>
            </a:r>
            <a:endParaRPr lang="en-US" sz="1000" dirty="0"/>
          </a:p>
        </p:txBody>
      </p:sp>
      <p:sp>
        <p:nvSpPr>
          <p:cNvPr id="12" name="Shape 10"/>
          <p:cNvSpPr/>
          <p:nvPr/>
        </p:nvSpPr>
        <p:spPr>
          <a:xfrm>
            <a:off x="502920" y="2057400"/>
            <a:ext cx="54864" cy="411480"/>
          </a:xfrm>
          <a:prstGeom prst="rect">
            <a:avLst/>
          </a:prstGeom>
          <a:solidFill>
            <a:srgbClr val="059669"/>
          </a:solidFill>
          <a:ln w="12700">
            <a:solidFill>
              <a:srgbClr val="059669"/>
            </a:solidFill>
            <a:prstDash val="solid"/>
          </a:ln>
        </p:spPr>
      </p:sp>
      <p:sp>
        <p:nvSpPr>
          <p:cNvPr id="13" name="Text 11"/>
          <p:cNvSpPr/>
          <p:nvPr/>
        </p:nvSpPr>
        <p:spPr>
          <a:xfrm>
            <a:off x="658368" y="2057400"/>
            <a:ext cx="3621024" cy="219456"/>
          </a:xfrm>
          <a:prstGeom prst="rect">
            <a:avLst/>
          </a:prstGeom>
          <a:noFill/>
          <a:ln/>
        </p:spPr>
        <p:txBody>
          <a:bodyPr wrap="square" lIns="0" tIns="0" rIns="0" bIns="0" rtlCol="0" anchor="ctr"/>
          <a:lstStyle/>
          <a:p>
            <a:pPr indent="0" marL="0">
              <a:buNone/>
            </a:pPr>
            <a:r>
              <a:rPr lang="en-US" sz="1200" b="1" dirty="0">
                <a:solidFill>
                  <a:srgbClr val="0D1117"/>
                </a:solidFill>
                <a:latin typeface="Calibri" pitchFamily="34" charset="0"/>
                <a:ea typeface="Calibri" pitchFamily="34" charset="-122"/>
                <a:cs typeface="Calibri" pitchFamily="34" charset="-120"/>
              </a:rPr>
              <a:t>Data sovereignty</a:t>
            </a:r>
            <a:endParaRPr lang="en-US" sz="1200" dirty="0"/>
          </a:p>
        </p:txBody>
      </p:sp>
      <p:sp>
        <p:nvSpPr>
          <p:cNvPr id="14" name="Text 12"/>
          <p:cNvSpPr/>
          <p:nvPr/>
        </p:nvSpPr>
        <p:spPr>
          <a:xfrm>
            <a:off x="658368" y="2267712"/>
            <a:ext cx="3621024" cy="219456"/>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Your AWS, your keys, your VPC, your audit trail. Not managed by a vendor.</a:t>
            </a:r>
            <a:endParaRPr lang="en-US" sz="1000" dirty="0"/>
          </a:p>
        </p:txBody>
      </p:sp>
      <p:sp>
        <p:nvSpPr>
          <p:cNvPr id="15" name="Shape 13"/>
          <p:cNvSpPr/>
          <p:nvPr/>
        </p:nvSpPr>
        <p:spPr>
          <a:xfrm>
            <a:off x="502920" y="2715768"/>
            <a:ext cx="54864" cy="411480"/>
          </a:xfrm>
          <a:prstGeom prst="rect">
            <a:avLst/>
          </a:prstGeom>
          <a:solidFill>
            <a:srgbClr val="059669"/>
          </a:solidFill>
          <a:ln w="12700">
            <a:solidFill>
              <a:srgbClr val="059669"/>
            </a:solidFill>
            <a:prstDash val="solid"/>
          </a:ln>
        </p:spPr>
      </p:sp>
      <p:sp>
        <p:nvSpPr>
          <p:cNvPr id="16" name="Text 14"/>
          <p:cNvSpPr/>
          <p:nvPr/>
        </p:nvSpPr>
        <p:spPr>
          <a:xfrm>
            <a:off x="658368" y="2715768"/>
            <a:ext cx="3621024" cy="219456"/>
          </a:xfrm>
          <a:prstGeom prst="rect">
            <a:avLst/>
          </a:prstGeom>
          <a:noFill/>
          <a:ln/>
        </p:spPr>
        <p:txBody>
          <a:bodyPr wrap="square" lIns="0" tIns="0" rIns="0" bIns="0" rtlCol="0" anchor="ctr"/>
          <a:lstStyle/>
          <a:p>
            <a:pPr indent="0" marL="0">
              <a:buNone/>
            </a:pPr>
            <a:r>
              <a:rPr lang="en-US" sz="1200" b="1" dirty="0">
                <a:solidFill>
                  <a:srgbClr val="0D1117"/>
                </a:solidFill>
                <a:latin typeface="Calibri" pitchFamily="34" charset="0"/>
                <a:ea typeface="Calibri" pitchFamily="34" charset="-122"/>
                <a:cs typeface="Calibri" pitchFamily="34" charset="-120"/>
              </a:rPr>
              <a:t>Cross-repo org memory</a:t>
            </a:r>
            <a:endParaRPr lang="en-US" sz="1200" dirty="0"/>
          </a:p>
        </p:txBody>
      </p:sp>
      <p:sp>
        <p:nvSpPr>
          <p:cNvPr id="17" name="Text 15"/>
          <p:cNvSpPr/>
          <p:nvPr/>
        </p:nvSpPr>
        <p:spPr>
          <a:xfrm>
            <a:off x="658368" y="2926080"/>
            <a:ext cx="3621024" cy="219456"/>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Same COMPANY_ID across all repos. Decisions aren't siloed per clone.</a:t>
            </a:r>
            <a:endParaRPr lang="en-US" sz="1000" dirty="0"/>
          </a:p>
        </p:txBody>
      </p:sp>
      <p:sp>
        <p:nvSpPr>
          <p:cNvPr id="18" name="Shape 16"/>
          <p:cNvSpPr/>
          <p:nvPr/>
        </p:nvSpPr>
        <p:spPr>
          <a:xfrm>
            <a:off x="502920" y="3374136"/>
            <a:ext cx="54864" cy="411480"/>
          </a:xfrm>
          <a:prstGeom prst="rect">
            <a:avLst/>
          </a:prstGeom>
          <a:solidFill>
            <a:srgbClr val="059669"/>
          </a:solidFill>
          <a:ln w="12700">
            <a:solidFill>
              <a:srgbClr val="059669"/>
            </a:solidFill>
            <a:prstDash val="solid"/>
          </a:ln>
        </p:spPr>
      </p:sp>
      <p:sp>
        <p:nvSpPr>
          <p:cNvPr id="19" name="Text 17"/>
          <p:cNvSpPr/>
          <p:nvPr/>
        </p:nvSpPr>
        <p:spPr>
          <a:xfrm>
            <a:off x="658368" y="3374136"/>
            <a:ext cx="3621024" cy="219456"/>
          </a:xfrm>
          <a:prstGeom prst="rect">
            <a:avLst/>
          </a:prstGeom>
          <a:noFill/>
          <a:ln/>
        </p:spPr>
        <p:txBody>
          <a:bodyPr wrap="square" lIns="0" tIns="0" rIns="0" bIns="0" rtlCol="0" anchor="ctr"/>
          <a:lstStyle/>
          <a:p>
            <a:pPr indent="0" marL="0">
              <a:buNone/>
            </a:pPr>
            <a:r>
              <a:rPr lang="en-US" sz="1200" b="1" dirty="0">
                <a:solidFill>
                  <a:srgbClr val="0D1117"/>
                </a:solidFill>
                <a:latin typeface="Calibri" pitchFamily="34" charset="0"/>
                <a:ea typeface="Calibri" pitchFamily="34" charset="-122"/>
                <a:cs typeface="Calibri" pitchFamily="34" charset="-120"/>
              </a:rPr>
              <a:t>Governance &amp; evidence</a:t>
            </a:r>
            <a:endParaRPr lang="en-US" sz="1200" dirty="0"/>
          </a:p>
        </p:txBody>
      </p:sp>
      <p:sp>
        <p:nvSpPr>
          <p:cNvPr id="20" name="Text 18"/>
          <p:cNvSpPr/>
          <p:nvPr/>
        </p:nvSpPr>
        <p:spPr>
          <a:xfrm>
            <a:off x="658368" y="3584448"/>
            <a:ext cx="3621024" cy="219456"/>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QA gates, DoR telemetry, packet quartet, merge gates. Audit-proof by design.</a:t>
            </a:r>
            <a:endParaRPr lang="en-US" sz="1000" dirty="0"/>
          </a:p>
        </p:txBody>
      </p:sp>
      <p:sp>
        <p:nvSpPr>
          <p:cNvPr id="21" name="Shape 19"/>
          <p:cNvSpPr/>
          <p:nvPr/>
        </p:nvSpPr>
        <p:spPr>
          <a:xfrm>
            <a:off x="502920" y="4032504"/>
            <a:ext cx="54864" cy="411480"/>
          </a:xfrm>
          <a:prstGeom prst="rect">
            <a:avLst/>
          </a:prstGeom>
          <a:solidFill>
            <a:srgbClr val="059669"/>
          </a:solidFill>
          <a:ln w="12700">
            <a:solidFill>
              <a:srgbClr val="059669"/>
            </a:solidFill>
            <a:prstDash val="solid"/>
          </a:ln>
        </p:spPr>
      </p:sp>
      <p:sp>
        <p:nvSpPr>
          <p:cNvPr id="22" name="Text 20"/>
          <p:cNvSpPr/>
          <p:nvPr/>
        </p:nvSpPr>
        <p:spPr>
          <a:xfrm>
            <a:off x="658368" y="4032504"/>
            <a:ext cx="3621024" cy="219456"/>
          </a:xfrm>
          <a:prstGeom prst="rect">
            <a:avLst/>
          </a:prstGeom>
          <a:noFill/>
          <a:ln/>
        </p:spPr>
        <p:txBody>
          <a:bodyPr wrap="square" lIns="0" tIns="0" rIns="0" bIns="0" rtlCol="0" anchor="ctr"/>
          <a:lstStyle/>
          <a:p>
            <a:pPr indent="0" marL="0">
              <a:buNone/>
            </a:pPr>
            <a:r>
              <a:rPr lang="en-US" sz="1200" b="1" dirty="0">
                <a:solidFill>
                  <a:srgbClr val="0D1117"/>
                </a:solidFill>
                <a:latin typeface="Calibri" pitchFamily="34" charset="0"/>
                <a:ea typeface="Calibri" pitchFamily="34" charset="-122"/>
                <a:cs typeface="Calibri" pitchFamily="34" charset="-120"/>
              </a:rPr>
              <a:t>Cost model at scale</a:t>
            </a:r>
            <a:endParaRPr lang="en-US" sz="1200" dirty="0"/>
          </a:p>
        </p:txBody>
      </p:sp>
      <p:sp>
        <p:nvSpPr>
          <p:cNvPr id="23" name="Text 21"/>
          <p:cNvSpPr/>
          <p:nvPr/>
        </p:nvSpPr>
        <p:spPr>
          <a:xfrm>
            <a:off x="658368" y="4242816"/>
            <a:ext cx="3621024" cy="219456"/>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Predictable AWS costs. No ACU metering surprises on heavy internal usage.</a:t>
            </a:r>
            <a:endParaRPr lang="en-US" sz="1000" dirty="0"/>
          </a:p>
        </p:txBody>
      </p:sp>
      <p:sp>
        <p:nvSpPr>
          <p:cNvPr id="24" name="Shape 22"/>
          <p:cNvSpPr/>
          <p:nvPr/>
        </p:nvSpPr>
        <p:spPr>
          <a:xfrm>
            <a:off x="4645152" y="786384"/>
            <a:ext cx="4160520" cy="413308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25" name="Shape 23"/>
          <p:cNvSpPr/>
          <p:nvPr/>
        </p:nvSpPr>
        <p:spPr>
          <a:xfrm>
            <a:off x="4645152" y="786384"/>
            <a:ext cx="64008" cy="4133088"/>
          </a:xfrm>
          <a:prstGeom prst="rect">
            <a:avLst/>
          </a:prstGeom>
          <a:solidFill>
            <a:srgbClr val="F59E0B"/>
          </a:solidFill>
          <a:ln w="12700">
            <a:solidFill>
              <a:srgbClr val="F59E0B"/>
            </a:solidFill>
            <a:prstDash val="solid"/>
          </a:ln>
        </p:spPr>
      </p:sp>
      <p:sp>
        <p:nvSpPr>
          <p:cNvPr id="26" name="Text 24"/>
          <p:cNvSpPr/>
          <p:nvPr/>
        </p:nvSpPr>
        <p:spPr>
          <a:xfrm>
            <a:off x="4828032" y="932688"/>
            <a:ext cx="3840480" cy="365760"/>
          </a:xfrm>
          <a:prstGeom prst="rect">
            <a:avLst/>
          </a:prstGeom>
          <a:noFill/>
          <a:ln/>
        </p:spPr>
        <p:txBody>
          <a:bodyPr wrap="square" lIns="0" tIns="0" rIns="0" bIns="0" rtlCol="0" anchor="ctr"/>
          <a:lstStyle/>
          <a:p>
            <a:pPr indent="0" marL="0">
              <a:buNone/>
            </a:pPr>
            <a:r>
              <a:rPr lang="en-US" sz="1400" b="1" dirty="0">
                <a:solidFill>
                  <a:srgbClr val="D97706"/>
                </a:solidFill>
                <a:latin typeface="Calibri" pitchFamily="34" charset="0"/>
                <a:ea typeface="Calibri" pitchFamily="34" charset="-122"/>
                <a:cs typeface="Calibri" pitchFamily="34" charset="-120"/>
              </a:rPr>
              <a:t>Gaps we're closing — deliberately</a:t>
            </a:r>
            <a:endParaRPr lang="en-US" sz="1400" dirty="0"/>
          </a:p>
        </p:txBody>
      </p:sp>
      <p:sp>
        <p:nvSpPr>
          <p:cNvPr id="27" name="Shape 25"/>
          <p:cNvSpPr/>
          <p:nvPr/>
        </p:nvSpPr>
        <p:spPr>
          <a:xfrm>
            <a:off x="4828032" y="1371600"/>
            <a:ext cx="54864" cy="402336"/>
          </a:xfrm>
          <a:prstGeom prst="rect">
            <a:avLst/>
          </a:prstGeom>
          <a:solidFill>
            <a:srgbClr val="F59E0B"/>
          </a:solidFill>
          <a:ln w="12700">
            <a:solidFill>
              <a:srgbClr val="F59E0B"/>
            </a:solidFill>
            <a:prstDash val="solid"/>
          </a:ln>
        </p:spPr>
      </p:sp>
      <p:sp>
        <p:nvSpPr>
          <p:cNvPr id="28" name="Text 26"/>
          <p:cNvSpPr/>
          <p:nvPr/>
        </p:nvSpPr>
        <p:spPr>
          <a:xfrm>
            <a:off x="4983480" y="1371600"/>
            <a:ext cx="3675888" cy="219456"/>
          </a:xfrm>
          <a:prstGeom prst="rect">
            <a:avLst/>
          </a:prstGeom>
          <a:noFill/>
          <a:ln/>
        </p:spPr>
        <p:txBody>
          <a:bodyPr wrap="square" lIns="0" tIns="0" rIns="0" bIns="0" rtlCol="0" anchor="ctr"/>
          <a:lstStyle/>
          <a:p>
            <a:pPr indent="0" marL="0">
              <a:buNone/>
            </a:pPr>
            <a:r>
              <a:rPr lang="en-US" sz="1100" b="1" dirty="0">
                <a:solidFill>
                  <a:srgbClr val="0D1117"/>
                </a:solidFill>
                <a:latin typeface="Calibri" pitchFamily="34" charset="0"/>
                <a:ea typeface="Calibri" pitchFamily="34" charset="-122"/>
                <a:cs typeface="Calibri" pitchFamily="34" charset="-120"/>
              </a:rPr>
              <a:t>Knowledge UX</a:t>
            </a:r>
            <a:endParaRPr lang="en-US" sz="1100" dirty="0"/>
          </a:p>
        </p:txBody>
      </p:sp>
      <p:sp>
        <p:nvSpPr>
          <p:cNvPr id="29" name="Text 27"/>
          <p:cNvSpPr/>
          <p:nvPr/>
        </p:nvSpPr>
        <p:spPr>
          <a:xfrm>
            <a:off x="4983480" y="1581912"/>
            <a:ext cx="3675888" cy="219456"/>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-&gt; Semantic triggers, playbooks, macros, richer canon ask experience. Phase 1.</a:t>
            </a:r>
            <a:endParaRPr lang="en-US" sz="1000" dirty="0"/>
          </a:p>
        </p:txBody>
      </p:sp>
      <p:sp>
        <p:nvSpPr>
          <p:cNvPr id="30" name="Shape 28"/>
          <p:cNvSpPr/>
          <p:nvPr/>
        </p:nvSpPr>
        <p:spPr>
          <a:xfrm>
            <a:off x="4828032" y="1993392"/>
            <a:ext cx="54864" cy="402336"/>
          </a:xfrm>
          <a:prstGeom prst="rect">
            <a:avLst/>
          </a:prstGeom>
          <a:solidFill>
            <a:srgbClr val="F59E0B"/>
          </a:solidFill>
          <a:ln w="12700">
            <a:solidFill>
              <a:srgbClr val="F59E0B"/>
            </a:solidFill>
            <a:prstDash val="solid"/>
          </a:ln>
        </p:spPr>
      </p:sp>
      <p:sp>
        <p:nvSpPr>
          <p:cNvPr id="31" name="Text 29"/>
          <p:cNvSpPr/>
          <p:nvPr/>
        </p:nvSpPr>
        <p:spPr>
          <a:xfrm>
            <a:off x="4983480" y="1993392"/>
            <a:ext cx="3675888" cy="219456"/>
          </a:xfrm>
          <a:prstGeom prst="rect">
            <a:avLst/>
          </a:prstGeom>
          <a:noFill/>
          <a:ln/>
        </p:spPr>
        <p:txBody>
          <a:bodyPr wrap="square" lIns="0" tIns="0" rIns="0" bIns="0" rtlCol="0" anchor="ctr"/>
          <a:lstStyle/>
          <a:p>
            <a:pPr indent="0" marL="0">
              <a:buNone/>
            </a:pPr>
            <a:r>
              <a:rPr lang="en-US" sz="1100" b="1" dirty="0">
                <a:solidFill>
                  <a:srgbClr val="0D1117"/>
                </a:solidFill>
                <a:latin typeface="Calibri" pitchFamily="34" charset="0"/>
                <a:ea typeface="Calibri" pitchFamily="34" charset="-122"/>
                <a:cs typeface="Calibri" pitchFamily="34" charset="-120"/>
              </a:rPr>
              <a:t>Enterprise governance</a:t>
            </a:r>
            <a:endParaRPr lang="en-US" sz="1100" dirty="0"/>
          </a:p>
        </p:txBody>
      </p:sp>
      <p:sp>
        <p:nvSpPr>
          <p:cNvPr id="32" name="Text 30"/>
          <p:cNvSpPr/>
          <p:nvPr/>
        </p:nvSpPr>
        <p:spPr>
          <a:xfrm>
            <a:off x="4983480" y="2203704"/>
            <a:ext cx="3675888" cy="219456"/>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-&gt; Cognito/OIDC SSO, admin surfaces, audit export, event-driven hooks. Phase 2.</a:t>
            </a:r>
            <a:endParaRPr lang="en-US" sz="1000" dirty="0"/>
          </a:p>
        </p:txBody>
      </p:sp>
      <p:sp>
        <p:nvSpPr>
          <p:cNvPr id="33" name="Shape 31"/>
          <p:cNvSpPr/>
          <p:nvPr/>
        </p:nvSpPr>
        <p:spPr>
          <a:xfrm>
            <a:off x="4828032" y="2615184"/>
            <a:ext cx="54864" cy="402336"/>
          </a:xfrm>
          <a:prstGeom prst="rect">
            <a:avLst/>
          </a:prstGeom>
          <a:solidFill>
            <a:srgbClr val="F59E0B"/>
          </a:solidFill>
          <a:ln w="12700">
            <a:solidFill>
              <a:srgbClr val="F59E0B"/>
            </a:solidFill>
            <a:prstDash val="solid"/>
          </a:ln>
        </p:spPr>
      </p:sp>
      <p:sp>
        <p:nvSpPr>
          <p:cNvPr id="34" name="Text 32"/>
          <p:cNvSpPr/>
          <p:nvPr/>
        </p:nvSpPr>
        <p:spPr>
          <a:xfrm>
            <a:off x="4983480" y="2615184"/>
            <a:ext cx="3675888" cy="219456"/>
          </a:xfrm>
          <a:prstGeom prst="rect">
            <a:avLst/>
          </a:prstGeom>
          <a:noFill/>
          <a:ln/>
        </p:spPr>
        <p:txBody>
          <a:bodyPr wrap="square" lIns="0" tIns="0" rIns="0" bIns="0" rtlCol="0" anchor="ctr"/>
          <a:lstStyle/>
          <a:p>
            <a:pPr indent="0" marL="0">
              <a:buNone/>
            </a:pPr>
            <a:r>
              <a:rPr lang="en-US" sz="1100" b="1" dirty="0">
                <a:solidFill>
                  <a:srgbClr val="0D1117"/>
                </a:solidFill>
                <a:latin typeface="Calibri" pitchFamily="34" charset="0"/>
                <a:ea typeface="Calibri" pitchFamily="34" charset="-122"/>
                <a:cs typeface="Calibri" pitchFamily="34" charset="-120"/>
              </a:rPr>
              <a:t>Runtime abstraction</a:t>
            </a:r>
            <a:endParaRPr lang="en-US" sz="1100" dirty="0"/>
          </a:p>
        </p:txBody>
      </p:sp>
      <p:sp>
        <p:nvSpPr>
          <p:cNvPr id="35" name="Text 33"/>
          <p:cNvSpPr/>
          <p:nvPr/>
        </p:nvSpPr>
        <p:spPr>
          <a:xfrm>
            <a:off x="4983480" y="2825496"/>
            <a:ext cx="3675888" cy="219456"/>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-&gt; Cursor SDK evidence envelope, governance-only mode, boundary contract. Phase 3.</a:t>
            </a:r>
            <a:endParaRPr lang="en-US" sz="1000" dirty="0"/>
          </a:p>
        </p:txBody>
      </p:sp>
      <p:sp>
        <p:nvSpPr>
          <p:cNvPr id="36" name="Shape 34"/>
          <p:cNvSpPr/>
          <p:nvPr/>
        </p:nvSpPr>
        <p:spPr>
          <a:xfrm>
            <a:off x="4828032" y="3236976"/>
            <a:ext cx="54864" cy="402336"/>
          </a:xfrm>
          <a:prstGeom prst="rect">
            <a:avLst/>
          </a:prstGeom>
          <a:solidFill>
            <a:srgbClr val="F59E0B"/>
          </a:solidFill>
          <a:ln w="12700">
            <a:solidFill>
              <a:srgbClr val="F59E0B"/>
            </a:solidFill>
            <a:prstDash val="solid"/>
          </a:ln>
        </p:spPr>
      </p:sp>
      <p:sp>
        <p:nvSpPr>
          <p:cNvPr id="37" name="Text 35"/>
          <p:cNvSpPr/>
          <p:nvPr/>
        </p:nvSpPr>
        <p:spPr>
          <a:xfrm>
            <a:off x="4983480" y="3236976"/>
            <a:ext cx="3675888" cy="219456"/>
          </a:xfrm>
          <a:prstGeom prst="rect">
            <a:avLst/>
          </a:prstGeom>
          <a:noFill/>
          <a:ln/>
        </p:spPr>
        <p:txBody>
          <a:bodyPr wrap="square" lIns="0" tIns="0" rIns="0" bIns="0" rtlCol="0" anchor="ctr"/>
          <a:lstStyle/>
          <a:p>
            <a:pPr indent="0" marL="0">
              <a:buNone/>
            </a:pPr>
            <a:r>
              <a:rPr lang="en-US" sz="1100" b="1" dirty="0">
                <a:solidFill>
                  <a:srgbClr val="0D1117"/>
                </a:solidFill>
                <a:latin typeface="Calibri" pitchFamily="34" charset="0"/>
                <a:ea typeface="Calibri" pitchFamily="34" charset="-122"/>
                <a:cs typeface="Calibri" pitchFamily="34" charset="-120"/>
              </a:rPr>
              <a:t>Remote execution</a:t>
            </a:r>
            <a:endParaRPr lang="en-US" sz="1100" dirty="0"/>
          </a:p>
        </p:txBody>
      </p:sp>
      <p:sp>
        <p:nvSpPr>
          <p:cNvPr id="38" name="Text 36"/>
          <p:cNvSpPr/>
          <p:nvPr/>
        </p:nvSpPr>
        <p:spPr>
          <a:xfrm>
            <a:off x="4983480" y="3447288"/>
            <a:ext cx="3675888" cy="219456"/>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-&gt; Governed remote workers, long-run implementer, hidden orchestration. Phase 4.</a:t>
            </a:r>
            <a:endParaRPr lang="en-US" sz="1000" dirty="0"/>
          </a:p>
        </p:txBody>
      </p:sp>
      <p:sp>
        <p:nvSpPr>
          <p:cNvPr id="39" name="Shape 37"/>
          <p:cNvSpPr/>
          <p:nvPr/>
        </p:nvSpPr>
        <p:spPr>
          <a:xfrm>
            <a:off x="4828032" y="3858768"/>
            <a:ext cx="54864" cy="402336"/>
          </a:xfrm>
          <a:prstGeom prst="rect">
            <a:avLst/>
          </a:prstGeom>
          <a:solidFill>
            <a:srgbClr val="F59E0B"/>
          </a:solidFill>
          <a:ln w="12700">
            <a:solidFill>
              <a:srgbClr val="F59E0B"/>
            </a:solidFill>
            <a:prstDash val="solid"/>
          </a:ln>
        </p:spPr>
      </p:sp>
      <p:sp>
        <p:nvSpPr>
          <p:cNvPr id="40" name="Text 38"/>
          <p:cNvSpPr/>
          <p:nvPr/>
        </p:nvSpPr>
        <p:spPr>
          <a:xfrm>
            <a:off x="4983480" y="3858768"/>
            <a:ext cx="3675888" cy="219456"/>
          </a:xfrm>
          <a:prstGeom prst="rect">
            <a:avLst/>
          </a:prstGeom>
          <a:noFill/>
          <a:ln/>
        </p:spPr>
        <p:txBody>
          <a:bodyPr wrap="square" lIns="0" tIns="0" rIns="0" bIns="0" rtlCol="0" anchor="ctr"/>
          <a:lstStyle/>
          <a:p>
            <a:pPr indent="0" marL="0">
              <a:buNone/>
            </a:pPr>
            <a:r>
              <a:rPr lang="en-US" sz="1100" b="1" dirty="0">
                <a:solidFill>
                  <a:srgbClr val="0D1117"/>
                </a:solidFill>
                <a:latin typeface="Calibri" pitchFamily="34" charset="0"/>
                <a:ea typeface="Calibri" pitchFamily="34" charset="-122"/>
                <a:cs typeface="Calibri" pitchFamily="34" charset="-120"/>
              </a:rPr>
              <a:t>Managed offering</a:t>
            </a:r>
            <a:endParaRPr lang="en-US" sz="1100" dirty="0"/>
          </a:p>
        </p:txBody>
      </p:sp>
      <p:sp>
        <p:nvSpPr>
          <p:cNvPr id="41" name="Text 39"/>
          <p:cNvSpPr/>
          <p:nvPr/>
        </p:nvSpPr>
        <p:spPr>
          <a:xfrm>
            <a:off x="4983480" y="4069080"/>
            <a:ext cx="3675888" cy="219456"/>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-&gt; Canon Cloud: hosted memory + ingress, customer VPC, predictable pricing. Phase 5.</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384048" cy="5143500"/>
          </a:xfrm>
          <a:prstGeom prst="rect">
            <a:avLst/>
          </a:prstGeom>
          <a:solidFill>
            <a:srgbClr val="00D4AA"/>
          </a:solidFill>
          <a:ln w="12700">
            <a:solidFill>
              <a:srgbClr val="00D4AA"/>
            </a:solidFill>
            <a:prstDash val="solid"/>
          </a:ln>
        </p:spPr>
      </p:sp>
      <p:sp>
        <p:nvSpPr>
          <p:cNvPr id="3" name="Text 1"/>
          <p:cNvSpPr/>
          <p:nvPr/>
        </p:nvSpPr>
        <p:spPr>
          <a:xfrm>
            <a:off x="5029200" y="-182880"/>
            <a:ext cx="4389120" cy="3840480"/>
          </a:xfrm>
          <a:prstGeom prst="rect">
            <a:avLst/>
          </a:prstGeom>
          <a:noFill/>
          <a:ln/>
        </p:spPr>
        <p:txBody>
          <a:bodyPr wrap="square" lIns="0" tIns="0" rIns="0" bIns="0" rtlCol="0" anchor="t"/>
          <a:lstStyle/>
          <a:p>
            <a:pPr algn="r" indent="0" marL="0">
              <a:buNone/>
            </a:pPr>
            <a:r>
              <a:rPr lang="en-US" sz="28000" b="1" dirty="0">
                <a:solidFill>
                  <a:srgbClr val="0A1F35"/>
                </a:solidFill>
                <a:latin typeface="Calibri" pitchFamily="34" charset="0"/>
                <a:ea typeface="Calibri" pitchFamily="34" charset="-122"/>
                <a:cs typeface="Calibri" pitchFamily="34" charset="-120"/>
              </a:rPr>
              <a:t>04</a:t>
            </a:r>
            <a:endParaRPr lang="en-US" sz="28000" dirty="0"/>
          </a:p>
        </p:txBody>
      </p:sp>
      <p:sp>
        <p:nvSpPr>
          <p:cNvPr id="4" name="Shape 2"/>
          <p:cNvSpPr/>
          <p:nvPr/>
        </p:nvSpPr>
        <p:spPr>
          <a:xfrm>
            <a:off x="566928" y="1536192"/>
            <a:ext cx="4114800" cy="36576"/>
          </a:xfrm>
          <a:prstGeom prst="rect">
            <a:avLst/>
          </a:prstGeom>
          <a:solidFill>
            <a:srgbClr val="00D4AA"/>
          </a:solidFill>
          <a:ln w="12700">
            <a:solidFill>
              <a:srgbClr val="00D4AA"/>
            </a:solidFill>
            <a:prstDash val="solid"/>
          </a:ln>
        </p:spPr>
      </p:sp>
      <p:sp>
        <p:nvSpPr>
          <p:cNvPr id="5" name="Text 3"/>
          <p:cNvSpPr/>
          <p:nvPr/>
        </p:nvSpPr>
        <p:spPr>
          <a:xfrm>
            <a:off x="566928" y="384048"/>
            <a:ext cx="1828800" cy="822960"/>
          </a:xfrm>
          <a:prstGeom prst="rect">
            <a:avLst/>
          </a:prstGeom>
          <a:noFill/>
          <a:ln/>
        </p:spPr>
        <p:txBody>
          <a:bodyPr wrap="square" lIns="0" tIns="0" rIns="0" bIns="0" rtlCol="0" anchor="ctr"/>
          <a:lstStyle/>
          <a:p>
            <a:pPr indent="0" marL="0">
              <a:buNone/>
            </a:pPr>
            <a:r>
              <a:rPr lang="en-US" sz="5200" b="1" dirty="0">
                <a:solidFill>
                  <a:srgbClr val="1A3050"/>
                </a:solidFill>
                <a:latin typeface="Calibri" pitchFamily="34" charset="0"/>
                <a:ea typeface="Calibri" pitchFamily="34" charset="-122"/>
                <a:cs typeface="Calibri" pitchFamily="34" charset="-120"/>
              </a:rPr>
              <a:t>04</a:t>
            </a:r>
            <a:endParaRPr lang="en-US" sz="5200" dirty="0"/>
          </a:p>
        </p:txBody>
      </p:sp>
      <p:sp>
        <p:nvSpPr>
          <p:cNvPr id="6" name="Text 4"/>
          <p:cNvSpPr/>
          <p:nvPr/>
        </p:nvSpPr>
        <p:spPr>
          <a:xfrm>
            <a:off x="566928" y="1115568"/>
            <a:ext cx="8229600" cy="457200"/>
          </a:xfrm>
          <a:prstGeom prst="rect">
            <a:avLst/>
          </a:prstGeom>
          <a:noFill/>
          <a:ln/>
        </p:spPr>
        <p:txBody>
          <a:bodyPr wrap="square" lIns="0" tIns="0" rIns="0" bIns="0" rtlCol="0" anchor="ctr"/>
          <a:lstStyle/>
          <a:p>
            <a:pPr indent="0" marL="0">
              <a:buNone/>
            </a:pPr>
            <a:r>
              <a:rPr lang="en-US" sz="1100" b="1" spc="500" kern="0" dirty="0">
                <a:solidFill>
                  <a:srgbClr val="00D4AA"/>
                </a:solidFill>
                <a:latin typeface="Calibri" pitchFamily="34" charset="0"/>
                <a:ea typeface="Calibri" pitchFamily="34" charset="-122"/>
                <a:cs typeface="Calibri" pitchFamily="34" charset="-120"/>
              </a:rPr>
              <a:t>WHERE WE'RE TAKING IT</a:t>
            </a:r>
            <a:endParaRPr lang="en-US" sz="1100" dirty="0"/>
          </a:p>
        </p:txBody>
      </p:sp>
      <p:sp>
        <p:nvSpPr>
          <p:cNvPr id="7" name="Text 5"/>
          <p:cNvSpPr/>
          <p:nvPr/>
        </p:nvSpPr>
        <p:spPr>
          <a:xfrm>
            <a:off x="566928" y="1572768"/>
            <a:ext cx="5943600" cy="141732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Five phases. A north star.</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A longer arc.</a:t>
            </a:r>
            <a:endParaRPr lang="en-US" sz="3600" dirty="0"/>
          </a:p>
        </p:txBody>
      </p:sp>
      <p:sp>
        <p:nvSpPr>
          <p:cNvPr id="8" name="Text 6"/>
          <p:cNvSpPr/>
          <p:nvPr/>
        </p:nvSpPr>
        <p:spPr>
          <a:xfrm>
            <a:off x="566928" y="2944368"/>
            <a:ext cx="8229600" cy="502920"/>
          </a:xfrm>
          <a:prstGeom prst="rect">
            <a:avLst/>
          </a:prstGeom>
          <a:noFill/>
          <a:ln/>
        </p:spPr>
        <p:txBody>
          <a:bodyPr wrap="square" lIns="0" tIns="0" rIns="0" bIns="0"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Ship Phase 1 first. Runtime abstraction and remote workers only pay off when governance surfaces are real and inspectable.</a:t>
            </a:r>
            <a:endParaRPr lang="en-US" sz="1300" dirty="0"/>
          </a:p>
        </p:txBody>
      </p:sp>
      <p:sp>
        <p:nvSpPr>
          <p:cNvPr id="9" name="Shape 7"/>
          <p:cNvSpPr/>
          <p:nvPr/>
        </p:nvSpPr>
        <p:spPr>
          <a:xfrm>
            <a:off x="411480" y="3547872"/>
            <a:ext cx="1536192" cy="1389888"/>
          </a:xfrm>
          <a:prstGeom prst="rect">
            <a:avLst/>
          </a:prstGeom>
          <a:solidFill>
            <a:srgbClr val="0F2035"/>
          </a:solidFill>
          <a:ln w="10160">
            <a:solidFill>
              <a:srgbClr val="0891B2"/>
            </a:solidFill>
            <a:prstDash val="solid"/>
          </a:ln>
        </p:spPr>
      </p:sp>
      <p:sp>
        <p:nvSpPr>
          <p:cNvPr id="10" name="Shape 8"/>
          <p:cNvSpPr/>
          <p:nvPr/>
        </p:nvSpPr>
        <p:spPr>
          <a:xfrm>
            <a:off x="886968" y="3611880"/>
            <a:ext cx="594360" cy="594360"/>
          </a:xfrm>
          <a:prstGeom prst="ellipse">
            <a:avLst/>
          </a:prstGeom>
          <a:solidFill>
            <a:srgbClr val="0891B2"/>
          </a:solidFill>
          <a:ln w="12700">
            <a:solidFill>
              <a:srgbClr val="0891B2"/>
            </a:solidFill>
            <a:prstDash val="solid"/>
          </a:ln>
        </p:spPr>
      </p:sp>
      <p:sp>
        <p:nvSpPr>
          <p:cNvPr id="11" name="Text 9"/>
          <p:cNvSpPr/>
          <p:nvPr/>
        </p:nvSpPr>
        <p:spPr>
          <a:xfrm>
            <a:off x="886968" y="3611880"/>
            <a:ext cx="594360" cy="5943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2" name="Text 10"/>
          <p:cNvSpPr/>
          <p:nvPr/>
        </p:nvSpPr>
        <p:spPr>
          <a:xfrm>
            <a:off x="448056" y="4279392"/>
            <a:ext cx="14630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Knowledge &amp; UX</a:t>
            </a:r>
            <a:endParaRPr lang="en-US" sz="1000" dirty="0"/>
          </a:p>
        </p:txBody>
      </p:sp>
      <p:sp>
        <p:nvSpPr>
          <p:cNvPr id="13" name="Text 11"/>
          <p:cNvSpPr/>
          <p:nvPr/>
        </p:nvSpPr>
        <p:spPr>
          <a:xfrm>
            <a:off x="448056" y="4681728"/>
            <a:ext cx="1463040" cy="237744"/>
          </a:xfrm>
          <a:prstGeom prst="rect">
            <a:avLst/>
          </a:prstGeom>
          <a:noFill/>
          <a:ln/>
        </p:spPr>
        <p:txBody>
          <a:bodyPr wrap="square" lIns="0" tIns="0" rIns="0" bIns="0" rtlCol="0" anchor="ctr"/>
          <a:lstStyle/>
          <a:p>
            <a:pPr algn="ctr" indent="0" marL="0">
              <a:buNone/>
            </a:pPr>
            <a:r>
              <a:rPr lang="en-US" sz="900" dirty="0">
                <a:solidFill>
                  <a:srgbClr val="7BA3C4"/>
                </a:solidFill>
                <a:latin typeface="Calibri" pitchFamily="34" charset="0"/>
                <a:ea typeface="Calibri" pitchFamily="34" charset="-122"/>
                <a:cs typeface="Calibri" pitchFamily="34" charset="-120"/>
              </a:rPr>
              <a:t>4-6 wks</a:t>
            </a:r>
            <a:endParaRPr lang="en-US" sz="900" dirty="0"/>
          </a:p>
        </p:txBody>
      </p:sp>
      <p:sp>
        <p:nvSpPr>
          <p:cNvPr id="14" name="Shape 12"/>
          <p:cNvSpPr/>
          <p:nvPr/>
        </p:nvSpPr>
        <p:spPr>
          <a:xfrm>
            <a:off x="2093976" y="3547872"/>
            <a:ext cx="1536192" cy="1389888"/>
          </a:xfrm>
          <a:prstGeom prst="rect">
            <a:avLst/>
          </a:prstGeom>
          <a:solidFill>
            <a:srgbClr val="0F2035"/>
          </a:solidFill>
          <a:ln w="10160">
            <a:solidFill>
              <a:srgbClr val="00D4AA"/>
            </a:solidFill>
            <a:prstDash val="solid"/>
          </a:ln>
        </p:spPr>
      </p:sp>
      <p:sp>
        <p:nvSpPr>
          <p:cNvPr id="15" name="Shape 13"/>
          <p:cNvSpPr/>
          <p:nvPr/>
        </p:nvSpPr>
        <p:spPr>
          <a:xfrm>
            <a:off x="2569464" y="3611880"/>
            <a:ext cx="594360" cy="594360"/>
          </a:xfrm>
          <a:prstGeom prst="ellipse">
            <a:avLst/>
          </a:prstGeom>
          <a:solidFill>
            <a:srgbClr val="00D4AA"/>
          </a:solidFill>
          <a:ln w="12700">
            <a:solidFill>
              <a:srgbClr val="00D4AA"/>
            </a:solidFill>
            <a:prstDash val="solid"/>
          </a:ln>
        </p:spPr>
      </p:sp>
      <p:sp>
        <p:nvSpPr>
          <p:cNvPr id="16" name="Text 14"/>
          <p:cNvSpPr/>
          <p:nvPr/>
        </p:nvSpPr>
        <p:spPr>
          <a:xfrm>
            <a:off x="2569464" y="3611880"/>
            <a:ext cx="594360" cy="5943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5"/>
          <p:cNvSpPr/>
          <p:nvPr/>
        </p:nvSpPr>
        <p:spPr>
          <a:xfrm>
            <a:off x="2130552" y="4279392"/>
            <a:ext cx="14630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Enterprise Governance</a:t>
            </a:r>
            <a:endParaRPr lang="en-US" sz="1000" dirty="0"/>
          </a:p>
        </p:txBody>
      </p:sp>
      <p:sp>
        <p:nvSpPr>
          <p:cNvPr id="18" name="Text 16"/>
          <p:cNvSpPr/>
          <p:nvPr/>
        </p:nvSpPr>
        <p:spPr>
          <a:xfrm>
            <a:off x="2130552" y="4681728"/>
            <a:ext cx="1463040" cy="237744"/>
          </a:xfrm>
          <a:prstGeom prst="rect">
            <a:avLst/>
          </a:prstGeom>
          <a:noFill/>
          <a:ln/>
        </p:spPr>
        <p:txBody>
          <a:bodyPr wrap="square" lIns="0" tIns="0" rIns="0" bIns="0" rtlCol="0" anchor="ctr"/>
          <a:lstStyle/>
          <a:p>
            <a:pPr algn="ctr" indent="0" marL="0">
              <a:buNone/>
            </a:pPr>
            <a:r>
              <a:rPr lang="en-US" sz="900" dirty="0">
                <a:solidFill>
                  <a:srgbClr val="7BA3C4"/>
                </a:solidFill>
                <a:latin typeface="Calibri" pitchFamily="34" charset="0"/>
                <a:ea typeface="Calibri" pitchFamily="34" charset="-122"/>
                <a:cs typeface="Calibri" pitchFamily="34" charset="-120"/>
              </a:rPr>
              <a:t>5-8 wks</a:t>
            </a:r>
            <a:endParaRPr lang="en-US" sz="900" dirty="0"/>
          </a:p>
        </p:txBody>
      </p:sp>
      <p:sp>
        <p:nvSpPr>
          <p:cNvPr id="19" name="Shape 17"/>
          <p:cNvSpPr/>
          <p:nvPr/>
        </p:nvSpPr>
        <p:spPr>
          <a:xfrm>
            <a:off x="3776472" y="3547872"/>
            <a:ext cx="1536192" cy="1389888"/>
          </a:xfrm>
          <a:prstGeom prst="rect">
            <a:avLst/>
          </a:prstGeom>
          <a:solidFill>
            <a:srgbClr val="0F2035"/>
          </a:solidFill>
          <a:ln w="10160">
            <a:solidFill>
              <a:srgbClr val="6366F1"/>
            </a:solidFill>
            <a:prstDash val="solid"/>
          </a:ln>
        </p:spPr>
      </p:sp>
      <p:sp>
        <p:nvSpPr>
          <p:cNvPr id="20" name="Shape 18"/>
          <p:cNvSpPr/>
          <p:nvPr/>
        </p:nvSpPr>
        <p:spPr>
          <a:xfrm>
            <a:off x="4251960" y="3611880"/>
            <a:ext cx="594360" cy="594360"/>
          </a:xfrm>
          <a:prstGeom prst="ellipse">
            <a:avLst/>
          </a:prstGeom>
          <a:solidFill>
            <a:srgbClr val="6366F1"/>
          </a:solidFill>
          <a:ln w="12700">
            <a:solidFill>
              <a:srgbClr val="6366F1"/>
            </a:solidFill>
            <a:prstDash val="solid"/>
          </a:ln>
        </p:spPr>
      </p:sp>
      <p:sp>
        <p:nvSpPr>
          <p:cNvPr id="21" name="Text 19"/>
          <p:cNvSpPr/>
          <p:nvPr/>
        </p:nvSpPr>
        <p:spPr>
          <a:xfrm>
            <a:off x="4251960" y="3611880"/>
            <a:ext cx="594360" cy="5943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2" name="Text 20"/>
          <p:cNvSpPr/>
          <p:nvPr/>
        </p:nvSpPr>
        <p:spPr>
          <a:xfrm>
            <a:off x="3813048" y="4279392"/>
            <a:ext cx="14630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Runtime Abstraction</a:t>
            </a:r>
            <a:endParaRPr lang="en-US" sz="1000" dirty="0"/>
          </a:p>
        </p:txBody>
      </p:sp>
      <p:sp>
        <p:nvSpPr>
          <p:cNvPr id="23" name="Text 21"/>
          <p:cNvSpPr/>
          <p:nvPr/>
        </p:nvSpPr>
        <p:spPr>
          <a:xfrm>
            <a:off x="3813048" y="4681728"/>
            <a:ext cx="1463040" cy="237744"/>
          </a:xfrm>
          <a:prstGeom prst="rect">
            <a:avLst/>
          </a:prstGeom>
          <a:noFill/>
          <a:ln/>
        </p:spPr>
        <p:txBody>
          <a:bodyPr wrap="square" lIns="0" tIns="0" rIns="0" bIns="0" rtlCol="0" anchor="ctr"/>
          <a:lstStyle/>
          <a:p>
            <a:pPr algn="ctr" indent="0" marL="0">
              <a:buNone/>
            </a:pPr>
            <a:r>
              <a:rPr lang="en-US" sz="900" dirty="0">
                <a:solidFill>
                  <a:srgbClr val="7BA3C4"/>
                </a:solidFill>
                <a:latin typeface="Calibri" pitchFamily="34" charset="0"/>
                <a:ea typeface="Calibri" pitchFamily="34" charset="-122"/>
                <a:cs typeface="Calibri" pitchFamily="34" charset="-120"/>
              </a:rPr>
              <a:t>6-9 wks</a:t>
            </a:r>
            <a:endParaRPr lang="en-US" sz="900" dirty="0"/>
          </a:p>
        </p:txBody>
      </p:sp>
      <p:sp>
        <p:nvSpPr>
          <p:cNvPr id="24" name="Shape 22"/>
          <p:cNvSpPr/>
          <p:nvPr/>
        </p:nvSpPr>
        <p:spPr>
          <a:xfrm>
            <a:off x="5458968" y="3547872"/>
            <a:ext cx="1536192" cy="1389888"/>
          </a:xfrm>
          <a:prstGeom prst="rect">
            <a:avLst/>
          </a:prstGeom>
          <a:solidFill>
            <a:srgbClr val="0F2035"/>
          </a:solidFill>
          <a:ln w="10160">
            <a:solidFill>
              <a:srgbClr val="8B5CF6"/>
            </a:solidFill>
            <a:prstDash val="solid"/>
          </a:ln>
        </p:spPr>
      </p:sp>
      <p:sp>
        <p:nvSpPr>
          <p:cNvPr id="25" name="Shape 23"/>
          <p:cNvSpPr/>
          <p:nvPr/>
        </p:nvSpPr>
        <p:spPr>
          <a:xfrm>
            <a:off x="5934456" y="3611880"/>
            <a:ext cx="594360" cy="594360"/>
          </a:xfrm>
          <a:prstGeom prst="ellipse">
            <a:avLst/>
          </a:prstGeom>
          <a:solidFill>
            <a:srgbClr val="8B5CF6"/>
          </a:solidFill>
          <a:ln w="12700">
            <a:solidFill>
              <a:srgbClr val="8B5CF6"/>
            </a:solidFill>
            <a:prstDash val="solid"/>
          </a:ln>
        </p:spPr>
      </p:sp>
      <p:sp>
        <p:nvSpPr>
          <p:cNvPr id="26" name="Text 24"/>
          <p:cNvSpPr/>
          <p:nvPr/>
        </p:nvSpPr>
        <p:spPr>
          <a:xfrm>
            <a:off x="5934456" y="3611880"/>
            <a:ext cx="594360" cy="5943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7" name="Text 25"/>
          <p:cNvSpPr/>
          <p:nvPr/>
        </p:nvSpPr>
        <p:spPr>
          <a:xfrm>
            <a:off x="5495544" y="4279392"/>
            <a:ext cx="14630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Governed Autonomy</a:t>
            </a:r>
            <a:endParaRPr lang="en-US" sz="1000" dirty="0"/>
          </a:p>
        </p:txBody>
      </p:sp>
      <p:sp>
        <p:nvSpPr>
          <p:cNvPr id="28" name="Text 26"/>
          <p:cNvSpPr/>
          <p:nvPr/>
        </p:nvSpPr>
        <p:spPr>
          <a:xfrm>
            <a:off x="5495544" y="4681728"/>
            <a:ext cx="1463040" cy="237744"/>
          </a:xfrm>
          <a:prstGeom prst="rect">
            <a:avLst/>
          </a:prstGeom>
          <a:noFill/>
          <a:ln/>
        </p:spPr>
        <p:txBody>
          <a:bodyPr wrap="square" lIns="0" tIns="0" rIns="0" bIns="0" rtlCol="0" anchor="ctr"/>
          <a:lstStyle/>
          <a:p>
            <a:pPr algn="ctr" indent="0" marL="0">
              <a:buNone/>
            </a:pPr>
            <a:r>
              <a:rPr lang="en-US" sz="900" dirty="0">
                <a:solidFill>
                  <a:srgbClr val="7BA3C4"/>
                </a:solidFill>
                <a:latin typeface="Calibri" pitchFamily="34" charset="0"/>
                <a:ea typeface="Calibri" pitchFamily="34" charset="-122"/>
                <a:cs typeface="Calibri" pitchFamily="34" charset="-120"/>
              </a:rPr>
              <a:t>8-12 wks</a:t>
            </a:r>
            <a:endParaRPr lang="en-US" sz="900" dirty="0"/>
          </a:p>
        </p:txBody>
      </p:sp>
      <p:sp>
        <p:nvSpPr>
          <p:cNvPr id="29" name="Shape 27"/>
          <p:cNvSpPr/>
          <p:nvPr/>
        </p:nvSpPr>
        <p:spPr>
          <a:xfrm>
            <a:off x="7141464" y="3547872"/>
            <a:ext cx="1536192" cy="1389888"/>
          </a:xfrm>
          <a:prstGeom prst="rect">
            <a:avLst/>
          </a:prstGeom>
          <a:solidFill>
            <a:srgbClr val="0F2035"/>
          </a:solidFill>
          <a:ln w="10160">
            <a:solidFill>
              <a:srgbClr val="F59E0B"/>
            </a:solidFill>
            <a:prstDash val="solid"/>
          </a:ln>
        </p:spPr>
      </p:sp>
      <p:sp>
        <p:nvSpPr>
          <p:cNvPr id="30" name="Shape 28"/>
          <p:cNvSpPr/>
          <p:nvPr/>
        </p:nvSpPr>
        <p:spPr>
          <a:xfrm>
            <a:off x="7616952" y="3611880"/>
            <a:ext cx="594360" cy="594360"/>
          </a:xfrm>
          <a:prstGeom prst="ellipse">
            <a:avLst/>
          </a:prstGeom>
          <a:solidFill>
            <a:srgbClr val="F59E0B"/>
          </a:solidFill>
          <a:ln w="12700">
            <a:solidFill>
              <a:srgbClr val="F59E0B"/>
            </a:solidFill>
            <a:prstDash val="solid"/>
          </a:ln>
        </p:spPr>
      </p:sp>
      <p:sp>
        <p:nvSpPr>
          <p:cNvPr id="31" name="Text 29"/>
          <p:cNvSpPr/>
          <p:nvPr/>
        </p:nvSpPr>
        <p:spPr>
          <a:xfrm>
            <a:off x="7616952" y="3611880"/>
            <a:ext cx="594360" cy="5943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2" name="Text 30"/>
          <p:cNvSpPr/>
          <p:nvPr/>
        </p:nvSpPr>
        <p:spPr>
          <a:xfrm>
            <a:off x="7178040" y="4279392"/>
            <a:ext cx="14630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Managed Canon</a:t>
            </a:r>
            <a:endParaRPr lang="en-US" sz="1000" dirty="0"/>
          </a:p>
        </p:txBody>
      </p:sp>
      <p:sp>
        <p:nvSpPr>
          <p:cNvPr id="33" name="Text 31"/>
          <p:cNvSpPr/>
          <p:nvPr/>
        </p:nvSpPr>
        <p:spPr>
          <a:xfrm>
            <a:off x="7178040" y="4681728"/>
            <a:ext cx="1463040" cy="237744"/>
          </a:xfrm>
          <a:prstGeom prst="rect">
            <a:avLst/>
          </a:prstGeom>
          <a:noFill/>
          <a:ln/>
        </p:spPr>
        <p:txBody>
          <a:bodyPr wrap="square" lIns="0" tIns="0" rIns="0" bIns="0" rtlCol="0" anchor="ctr"/>
          <a:lstStyle/>
          <a:p>
            <a:pPr algn="ctr" indent="0" marL="0">
              <a:buNone/>
            </a:pPr>
            <a:r>
              <a:rPr lang="en-US" sz="900" dirty="0">
                <a:solidFill>
                  <a:srgbClr val="7BA3C4"/>
                </a:solidFill>
                <a:latin typeface="Calibri" pitchFamily="34" charset="0"/>
                <a:ea typeface="Calibri" pitchFamily="34" charset="-122"/>
                <a:cs typeface="Calibri" pitchFamily="34" charset="-120"/>
              </a:rPr>
              <a:t>8-12+ wks</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0"/>
            <a:ext cx="109728" cy="658368"/>
          </a:xfrm>
          <a:prstGeom prst="rect">
            <a:avLst/>
          </a:prstGeom>
          <a:solidFill>
            <a:srgbClr val="00D4AA"/>
          </a:solidFill>
          <a:ln w="12700">
            <a:solidFill>
              <a:srgbClr val="00D4AA"/>
            </a:solidFill>
            <a:prstDash val="solid"/>
          </a:ln>
        </p:spPr>
      </p:sp>
      <p:sp>
        <p:nvSpPr>
          <p:cNvPr id="4" name="Text 2"/>
          <p:cNvSpPr/>
          <p:nvPr/>
        </p:nvSpPr>
        <p:spPr>
          <a:xfrm>
            <a:off x="219456" y="0"/>
            <a:ext cx="685800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Phase 1 — Knowledge &amp; UX (Highest Leverage)</a:t>
            </a:r>
            <a:endParaRPr lang="en-US" sz="2100" dirty="0"/>
          </a:p>
        </p:txBody>
      </p:sp>
      <p:sp>
        <p:nvSpPr>
          <p:cNvPr id="5" name="Text 3"/>
          <p:cNvSpPr/>
          <p:nvPr/>
        </p:nvSpPr>
        <p:spPr>
          <a:xfrm>
            <a:off x="219456" y="0"/>
            <a:ext cx="8778240" cy="658368"/>
          </a:xfrm>
          <a:prstGeom prst="rect">
            <a:avLst/>
          </a:prstGeom>
          <a:noFill/>
          <a:ln/>
        </p:spPr>
        <p:txBody>
          <a:bodyPr wrap="square" lIns="0" tIns="0" rIns="0" bIns="0" rtlCol="0" anchor="ctr"/>
          <a:lstStyle/>
          <a:p>
            <a:pPr algn="r" indent="0" marL="0">
              <a:buNone/>
            </a:pPr>
            <a:r>
              <a:rPr lang="en-US" sz="1000" dirty="0">
                <a:solidFill>
                  <a:srgbClr val="4B6A8A"/>
                </a:solidFill>
                <a:latin typeface="Calibri" pitchFamily="34" charset="0"/>
                <a:ea typeface="Calibri" pitchFamily="34" charset="-122"/>
                <a:cs typeface="Calibri" pitchFamily="34" charset="-120"/>
              </a:rPr>
              <a:t>Roadmap → Phase 1 · 4-6 weeks</a:t>
            </a:r>
            <a:endParaRPr lang="en-US" sz="1000" dirty="0"/>
          </a:p>
        </p:txBody>
      </p:sp>
      <p:sp>
        <p:nvSpPr>
          <p:cNvPr id="6" name="Text 4"/>
          <p:cNvSpPr/>
          <p:nvPr/>
        </p:nvSpPr>
        <p:spPr>
          <a:xfrm>
            <a:off x="365760" y="749808"/>
            <a:ext cx="8412480" cy="32004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Make organizational knowledge as easy to use as it is to store — without weakening tenant boundaries.</a:t>
            </a:r>
            <a:endParaRPr lang="en-US" sz="1300" dirty="0"/>
          </a:p>
        </p:txBody>
      </p:sp>
      <p:sp>
        <p:nvSpPr>
          <p:cNvPr id="7" name="Shape 5"/>
          <p:cNvSpPr/>
          <p:nvPr/>
        </p:nvSpPr>
        <p:spPr>
          <a:xfrm>
            <a:off x="320040" y="1188720"/>
            <a:ext cx="2779776" cy="303580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8" name="Shape 6"/>
          <p:cNvSpPr/>
          <p:nvPr/>
        </p:nvSpPr>
        <p:spPr>
          <a:xfrm>
            <a:off x="320040" y="1188720"/>
            <a:ext cx="64008" cy="3035808"/>
          </a:xfrm>
          <a:prstGeom prst="rect">
            <a:avLst/>
          </a:prstGeom>
          <a:solidFill>
            <a:srgbClr val="0891B2"/>
          </a:solidFill>
          <a:ln w="12700">
            <a:solidFill>
              <a:srgbClr val="0891B2"/>
            </a:solidFill>
            <a:prstDash val="solid"/>
          </a:ln>
        </p:spPr>
      </p:sp>
      <p:sp>
        <p:nvSpPr>
          <p:cNvPr id="9" name="Shape 7"/>
          <p:cNvSpPr/>
          <p:nvPr/>
        </p:nvSpPr>
        <p:spPr>
          <a:xfrm>
            <a:off x="411480" y="1316736"/>
            <a:ext cx="457200" cy="219456"/>
          </a:xfrm>
          <a:prstGeom prst="rect">
            <a:avLst/>
          </a:prstGeom>
          <a:solidFill>
            <a:srgbClr val="0891B2"/>
          </a:solidFill>
          <a:ln w="12700">
            <a:solidFill>
              <a:srgbClr val="0891B2"/>
            </a:solidFill>
            <a:prstDash val="solid"/>
          </a:ln>
        </p:spPr>
      </p:sp>
      <p:sp>
        <p:nvSpPr>
          <p:cNvPr id="10" name="Text 8"/>
          <p:cNvSpPr/>
          <p:nvPr/>
        </p:nvSpPr>
        <p:spPr>
          <a:xfrm>
            <a:off x="411480" y="1316736"/>
            <a:ext cx="457200"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P1</a:t>
            </a:r>
            <a:endParaRPr lang="en-US" sz="1000" dirty="0"/>
          </a:p>
        </p:txBody>
      </p:sp>
      <p:sp>
        <p:nvSpPr>
          <p:cNvPr id="11" name="Text 9"/>
          <p:cNvSpPr/>
          <p:nvPr/>
        </p:nvSpPr>
        <p:spPr>
          <a:xfrm>
            <a:off x="484632" y="1609344"/>
            <a:ext cx="2487168" cy="402336"/>
          </a:xfrm>
          <a:prstGeom prst="rect">
            <a:avLst/>
          </a:prstGeom>
          <a:noFill/>
          <a:ln/>
        </p:spPr>
        <p:txBody>
          <a:bodyPr wrap="square" lIns="0" tIns="0" rIns="0" bIns="0" rtlCol="0" anchor="ctr"/>
          <a:lstStyle/>
          <a:p>
            <a:pPr indent="0" marL="0">
              <a:buNone/>
            </a:pPr>
            <a:r>
              <a:rPr lang="en-US" sz="1300" b="1" dirty="0">
                <a:solidFill>
                  <a:srgbClr val="0D1117"/>
                </a:solidFill>
                <a:latin typeface="Calibri" pitchFamily="34" charset="0"/>
                <a:ea typeface="Calibri" pitchFamily="34" charset="-122"/>
                <a:cs typeface="Calibri" pitchFamily="34" charset="-120"/>
              </a:rPr>
              <a:t>Knowledge Base UX in Cursor</a:t>
            </a:r>
            <a:endParaRPr lang="en-US" sz="1300" dirty="0"/>
          </a:p>
        </p:txBody>
      </p:sp>
      <p:sp>
        <p:nvSpPr>
          <p:cNvPr id="12" name="Text 10"/>
          <p:cNvSpPr/>
          <p:nvPr/>
        </p:nvSpPr>
        <p:spPr>
          <a:xfrm>
            <a:off x="484632" y="2029968"/>
            <a:ext cx="2487168" cy="111556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Browse/search conventions, 'when this applies' triggers, macros (e.g. !deploy-checklist). Sits on MemPalace + canonical events. Optional thin API or CLI for CRUD. CLI truth first; UI is optional wrapper.</a:t>
            </a:r>
            <a:endParaRPr lang="en-US" sz="1000" dirty="0"/>
          </a:p>
        </p:txBody>
      </p:sp>
      <p:sp>
        <p:nvSpPr>
          <p:cNvPr id="13" name="Shape 11"/>
          <p:cNvSpPr/>
          <p:nvPr/>
        </p:nvSpPr>
        <p:spPr>
          <a:xfrm>
            <a:off x="411480" y="3218688"/>
            <a:ext cx="2615184" cy="786384"/>
          </a:xfrm>
          <a:prstGeom prst="rect">
            <a:avLst/>
          </a:prstGeom>
          <a:solidFill>
            <a:srgbClr val="F1F5F9"/>
          </a:solidFill>
          <a:ln w="12700">
            <a:solidFill>
              <a:srgbClr val="E2E8F0"/>
            </a:solidFill>
            <a:prstDash val="solid"/>
          </a:ln>
        </p:spPr>
      </p:sp>
      <p:sp>
        <p:nvSpPr>
          <p:cNvPr id="14" name="Text 12"/>
          <p:cNvSpPr/>
          <p:nvPr/>
        </p:nvSpPr>
        <p:spPr>
          <a:xfrm>
            <a:off x="484632" y="3273552"/>
            <a:ext cx="2487168" cy="685800"/>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ask_hybrid.py, context_preload.py</a:t>
            </a:r>
            <a:endParaRPr lang="en-US" sz="900" dirty="0"/>
          </a:p>
          <a:p>
            <a:pPr indent="0" marL="0">
              <a:buNone/>
            </a:pPr>
            <a:r>
              <a:rPr lang="en-US" sz="900" dirty="0">
                <a:solidFill>
                  <a:srgbClr val="64748B"/>
                </a:solidFill>
                <a:latin typeface="Courier New" pitchFamily="34" charset="0"/>
                <a:ea typeface="Courier New" pitchFamily="34" charset="-122"/>
                <a:cs typeface="Courier New" pitchFamily="34" charset="-120"/>
              </a:rPr>
              <a:t>.cursor/rules/memory-layer-defaults.mdc</a:t>
            </a:r>
            <a:endParaRPr lang="en-US" sz="900" dirty="0"/>
          </a:p>
        </p:txBody>
      </p:sp>
      <p:sp>
        <p:nvSpPr>
          <p:cNvPr id="15" name="Shape 13"/>
          <p:cNvSpPr/>
          <p:nvPr/>
        </p:nvSpPr>
        <p:spPr>
          <a:xfrm>
            <a:off x="3246120" y="1188720"/>
            <a:ext cx="2779776" cy="303580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16" name="Shape 14"/>
          <p:cNvSpPr/>
          <p:nvPr/>
        </p:nvSpPr>
        <p:spPr>
          <a:xfrm>
            <a:off x="3246120" y="1188720"/>
            <a:ext cx="64008" cy="3035808"/>
          </a:xfrm>
          <a:prstGeom prst="rect">
            <a:avLst/>
          </a:prstGeom>
          <a:solidFill>
            <a:srgbClr val="00D4AA"/>
          </a:solidFill>
          <a:ln w="12700">
            <a:solidFill>
              <a:srgbClr val="00D4AA"/>
            </a:solidFill>
            <a:prstDash val="solid"/>
          </a:ln>
        </p:spPr>
      </p:sp>
      <p:sp>
        <p:nvSpPr>
          <p:cNvPr id="17" name="Shape 15"/>
          <p:cNvSpPr/>
          <p:nvPr/>
        </p:nvSpPr>
        <p:spPr>
          <a:xfrm>
            <a:off x="3337560" y="1316736"/>
            <a:ext cx="457200" cy="219456"/>
          </a:xfrm>
          <a:prstGeom prst="rect">
            <a:avLst/>
          </a:prstGeom>
          <a:solidFill>
            <a:srgbClr val="00D4AA"/>
          </a:solidFill>
          <a:ln w="12700">
            <a:solidFill>
              <a:srgbClr val="00D4AA"/>
            </a:solidFill>
            <a:prstDash val="solid"/>
          </a:ln>
        </p:spPr>
      </p:sp>
      <p:sp>
        <p:nvSpPr>
          <p:cNvPr id="18" name="Text 16"/>
          <p:cNvSpPr/>
          <p:nvPr/>
        </p:nvSpPr>
        <p:spPr>
          <a:xfrm>
            <a:off x="3337560" y="1316736"/>
            <a:ext cx="457200"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P2</a:t>
            </a:r>
            <a:endParaRPr lang="en-US" sz="1000" dirty="0"/>
          </a:p>
        </p:txBody>
      </p:sp>
      <p:sp>
        <p:nvSpPr>
          <p:cNvPr id="19" name="Text 17"/>
          <p:cNvSpPr/>
          <p:nvPr/>
        </p:nvSpPr>
        <p:spPr>
          <a:xfrm>
            <a:off x="3410712" y="1609344"/>
            <a:ext cx="2487168" cy="402336"/>
          </a:xfrm>
          <a:prstGeom prst="rect">
            <a:avLst/>
          </a:prstGeom>
          <a:noFill/>
          <a:ln/>
        </p:spPr>
        <p:txBody>
          <a:bodyPr wrap="square" lIns="0" tIns="0" rIns="0" bIns="0" rtlCol="0" anchor="ctr"/>
          <a:lstStyle/>
          <a:p>
            <a:pPr indent="0" marL="0">
              <a:buNone/>
            </a:pPr>
            <a:r>
              <a:rPr lang="en-US" sz="1300" b="1" dirty="0">
                <a:solidFill>
                  <a:srgbClr val="0D1117"/>
                </a:solidFill>
                <a:latin typeface="Calibri" pitchFamily="34" charset="0"/>
                <a:ea typeface="Calibri" pitchFamily="34" charset="-122"/>
                <a:cs typeface="Calibri" pitchFamily="34" charset="-120"/>
              </a:rPr>
              <a:t>Playbooks</a:t>
            </a:r>
            <a:endParaRPr lang="en-US" sz="1300" dirty="0"/>
          </a:p>
        </p:txBody>
      </p:sp>
      <p:sp>
        <p:nvSpPr>
          <p:cNvPr id="20" name="Text 18"/>
          <p:cNvSpPr/>
          <p:nvPr/>
        </p:nvSpPr>
        <p:spPr>
          <a:xfrm>
            <a:off x="3410712" y="2029968"/>
            <a:ext cx="2487168" cy="111556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Promote successful handoff patterns to reusable templates. Align with .cursor/agents + packet shapes under .cursor/handoffs/. Export a successful wave to a reusable template format.</a:t>
            </a:r>
            <a:endParaRPr lang="en-US" sz="1000" dirty="0"/>
          </a:p>
        </p:txBody>
      </p:sp>
      <p:sp>
        <p:nvSpPr>
          <p:cNvPr id="21" name="Shape 19"/>
          <p:cNvSpPr/>
          <p:nvPr/>
        </p:nvSpPr>
        <p:spPr>
          <a:xfrm>
            <a:off x="3337560" y="3218688"/>
            <a:ext cx="2615184" cy="786384"/>
          </a:xfrm>
          <a:prstGeom prst="rect">
            <a:avLst/>
          </a:prstGeom>
          <a:solidFill>
            <a:srgbClr val="F1F5F9"/>
          </a:solidFill>
          <a:ln w="12700">
            <a:solidFill>
              <a:srgbClr val="E2E8F0"/>
            </a:solidFill>
            <a:prstDash val="solid"/>
          </a:ln>
        </p:spPr>
      </p:sp>
      <p:sp>
        <p:nvSpPr>
          <p:cNvPr id="22" name="Text 20"/>
          <p:cNvSpPr/>
          <p:nvPr/>
        </p:nvSpPr>
        <p:spPr>
          <a:xfrm>
            <a:off x="3410712" y="3273552"/>
            <a:ext cx="2487168" cy="685800"/>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implementer.md → playbook export</a:t>
            </a:r>
            <a:endParaRPr lang="en-US" sz="900" dirty="0"/>
          </a:p>
          <a:p>
            <a:pPr indent="0" marL="0">
              <a:buNone/>
            </a:pPr>
            <a:r>
              <a:rPr lang="en-US" sz="900" dirty="0">
                <a:solidFill>
                  <a:srgbClr val="64748B"/>
                </a:solidFill>
                <a:latin typeface="Courier New" pitchFamily="34" charset="0"/>
                <a:ea typeface="Courier New" pitchFamily="34" charset="-122"/>
                <a:cs typeface="Courier New" pitchFamily="34" charset="-120"/>
              </a:rPr>
              <a:t>.cursor/handoffs/ pattern mining</a:t>
            </a:r>
            <a:endParaRPr lang="en-US" sz="900" dirty="0"/>
          </a:p>
        </p:txBody>
      </p:sp>
      <p:sp>
        <p:nvSpPr>
          <p:cNvPr id="23" name="Shape 21"/>
          <p:cNvSpPr/>
          <p:nvPr/>
        </p:nvSpPr>
        <p:spPr>
          <a:xfrm>
            <a:off x="6172200" y="1188720"/>
            <a:ext cx="2779776" cy="303580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24" name="Shape 22"/>
          <p:cNvSpPr/>
          <p:nvPr/>
        </p:nvSpPr>
        <p:spPr>
          <a:xfrm>
            <a:off x="6172200" y="1188720"/>
            <a:ext cx="64008" cy="3035808"/>
          </a:xfrm>
          <a:prstGeom prst="rect">
            <a:avLst/>
          </a:prstGeom>
          <a:solidFill>
            <a:srgbClr val="6366F1"/>
          </a:solidFill>
          <a:ln w="12700">
            <a:solidFill>
              <a:srgbClr val="6366F1"/>
            </a:solidFill>
            <a:prstDash val="solid"/>
          </a:ln>
        </p:spPr>
      </p:sp>
      <p:sp>
        <p:nvSpPr>
          <p:cNvPr id="25" name="Shape 23"/>
          <p:cNvSpPr/>
          <p:nvPr/>
        </p:nvSpPr>
        <p:spPr>
          <a:xfrm>
            <a:off x="6263640" y="1316736"/>
            <a:ext cx="457200" cy="219456"/>
          </a:xfrm>
          <a:prstGeom prst="rect">
            <a:avLst/>
          </a:prstGeom>
          <a:solidFill>
            <a:srgbClr val="6366F1"/>
          </a:solidFill>
          <a:ln w="12700">
            <a:solidFill>
              <a:srgbClr val="6366F1"/>
            </a:solidFill>
            <a:prstDash val="solid"/>
          </a:ln>
        </p:spPr>
      </p:sp>
      <p:sp>
        <p:nvSpPr>
          <p:cNvPr id="26" name="Text 24"/>
          <p:cNvSpPr/>
          <p:nvPr/>
        </p:nvSpPr>
        <p:spPr>
          <a:xfrm>
            <a:off x="6263640" y="1316736"/>
            <a:ext cx="457200"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P3</a:t>
            </a:r>
            <a:endParaRPr lang="en-US" sz="1000" dirty="0"/>
          </a:p>
        </p:txBody>
      </p:sp>
      <p:sp>
        <p:nvSpPr>
          <p:cNvPr id="27" name="Text 25"/>
          <p:cNvSpPr/>
          <p:nvPr/>
        </p:nvSpPr>
        <p:spPr>
          <a:xfrm>
            <a:off x="6336792" y="1609344"/>
            <a:ext cx="2487168" cy="402336"/>
          </a:xfrm>
          <a:prstGeom prst="rect">
            <a:avLst/>
          </a:prstGeom>
          <a:noFill/>
          <a:ln/>
        </p:spPr>
        <p:txBody>
          <a:bodyPr wrap="square" lIns="0" tIns="0" rIns="0" bIns="0" rtlCol="0" anchor="ctr"/>
          <a:lstStyle/>
          <a:p>
            <a:pPr indent="0" marL="0">
              <a:buNone/>
            </a:pPr>
            <a:r>
              <a:rPr lang="en-US" sz="1300" b="1" dirty="0">
                <a:solidFill>
                  <a:srgbClr val="0D1117"/>
                </a:solidFill>
                <a:latin typeface="Calibri" pitchFamily="34" charset="0"/>
                <a:ea typeface="Calibri" pitchFamily="34" charset="-122"/>
                <a:cs typeface="Calibri" pitchFamily="34" charset="-120"/>
              </a:rPr>
              <a:t>Semantic Triggers</a:t>
            </a:r>
            <a:endParaRPr lang="en-US" sz="1300" dirty="0"/>
          </a:p>
        </p:txBody>
      </p:sp>
      <p:sp>
        <p:nvSpPr>
          <p:cNvPr id="28" name="Text 26"/>
          <p:cNvSpPr/>
          <p:nvPr/>
        </p:nvSpPr>
        <p:spPr>
          <a:xfrm>
            <a:off x="6336792" y="2029968"/>
            <a:ext cx="2487168" cy="111556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Auto-surface knowledge when task text matches — bounded and tenant-scoped. Mitigate prompt injection with allowlist fields + max token budget. QA gate required on any net-new retrieval path.</a:t>
            </a:r>
            <a:endParaRPr lang="en-US" sz="1000" dirty="0"/>
          </a:p>
        </p:txBody>
      </p:sp>
      <p:sp>
        <p:nvSpPr>
          <p:cNvPr id="29" name="Shape 27"/>
          <p:cNvSpPr/>
          <p:nvPr/>
        </p:nvSpPr>
        <p:spPr>
          <a:xfrm>
            <a:off x="6263640" y="3218688"/>
            <a:ext cx="2615184" cy="786384"/>
          </a:xfrm>
          <a:prstGeom prst="rect">
            <a:avLst/>
          </a:prstGeom>
          <a:solidFill>
            <a:srgbClr val="F1F5F9"/>
          </a:solidFill>
          <a:ln w="12700">
            <a:solidFill>
              <a:srgbClr val="E2E8F0"/>
            </a:solidFill>
            <a:prstDash val="solid"/>
          </a:ln>
        </p:spPr>
      </p:sp>
      <p:sp>
        <p:nvSpPr>
          <p:cNvPr id="30" name="Text 28"/>
          <p:cNvSpPr/>
          <p:nvPr/>
        </p:nvSpPr>
        <p:spPr>
          <a:xfrm>
            <a:off x="6336792" y="3273552"/>
            <a:ext cx="2487168" cy="685800"/>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ask_hybrid.py + security review</a:t>
            </a:r>
            <a:endParaRPr lang="en-US" sz="900" dirty="0"/>
          </a:p>
          <a:p>
            <a:pPr indent="0" marL="0">
              <a:buNone/>
            </a:pPr>
            <a:r>
              <a:rPr lang="en-US" sz="900" dirty="0">
                <a:solidFill>
                  <a:srgbClr val="64748B"/>
                </a:solidFill>
                <a:latin typeface="Courier New" pitchFamily="34" charset="0"/>
                <a:ea typeface="Courier New" pitchFamily="34" charset="-122"/>
                <a:cs typeface="Courier New" pitchFamily="34" charset="-120"/>
              </a:rPr>
              <a:t>Allowlist fields, injection bounds</a:t>
            </a:r>
            <a:endParaRPr lang="en-US" sz="900" dirty="0"/>
          </a:p>
        </p:txBody>
      </p:sp>
      <p:sp>
        <p:nvSpPr>
          <p:cNvPr id="31" name="Shape 29"/>
          <p:cNvSpPr/>
          <p:nvPr/>
        </p:nvSpPr>
        <p:spPr>
          <a:xfrm>
            <a:off x="320040" y="4352544"/>
            <a:ext cx="8485632" cy="658368"/>
          </a:xfrm>
          <a:prstGeom prst="rect">
            <a:avLst/>
          </a:prstGeom>
          <a:solidFill>
            <a:srgbClr val="EFF6FF"/>
          </a:solidFill>
          <a:ln w="12700">
            <a:solidFill>
              <a:srgbClr val="BFDBFE"/>
            </a:solidFill>
            <a:prstDash val="solid"/>
          </a:ln>
        </p:spPr>
      </p:sp>
      <p:sp>
        <p:nvSpPr>
          <p:cNvPr id="32" name="Text 30"/>
          <p:cNvSpPr/>
          <p:nvPr/>
        </p:nvSpPr>
        <p:spPr>
          <a:xfrm>
            <a:off x="502920" y="4425696"/>
            <a:ext cx="2331720" cy="256032"/>
          </a:xfrm>
          <a:prstGeom prst="rect">
            <a:avLst/>
          </a:prstGeom>
          <a:noFill/>
          <a:ln/>
        </p:spPr>
        <p:txBody>
          <a:bodyPr wrap="square" lIns="0" tIns="0" rIns="0" bIns="0" rtlCol="0" anchor="ctr"/>
          <a:lstStyle/>
          <a:p>
            <a:pPr indent="0" marL="0">
              <a:buNone/>
            </a:pPr>
            <a:r>
              <a:rPr lang="en-US" sz="1100" b="1" dirty="0">
                <a:solidFill>
                  <a:srgbClr val="1D4ED8"/>
                </a:solidFill>
                <a:latin typeface="Calibri" pitchFamily="34" charset="0"/>
                <a:ea typeface="Calibri" pitchFamily="34" charset="-122"/>
                <a:cs typeface="Calibri" pitchFamily="34" charset="-120"/>
              </a:rPr>
              <a:t>Phase 1 Alpha Milestone:</a:t>
            </a:r>
            <a:endParaRPr lang="en-US" sz="1100" dirty="0"/>
          </a:p>
        </p:txBody>
      </p:sp>
      <p:sp>
        <p:nvSpPr>
          <p:cNvPr id="33" name="Text 31"/>
          <p:cNvSpPr/>
          <p:nvPr/>
        </p:nvSpPr>
        <p:spPr>
          <a:xfrm>
            <a:off x="2880360" y="4425696"/>
            <a:ext cx="5760720" cy="502920"/>
          </a:xfrm>
          <a:prstGeom prst="rect">
            <a:avLst/>
          </a:prstGeom>
          <a:noFill/>
          <a:ln/>
        </p:spPr>
        <p:txBody>
          <a:bodyPr wrap="square" lIns="0" tIns="0" rIns="0" bIns="0" rtlCol="0" anchor="ctr"/>
          <a:lstStyle/>
          <a:p>
            <a:pPr indent="0" marL="0">
              <a:buNone/>
            </a:pPr>
            <a:r>
              <a:rPr lang="en-US" sz="1100" dirty="0">
                <a:solidFill>
                  <a:srgbClr val="1E40AF"/>
                </a:solidFill>
                <a:latin typeface="Calibri" pitchFamily="34" charset="0"/>
                <a:ea typeface="Calibri" pitchFamily="34" charset="-122"/>
                <a:cs typeface="Calibri" pitchFamily="34" charset="-120"/>
              </a:rPr>
              <a:t>New engineer opens repo → runs documented command(s) → sees relevant org knowledge for a sample prompt → without pasting secrets.</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0"/>
            <a:ext cx="109728" cy="658368"/>
          </a:xfrm>
          <a:prstGeom prst="rect">
            <a:avLst/>
          </a:prstGeom>
          <a:solidFill>
            <a:srgbClr val="00D4AA"/>
          </a:solidFill>
          <a:ln w="12700">
            <a:solidFill>
              <a:srgbClr val="00D4AA"/>
            </a:solidFill>
            <a:prstDash val="solid"/>
          </a:ln>
        </p:spPr>
      </p:sp>
      <p:sp>
        <p:nvSpPr>
          <p:cNvPr id="4" name="Text 2"/>
          <p:cNvSpPr/>
          <p:nvPr/>
        </p:nvSpPr>
        <p:spPr>
          <a:xfrm>
            <a:off x="219456" y="0"/>
            <a:ext cx="685800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Phase 2 — Enterprise &amp; Cognito</a:t>
            </a:r>
            <a:endParaRPr lang="en-US" sz="2100" dirty="0"/>
          </a:p>
        </p:txBody>
      </p:sp>
      <p:sp>
        <p:nvSpPr>
          <p:cNvPr id="5" name="Text 3"/>
          <p:cNvSpPr/>
          <p:nvPr/>
        </p:nvSpPr>
        <p:spPr>
          <a:xfrm>
            <a:off x="219456" y="0"/>
            <a:ext cx="8778240" cy="658368"/>
          </a:xfrm>
          <a:prstGeom prst="rect">
            <a:avLst/>
          </a:prstGeom>
          <a:noFill/>
          <a:ln/>
        </p:spPr>
        <p:txBody>
          <a:bodyPr wrap="square" lIns="0" tIns="0" rIns="0" bIns="0" rtlCol="0" anchor="ctr"/>
          <a:lstStyle/>
          <a:p>
            <a:pPr algn="r" indent="0" marL="0">
              <a:buNone/>
            </a:pPr>
            <a:r>
              <a:rPr lang="en-US" sz="1000" dirty="0">
                <a:solidFill>
                  <a:srgbClr val="4B6A8A"/>
                </a:solidFill>
                <a:latin typeface="Calibri" pitchFamily="34" charset="0"/>
                <a:ea typeface="Calibri" pitchFamily="34" charset="-122"/>
                <a:cs typeface="Calibri" pitchFamily="34" charset="-120"/>
              </a:rPr>
              <a:t>Roadmap → Phase 2 · 5-8 weeks</a:t>
            </a:r>
            <a:endParaRPr lang="en-US" sz="1000" dirty="0"/>
          </a:p>
        </p:txBody>
      </p:sp>
      <p:sp>
        <p:nvSpPr>
          <p:cNvPr id="6" name="Text 4"/>
          <p:cNvSpPr/>
          <p:nvPr/>
        </p:nvSpPr>
        <p:spPr>
          <a:xfrm>
            <a:off x="365760" y="749808"/>
            <a:ext cx="8412480" cy="32004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Meet enterprise login, visibility, and automation expectations without surrendering the self-hosted story.</a:t>
            </a:r>
            <a:endParaRPr lang="en-US" sz="1300" dirty="0"/>
          </a:p>
        </p:txBody>
      </p:sp>
      <p:sp>
        <p:nvSpPr>
          <p:cNvPr id="7" name="Shape 5"/>
          <p:cNvSpPr/>
          <p:nvPr/>
        </p:nvSpPr>
        <p:spPr>
          <a:xfrm>
            <a:off x="320040" y="1188720"/>
            <a:ext cx="2779776" cy="303580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8" name="Shape 6"/>
          <p:cNvSpPr/>
          <p:nvPr/>
        </p:nvSpPr>
        <p:spPr>
          <a:xfrm>
            <a:off x="320040" y="1188720"/>
            <a:ext cx="64008" cy="3035808"/>
          </a:xfrm>
          <a:prstGeom prst="rect">
            <a:avLst/>
          </a:prstGeom>
          <a:solidFill>
            <a:srgbClr val="00D4AA"/>
          </a:solidFill>
          <a:ln w="12700">
            <a:solidFill>
              <a:srgbClr val="00D4AA"/>
            </a:solidFill>
            <a:prstDash val="solid"/>
          </a:ln>
        </p:spPr>
      </p:sp>
      <p:sp>
        <p:nvSpPr>
          <p:cNvPr id="9" name="Shape 7"/>
          <p:cNvSpPr/>
          <p:nvPr/>
        </p:nvSpPr>
        <p:spPr>
          <a:xfrm>
            <a:off x="411480" y="1316736"/>
            <a:ext cx="457200" cy="219456"/>
          </a:xfrm>
          <a:prstGeom prst="rect">
            <a:avLst/>
          </a:prstGeom>
          <a:solidFill>
            <a:srgbClr val="00D4AA"/>
          </a:solidFill>
          <a:ln w="12700">
            <a:solidFill>
              <a:srgbClr val="00D4AA"/>
            </a:solidFill>
            <a:prstDash val="solid"/>
          </a:ln>
        </p:spPr>
      </p:sp>
      <p:sp>
        <p:nvSpPr>
          <p:cNvPr id="10" name="Text 8"/>
          <p:cNvSpPr/>
          <p:nvPr/>
        </p:nvSpPr>
        <p:spPr>
          <a:xfrm>
            <a:off x="411480" y="1316736"/>
            <a:ext cx="457200"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P1</a:t>
            </a:r>
            <a:endParaRPr lang="en-US" sz="1000" dirty="0"/>
          </a:p>
        </p:txBody>
      </p:sp>
      <p:sp>
        <p:nvSpPr>
          <p:cNvPr id="11" name="Text 9"/>
          <p:cNvSpPr/>
          <p:nvPr/>
        </p:nvSpPr>
        <p:spPr>
          <a:xfrm>
            <a:off x="484632" y="1609344"/>
            <a:ext cx="2487168" cy="402336"/>
          </a:xfrm>
          <a:prstGeom prst="rect">
            <a:avLst/>
          </a:prstGeom>
          <a:noFill/>
          <a:ln/>
        </p:spPr>
        <p:txBody>
          <a:bodyPr wrap="square" lIns="0" tIns="0" rIns="0" bIns="0" rtlCol="0" anchor="ctr"/>
          <a:lstStyle/>
          <a:p>
            <a:pPr indent="0" marL="0">
              <a:buNone/>
            </a:pPr>
            <a:r>
              <a:rPr lang="en-US" sz="1300" b="1" dirty="0">
                <a:solidFill>
                  <a:srgbClr val="0D1117"/>
                </a:solidFill>
                <a:latin typeface="Calibri" pitchFamily="34" charset="0"/>
                <a:ea typeface="Calibri" pitchFamily="34" charset="-122"/>
                <a:cs typeface="Calibri" pitchFamily="34" charset="-120"/>
              </a:rPr>
              <a:t>OIDC / Cognito SSO</a:t>
            </a:r>
            <a:endParaRPr lang="en-US" sz="1300" dirty="0"/>
          </a:p>
        </p:txBody>
      </p:sp>
      <p:sp>
        <p:nvSpPr>
          <p:cNvPr id="12" name="Text 10"/>
          <p:cNvSpPr/>
          <p:nvPr/>
        </p:nvSpPr>
        <p:spPr>
          <a:xfrm>
            <a:off x="484632" y="2029968"/>
            <a:ext cx="2487168" cy="111556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SSO for operators. Align memory-plane auth. Happy path: Cognito or customer IdP → token usable by knowledge/memory HTTP clients. Three-phase: prepare → canary → enforce.</a:t>
            </a:r>
            <a:endParaRPr lang="en-US" sz="1000" dirty="0"/>
          </a:p>
        </p:txBody>
      </p:sp>
      <p:sp>
        <p:nvSpPr>
          <p:cNvPr id="13" name="Shape 11"/>
          <p:cNvSpPr/>
          <p:nvPr/>
        </p:nvSpPr>
        <p:spPr>
          <a:xfrm>
            <a:off x="411480" y="3218688"/>
            <a:ext cx="2615184" cy="786384"/>
          </a:xfrm>
          <a:prstGeom prst="rect">
            <a:avLst/>
          </a:prstGeom>
          <a:solidFill>
            <a:srgbClr val="F1F5F9"/>
          </a:solidFill>
          <a:ln w="12700">
            <a:solidFill>
              <a:srgbClr val="E2E8F0"/>
            </a:solidFill>
            <a:prstDash val="solid"/>
          </a:ln>
        </p:spPr>
      </p:sp>
      <p:sp>
        <p:nvSpPr>
          <p:cNvPr id="14" name="Text 12"/>
          <p:cNvSpPr/>
          <p:nvPr/>
        </p:nvSpPr>
        <p:spPr>
          <a:xfrm>
            <a:off x="484632" y="3273552"/>
            <a:ext cx="2487168" cy="685800"/>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auth_migration.py</a:t>
            </a:r>
            <a:endParaRPr lang="en-US" sz="900" dirty="0"/>
          </a:p>
          <a:p>
            <a:pPr indent="0" marL="0">
              <a:buNone/>
            </a:pPr>
            <a:r>
              <a:rPr lang="en-US" sz="900" dirty="0">
                <a:solidFill>
                  <a:srgbClr val="64748B"/>
                </a:solidFill>
                <a:latin typeface="Courier New" pitchFamily="34" charset="0"/>
                <a:ea typeface="Courier New" pitchFamily="34" charset="-122"/>
                <a:cs typeface="Courier New" pitchFamily="34" charset="-120"/>
              </a:rPr>
              <a:t>cognito-ingress-migration.md</a:t>
            </a:r>
            <a:endParaRPr lang="en-US" sz="900" dirty="0"/>
          </a:p>
        </p:txBody>
      </p:sp>
      <p:sp>
        <p:nvSpPr>
          <p:cNvPr id="15" name="Shape 13"/>
          <p:cNvSpPr/>
          <p:nvPr/>
        </p:nvSpPr>
        <p:spPr>
          <a:xfrm>
            <a:off x="3246120" y="1188720"/>
            <a:ext cx="2779776" cy="303580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16" name="Shape 14"/>
          <p:cNvSpPr/>
          <p:nvPr/>
        </p:nvSpPr>
        <p:spPr>
          <a:xfrm>
            <a:off x="3246120" y="1188720"/>
            <a:ext cx="64008" cy="3035808"/>
          </a:xfrm>
          <a:prstGeom prst="rect">
            <a:avLst/>
          </a:prstGeom>
          <a:solidFill>
            <a:srgbClr val="0891B2"/>
          </a:solidFill>
          <a:ln w="12700">
            <a:solidFill>
              <a:srgbClr val="0891B2"/>
            </a:solidFill>
            <a:prstDash val="solid"/>
          </a:ln>
        </p:spPr>
      </p:sp>
      <p:sp>
        <p:nvSpPr>
          <p:cNvPr id="17" name="Shape 15"/>
          <p:cNvSpPr/>
          <p:nvPr/>
        </p:nvSpPr>
        <p:spPr>
          <a:xfrm>
            <a:off x="3337560" y="1316736"/>
            <a:ext cx="457200" cy="219456"/>
          </a:xfrm>
          <a:prstGeom prst="rect">
            <a:avLst/>
          </a:prstGeom>
          <a:solidFill>
            <a:srgbClr val="0891B2"/>
          </a:solidFill>
          <a:ln w="12700">
            <a:solidFill>
              <a:srgbClr val="0891B2"/>
            </a:solidFill>
            <a:prstDash val="solid"/>
          </a:ln>
        </p:spPr>
      </p:sp>
      <p:sp>
        <p:nvSpPr>
          <p:cNvPr id="18" name="Text 16"/>
          <p:cNvSpPr/>
          <p:nvPr/>
        </p:nvSpPr>
        <p:spPr>
          <a:xfrm>
            <a:off x="3337560" y="1316736"/>
            <a:ext cx="457200"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P2</a:t>
            </a:r>
            <a:endParaRPr lang="en-US" sz="1000" dirty="0"/>
          </a:p>
        </p:txBody>
      </p:sp>
      <p:sp>
        <p:nvSpPr>
          <p:cNvPr id="19" name="Text 17"/>
          <p:cNvSpPr/>
          <p:nvPr/>
        </p:nvSpPr>
        <p:spPr>
          <a:xfrm>
            <a:off x="3410712" y="1609344"/>
            <a:ext cx="2487168" cy="402336"/>
          </a:xfrm>
          <a:prstGeom prst="rect">
            <a:avLst/>
          </a:prstGeom>
          <a:noFill/>
          <a:ln/>
        </p:spPr>
        <p:txBody>
          <a:bodyPr wrap="square" lIns="0" tIns="0" rIns="0" bIns="0" rtlCol="0" anchor="ctr"/>
          <a:lstStyle/>
          <a:p>
            <a:pPr indent="0" marL="0">
              <a:buNone/>
            </a:pPr>
            <a:r>
              <a:rPr lang="en-US" sz="1300" b="1" dirty="0">
                <a:solidFill>
                  <a:srgbClr val="0D1117"/>
                </a:solidFill>
                <a:latin typeface="Calibri" pitchFamily="34" charset="0"/>
                <a:ea typeface="Calibri" pitchFamily="34" charset="-122"/>
                <a:cs typeface="Calibri" pitchFamily="34" charset="-120"/>
              </a:rPr>
              <a:t>Admin Surfaces</a:t>
            </a:r>
            <a:endParaRPr lang="en-US" sz="1300" dirty="0"/>
          </a:p>
        </p:txBody>
      </p:sp>
      <p:sp>
        <p:nvSpPr>
          <p:cNvPr id="20" name="Text 18"/>
          <p:cNvSpPr/>
          <p:nvPr/>
        </p:nvSpPr>
        <p:spPr>
          <a:xfrm>
            <a:off x="3410712" y="2029968"/>
            <a:ext cx="2487168" cy="111556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Usage dashboards, tenant/repo inventory, secret rotation reminders. Read from canonical events + AWS where permitted. Minimal audit export: JSON/NDJSON of events for a date range. No raw secrets printed.</a:t>
            </a:r>
            <a:endParaRPr lang="en-US" sz="1000" dirty="0"/>
          </a:p>
        </p:txBody>
      </p:sp>
      <p:sp>
        <p:nvSpPr>
          <p:cNvPr id="21" name="Shape 19"/>
          <p:cNvSpPr/>
          <p:nvPr/>
        </p:nvSpPr>
        <p:spPr>
          <a:xfrm>
            <a:off x="3337560" y="3218688"/>
            <a:ext cx="2615184" cy="786384"/>
          </a:xfrm>
          <a:prstGeom prst="rect">
            <a:avLst/>
          </a:prstGeom>
          <a:solidFill>
            <a:srgbClr val="F1F5F9"/>
          </a:solidFill>
          <a:ln w="12700">
            <a:solidFill>
              <a:srgbClr val="E2E8F0"/>
            </a:solidFill>
            <a:prstDash val="solid"/>
          </a:ln>
        </p:spPr>
      </p:sp>
      <p:sp>
        <p:nvSpPr>
          <p:cNvPr id="22" name="Text 20"/>
          <p:cNvSpPr/>
          <p:nvPr/>
        </p:nvSpPr>
        <p:spPr>
          <a:xfrm>
            <a:off x="3410712" y="3273552"/>
            <a:ext cx="2487168" cy="685800"/>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canon report + admin API layer</a:t>
            </a:r>
            <a:endParaRPr lang="en-US" sz="900" dirty="0"/>
          </a:p>
          <a:p>
            <a:pPr indent="0" marL="0">
              <a:buNone/>
            </a:pPr>
            <a:r>
              <a:rPr lang="en-US" sz="900" dirty="0">
                <a:solidFill>
                  <a:srgbClr val="64748B"/>
                </a:solidFill>
                <a:latin typeface="Courier New" pitchFamily="34" charset="0"/>
                <a:ea typeface="Courier New" pitchFamily="34" charset="-122"/>
                <a:cs typeface="Courier New" pitchFamily="34" charset="-120"/>
              </a:rPr>
              <a:t>audit export (NDJSON, date-windowed)</a:t>
            </a:r>
            <a:endParaRPr lang="en-US" sz="900" dirty="0"/>
          </a:p>
        </p:txBody>
      </p:sp>
      <p:sp>
        <p:nvSpPr>
          <p:cNvPr id="23" name="Shape 21"/>
          <p:cNvSpPr/>
          <p:nvPr/>
        </p:nvSpPr>
        <p:spPr>
          <a:xfrm>
            <a:off x="6172200" y="1188720"/>
            <a:ext cx="2779776" cy="303580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24" name="Shape 22"/>
          <p:cNvSpPr/>
          <p:nvPr/>
        </p:nvSpPr>
        <p:spPr>
          <a:xfrm>
            <a:off x="6172200" y="1188720"/>
            <a:ext cx="64008" cy="3035808"/>
          </a:xfrm>
          <a:prstGeom prst="rect">
            <a:avLst/>
          </a:prstGeom>
          <a:solidFill>
            <a:srgbClr val="6366F1"/>
          </a:solidFill>
          <a:ln w="12700">
            <a:solidFill>
              <a:srgbClr val="6366F1"/>
            </a:solidFill>
            <a:prstDash val="solid"/>
          </a:ln>
        </p:spPr>
      </p:sp>
      <p:sp>
        <p:nvSpPr>
          <p:cNvPr id="25" name="Shape 23"/>
          <p:cNvSpPr/>
          <p:nvPr/>
        </p:nvSpPr>
        <p:spPr>
          <a:xfrm>
            <a:off x="6263640" y="1316736"/>
            <a:ext cx="457200" cy="219456"/>
          </a:xfrm>
          <a:prstGeom prst="rect">
            <a:avLst/>
          </a:prstGeom>
          <a:solidFill>
            <a:srgbClr val="6366F1"/>
          </a:solidFill>
          <a:ln w="12700">
            <a:solidFill>
              <a:srgbClr val="6366F1"/>
            </a:solidFill>
            <a:prstDash val="solid"/>
          </a:ln>
        </p:spPr>
      </p:sp>
      <p:sp>
        <p:nvSpPr>
          <p:cNvPr id="26" name="Text 24"/>
          <p:cNvSpPr/>
          <p:nvPr/>
        </p:nvSpPr>
        <p:spPr>
          <a:xfrm>
            <a:off x="6263640" y="1316736"/>
            <a:ext cx="457200"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P3</a:t>
            </a:r>
            <a:endParaRPr lang="en-US" sz="1000" dirty="0"/>
          </a:p>
        </p:txBody>
      </p:sp>
      <p:sp>
        <p:nvSpPr>
          <p:cNvPr id="27" name="Text 25"/>
          <p:cNvSpPr/>
          <p:nvPr/>
        </p:nvSpPr>
        <p:spPr>
          <a:xfrm>
            <a:off x="6336792" y="1609344"/>
            <a:ext cx="2487168" cy="402336"/>
          </a:xfrm>
          <a:prstGeom prst="rect">
            <a:avLst/>
          </a:prstGeom>
          <a:noFill/>
          <a:ln/>
        </p:spPr>
        <p:txBody>
          <a:bodyPr wrap="square" lIns="0" tIns="0" rIns="0" bIns="0" rtlCol="0" anchor="ctr"/>
          <a:lstStyle/>
          <a:p>
            <a:pPr indent="0" marL="0">
              <a:buNone/>
            </a:pPr>
            <a:r>
              <a:rPr lang="en-US" sz="1300" b="1" dirty="0">
                <a:solidFill>
                  <a:srgbClr val="0D1117"/>
                </a:solidFill>
                <a:latin typeface="Calibri" pitchFamily="34" charset="0"/>
                <a:ea typeface="Calibri" pitchFamily="34" charset="-122"/>
                <a:cs typeface="Calibri" pitchFamily="34" charset="-120"/>
              </a:rPr>
              <a:t>Event-Driven Hooks</a:t>
            </a:r>
            <a:endParaRPr lang="en-US" sz="1300" dirty="0"/>
          </a:p>
        </p:txBody>
      </p:sp>
      <p:sp>
        <p:nvSpPr>
          <p:cNvPr id="28" name="Text 26"/>
          <p:cNvSpPr/>
          <p:nvPr/>
        </p:nvSpPr>
        <p:spPr>
          <a:xfrm>
            <a:off x="6336792" y="2029968"/>
            <a:ext cx="2487168" cy="111556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Linear/Slack/CI → documented canon entrypoints. Recipes first, hosted router later. Real-time Slack notifications beyond what release-orchestrator already covers via CANON_SLACK_BLOCKER_CHANNEL_ID.</a:t>
            </a:r>
            <a:endParaRPr lang="en-US" sz="1000" dirty="0"/>
          </a:p>
        </p:txBody>
      </p:sp>
      <p:sp>
        <p:nvSpPr>
          <p:cNvPr id="29" name="Shape 27"/>
          <p:cNvSpPr/>
          <p:nvPr/>
        </p:nvSpPr>
        <p:spPr>
          <a:xfrm>
            <a:off x="6263640" y="3218688"/>
            <a:ext cx="2615184" cy="786384"/>
          </a:xfrm>
          <a:prstGeom prst="rect">
            <a:avLst/>
          </a:prstGeom>
          <a:solidFill>
            <a:srgbClr val="F1F5F9"/>
          </a:solidFill>
          <a:ln w="12700">
            <a:solidFill>
              <a:srgbClr val="E2E8F0"/>
            </a:solidFill>
            <a:prstDash val="solid"/>
          </a:ln>
        </p:spPr>
      </p:sp>
      <p:sp>
        <p:nvSpPr>
          <p:cNvPr id="30" name="Text 28"/>
          <p:cNvSpPr/>
          <p:nvPr/>
        </p:nvSpPr>
        <p:spPr>
          <a:xfrm>
            <a:off x="6336792" y="3273552"/>
            <a:ext cx="2487168" cy="685800"/>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Linear ticket → canon trigger recipes</a:t>
            </a:r>
            <a:endParaRPr lang="en-US" sz="900" dirty="0"/>
          </a:p>
          <a:p>
            <a:pPr indent="0" marL="0">
              <a:buNone/>
            </a:pPr>
            <a:r>
              <a:rPr lang="en-US" sz="900" dirty="0">
                <a:solidFill>
                  <a:srgbClr val="64748B"/>
                </a:solidFill>
                <a:latin typeface="Courier New" pitchFamily="34" charset="0"/>
                <a:ea typeface="Courier New" pitchFamily="34" charset="-122"/>
                <a:cs typeface="Courier New" pitchFamily="34" charset="-120"/>
              </a:rPr>
              <a:t>CI failure → scoper auto-handoff</a:t>
            </a:r>
            <a:endParaRPr lang="en-US" sz="900" dirty="0"/>
          </a:p>
        </p:txBody>
      </p:sp>
      <p:sp>
        <p:nvSpPr>
          <p:cNvPr id="31" name="Shape 29"/>
          <p:cNvSpPr/>
          <p:nvPr/>
        </p:nvSpPr>
        <p:spPr>
          <a:xfrm>
            <a:off x="320040" y="4352544"/>
            <a:ext cx="8485632" cy="658368"/>
          </a:xfrm>
          <a:prstGeom prst="rect">
            <a:avLst/>
          </a:prstGeom>
          <a:solidFill>
            <a:srgbClr val="ECFDF5"/>
          </a:solidFill>
          <a:ln w="12700">
            <a:solidFill>
              <a:srgbClr val="A7F3D0"/>
            </a:solidFill>
            <a:prstDash val="solid"/>
          </a:ln>
        </p:spPr>
      </p:sp>
      <p:sp>
        <p:nvSpPr>
          <p:cNvPr id="32" name="Text 30"/>
          <p:cNvSpPr/>
          <p:nvPr/>
        </p:nvSpPr>
        <p:spPr>
          <a:xfrm>
            <a:off x="502920" y="4425696"/>
            <a:ext cx="2834640" cy="256032"/>
          </a:xfrm>
          <a:prstGeom prst="rect">
            <a:avLst/>
          </a:prstGeom>
          <a:noFill/>
          <a:ln/>
        </p:spPr>
        <p:txBody>
          <a:bodyPr wrap="square" lIns="0" tIns="0" rIns="0" bIns="0" rtlCol="0" anchor="ctr"/>
          <a:lstStyle/>
          <a:p>
            <a:pPr indent="0" marL="0">
              <a:buNone/>
            </a:pPr>
            <a:r>
              <a:rPr lang="en-US" sz="1100" b="1" dirty="0">
                <a:solidFill>
                  <a:srgbClr val="065F46"/>
                </a:solidFill>
                <a:latin typeface="Calibri" pitchFamily="34" charset="0"/>
                <a:ea typeface="Calibri" pitchFamily="34" charset="-122"/>
                <a:cs typeface="Calibri" pitchFamily="34" charset="-120"/>
              </a:rPr>
              <a:t>Enterprise-Ready Pilot Milestone:</a:t>
            </a:r>
            <a:endParaRPr lang="en-US" sz="1100" dirty="0"/>
          </a:p>
        </p:txBody>
      </p:sp>
      <p:sp>
        <p:nvSpPr>
          <p:cNvPr id="33" name="Text 31"/>
          <p:cNvSpPr/>
          <p:nvPr/>
        </p:nvSpPr>
        <p:spPr>
          <a:xfrm>
            <a:off x="3401568" y="4425696"/>
            <a:ext cx="5257800" cy="502920"/>
          </a:xfrm>
          <a:prstGeom prst="rect">
            <a:avLst/>
          </a:prstGeom>
          <a:noFill/>
          <a:ln/>
        </p:spPr>
        <p:txBody>
          <a:bodyPr wrap="square" lIns="0" tIns="0" rIns="0" bIns="0" rtlCol="0" anchor="ctr"/>
          <a:lstStyle/>
          <a:p>
            <a:pPr indent="0" marL="0">
              <a:buNone/>
            </a:pPr>
            <a:r>
              <a:rPr lang="en-US" sz="1100" dirty="0">
                <a:solidFill>
                  <a:srgbClr val="047857"/>
                </a:solidFill>
                <a:latin typeface="Calibri" pitchFamily="34" charset="0"/>
                <a:ea typeface="Calibri" pitchFamily="34" charset="-122"/>
                <a:cs typeface="Calibri" pitchFamily="34" charset="-120"/>
              </a:rPr>
              <a:t>One customer-style tenant uses SSO end-to-end for memory-plane traffic on staging. Operators can export an audit slice for a single week.</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0"/>
            <a:ext cx="109728" cy="658368"/>
          </a:xfrm>
          <a:prstGeom prst="rect">
            <a:avLst/>
          </a:prstGeom>
          <a:solidFill>
            <a:srgbClr val="00D4AA"/>
          </a:solidFill>
          <a:ln w="12700">
            <a:solidFill>
              <a:srgbClr val="00D4AA"/>
            </a:solidFill>
            <a:prstDash val="solid"/>
          </a:ln>
        </p:spPr>
      </p:sp>
      <p:sp>
        <p:nvSpPr>
          <p:cNvPr id="4" name="Text 2"/>
          <p:cNvSpPr/>
          <p:nvPr/>
        </p:nvSpPr>
        <p:spPr>
          <a:xfrm>
            <a:off x="219456" y="0"/>
            <a:ext cx="685800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Phase 3 — Runtime Abstraction &amp; Cursor SDK Evidence</a:t>
            </a:r>
            <a:endParaRPr lang="en-US" sz="2100" dirty="0"/>
          </a:p>
        </p:txBody>
      </p:sp>
      <p:sp>
        <p:nvSpPr>
          <p:cNvPr id="5" name="Text 3"/>
          <p:cNvSpPr/>
          <p:nvPr/>
        </p:nvSpPr>
        <p:spPr>
          <a:xfrm>
            <a:off x="219456" y="0"/>
            <a:ext cx="8778240" cy="658368"/>
          </a:xfrm>
          <a:prstGeom prst="rect">
            <a:avLst/>
          </a:prstGeom>
          <a:noFill/>
          <a:ln/>
        </p:spPr>
        <p:txBody>
          <a:bodyPr wrap="square" lIns="0" tIns="0" rIns="0" bIns="0" rtlCol="0" anchor="ctr"/>
          <a:lstStyle/>
          <a:p>
            <a:pPr algn="r" indent="0" marL="0">
              <a:buNone/>
            </a:pPr>
            <a:r>
              <a:rPr lang="en-US" sz="1000" dirty="0">
                <a:solidFill>
                  <a:srgbClr val="4B6A8A"/>
                </a:solidFill>
                <a:latin typeface="Calibri" pitchFamily="34" charset="0"/>
                <a:ea typeface="Calibri" pitchFamily="34" charset="-122"/>
                <a:cs typeface="Calibri" pitchFamily="34" charset="-120"/>
              </a:rPr>
              <a:t>Roadmap → Phase 3 · 6-9 weeks</a:t>
            </a:r>
            <a:endParaRPr lang="en-US" sz="1000" dirty="0"/>
          </a:p>
        </p:txBody>
      </p:sp>
      <p:sp>
        <p:nvSpPr>
          <p:cNvPr id="6" name="Text 4"/>
          <p:cNvSpPr/>
          <p:nvPr/>
        </p:nvSpPr>
        <p:spPr>
          <a:xfrm>
            <a:off x="365760" y="749808"/>
            <a:ext cx="8412480" cy="32004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Make Canon govern work even when execution happens outside Canon's native agent chain. Cursor SDK is the first proven adapter.</a:t>
            </a:r>
            <a:endParaRPr lang="en-US" sz="1300" dirty="0"/>
          </a:p>
        </p:txBody>
      </p:sp>
      <p:sp>
        <p:nvSpPr>
          <p:cNvPr id="7" name="Shape 5"/>
          <p:cNvSpPr/>
          <p:nvPr/>
        </p:nvSpPr>
        <p:spPr>
          <a:xfrm>
            <a:off x="320040" y="1170432"/>
            <a:ext cx="5193792" cy="100584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8" name="Shape 6"/>
          <p:cNvSpPr/>
          <p:nvPr/>
        </p:nvSpPr>
        <p:spPr>
          <a:xfrm>
            <a:off x="320040" y="1170432"/>
            <a:ext cx="64008" cy="1005840"/>
          </a:xfrm>
          <a:prstGeom prst="rect">
            <a:avLst/>
          </a:prstGeom>
          <a:solidFill>
            <a:srgbClr val="6366F1"/>
          </a:solidFill>
          <a:ln w="12700">
            <a:solidFill>
              <a:srgbClr val="6366F1"/>
            </a:solidFill>
            <a:prstDash val="solid"/>
          </a:ln>
        </p:spPr>
      </p:sp>
      <p:sp>
        <p:nvSpPr>
          <p:cNvPr id="9" name="Shape 7"/>
          <p:cNvSpPr/>
          <p:nvPr/>
        </p:nvSpPr>
        <p:spPr>
          <a:xfrm>
            <a:off x="320040" y="1170432"/>
            <a:ext cx="475488" cy="237744"/>
          </a:xfrm>
          <a:prstGeom prst="rect">
            <a:avLst/>
          </a:prstGeom>
          <a:solidFill>
            <a:srgbClr val="6366F1"/>
          </a:solidFill>
          <a:ln w="12700">
            <a:solidFill>
              <a:srgbClr val="6366F1"/>
            </a:solidFill>
            <a:prstDash val="solid"/>
          </a:ln>
        </p:spPr>
      </p:sp>
      <p:sp>
        <p:nvSpPr>
          <p:cNvPr id="10" name="Text 8"/>
          <p:cNvSpPr/>
          <p:nvPr/>
        </p:nvSpPr>
        <p:spPr>
          <a:xfrm>
            <a:off x="320040" y="1170432"/>
            <a:ext cx="475488"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P1</a:t>
            </a:r>
            <a:endParaRPr lang="en-US" sz="1000" dirty="0"/>
          </a:p>
        </p:txBody>
      </p:sp>
      <p:sp>
        <p:nvSpPr>
          <p:cNvPr id="11" name="Text 9"/>
          <p:cNvSpPr/>
          <p:nvPr/>
        </p:nvSpPr>
        <p:spPr>
          <a:xfrm>
            <a:off x="502920" y="1444752"/>
            <a:ext cx="4846320" cy="292608"/>
          </a:xfrm>
          <a:prstGeom prst="rect">
            <a:avLst/>
          </a:prstGeom>
          <a:noFill/>
          <a:ln/>
        </p:spPr>
        <p:txBody>
          <a:bodyPr wrap="square" lIns="0" tIns="0" rIns="0" bIns="0" rtlCol="0" anchor="ctr"/>
          <a:lstStyle/>
          <a:p>
            <a:pPr indent="0" marL="0">
              <a:buNone/>
            </a:pPr>
            <a:r>
              <a:rPr lang="en-US" sz="1300" b="1" dirty="0">
                <a:solidFill>
                  <a:srgbClr val="0D1117"/>
                </a:solidFill>
                <a:latin typeface="Calibri" pitchFamily="34" charset="0"/>
                <a:ea typeface="Calibri" pitchFamily="34" charset="-122"/>
                <a:cs typeface="Calibri" pitchFamily="34" charset="-120"/>
              </a:rPr>
              <a:t>Cursor SDK adapter contract</a:t>
            </a:r>
            <a:endParaRPr lang="en-US" sz="1300" dirty="0"/>
          </a:p>
        </p:txBody>
      </p:sp>
      <p:sp>
        <p:nvSpPr>
          <p:cNvPr id="12" name="Text 10"/>
          <p:cNvSpPr/>
          <p:nvPr/>
        </p:nvSpPr>
        <p:spPr>
          <a:xfrm>
            <a:off x="502920" y="1737360"/>
            <a:ext cx="4846320" cy="38404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Formalize the validated AWS ECS -&gt; Cursor SDK cloud path as the first remote_worker adapter. Define what the adapter must emit to satisfy Canon governance. Cursor SDK is the reference; later adapters emit the same evidence envelope.</a:t>
            </a:r>
            <a:endParaRPr lang="en-US" sz="1000" dirty="0"/>
          </a:p>
        </p:txBody>
      </p:sp>
      <p:sp>
        <p:nvSpPr>
          <p:cNvPr id="13" name="Shape 11"/>
          <p:cNvSpPr/>
          <p:nvPr/>
        </p:nvSpPr>
        <p:spPr>
          <a:xfrm>
            <a:off x="320040" y="2249424"/>
            <a:ext cx="5193792" cy="100584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14" name="Shape 12"/>
          <p:cNvSpPr/>
          <p:nvPr/>
        </p:nvSpPr>
        <p:spPr>
          <a:xfrm>
            <a:off x="320040" y="2249424"/>
            <a:ext cx="64008" cy="1005840"/>
          </a:xfrm>
          <a:prstGeom prst="rect">
            <a:avLst/>
          </a:prstGeom>
          <a:solidFill>
            <a:srgbClr val="8B5CF6"/>
          </a:solidFill>
          <a:ln w="12700">
            <a:solidFill>
              <a:srgbClr val="8B5CF6"/>
            </a:solidFill>
            <a:prstDash val="solid"/>
          </a:ln>
        </p:spPr>
      </p:sp>
      <p:sp>
        <p:nvSpPr>
          <p:cNvPr id="15" name="Shape 13"/>
          <p:cNvSpPr/>
          <p:nvPr/>
        </p:nvSpPr>
        <p:spPr>
          <a:xfrm>
            <a:off x="320040" y="2249424"/>
            <a:ext cx="475488" cy="237744"/>
          </a:xfrm>
          <a:prstGeom prst="rect">
            <a:avLst/>
          </a:prstGeom>
          <a:solidFill>
            <a:srgbClr val="8B5CF6"/>
          </a:solidFill>
          <a:ln w="12700">
            <a:solidFill>
              <a:srgbClr val="8B5CF6"/>
            </a:solidFill>
            <a:prstDash val="solid"/>
          </a:ln>
        </p:spPr>
      </p:sp>
      <p:sp>
        <p:nvSpPr>
          <p:cNvPr id="16" name="Text 14"/>
          <p:cNvSpPr/>
          <p:nvPr/>
        </p:nvSpPr>
        <p:spPr>
          <a:xfrm>
            <a:off x="320040" y="2249424"/>
            <a:ext cx="475488"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P2</a:t>
            </a:r>
            <a:endParaRPr lang="en-US" sz="1000" dirty="0"/>
          </a:p>
        </p:txBody>
      </p:sp>
      <p:sp>
        <p:nvSpPr>
          <p:cNvPr id="17" name="Text 15"/>
          <p:cNvSpPr/>
          <p:nvPr/>
        </p:nvSpPr>
        <p:spPr>
          <a:xfrm>
            <a:off x="502920" y="2523744"/>
            <a:ext cx="4846320" cy="292608"/>
          </a:xfrm>
          <a:prstGeom prst="rect">
            <a:avLst/>
          </a:prstGeom>
          <a:noFill/>
          <a:ln/>
        </p:spPr>
        <p:txBody>
          <a:bodyPr wrap="square" lIns="0" tIns="0" rIns="0" bIns="0" rtlCol="0" anchor="ctr"/>
          <a:lstStyle/>
          <a:p>
            <a:pPr indent="0" marL="0">
              <a:buNone/>
            </a:pPr>
            <a:r>
              <a:rPr lang="en-US" sz="1300" b="1" dirty="0">
                <a:solidFill>
                  <a:srgbClr val="0D1117"/>
                </a:solidFill>
                <a:latin typeface="Calibri" pitchFamily="34" charset="0"/>
                <a:ea typeface="Calibri" pitchFamily="34" charset="-122"/>
                <a:cs typeface="Calibri" pitchFamily="34" charset="-120"/>
              </a:rPr>
              <a:t>Canon evidence envelope for external runs</a:t>
            </a:r>
            <a:endParaRPr lang="en-US" sz="1300" dirty="0"/>
          </a:p>
        </p:txBody>
      </p:sp>
      <p:sp>
        <p:nvSpPr>
          <p:cNvPr id="18" name="Text 16"/>
          <p:cNvSpPr/>
          <p:nvPr/>
        </p:nvSpPr>
        <p:spPr>
          <a:xfrm>
            <a:off x="502920" y="2816352"/>
            <a:ext cx="4846320" cy="38404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Convert Cursor SDK events, CloudWatch logs, branch/commit/PR metadata, and runtime results into canonical evidence. agentId, runId, ECS task ARN, prompt hash, model, duration, and event summary all persisted.</a:t>
            </a:r>
            <a:endParaRPr lang="en-US" sz="1000" dirty="0"/>
          </a:p>
        </p:txBody>
      </p:sp>
      <p:sp>
        <p:nvSpPr>
          <p:cNvPr id="19" name="Shape 17"/>
          <p:cNvSpPr/>
          <p:nvPr/>
        </p:nvSpPr>
        <p:spPr>
          <a:xfrm>
            <a:off x="320040" y="3328416"/>
            <a:ext cx="5193792" cy="100584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20" name="Shape 18"/>
          <p:cNvSpPr/>
          <p:nvPr/>
        </p:nvSpPr>
        <p:spPr>
          <a:xfrm>
            <a:off x="320040" y="3328416"/>
            <a:ext cx="64008" cy="1005840"/>
          </a:xfrm>
          <a:prstGeom prst="rect">
            <a:avLst/>
          </a:prstGeom>
          <a:solidFill>
            <a:srgbClr val="7C3AED"/>
          </a:solidFill>
          <a:ln w="12700">
            <a:solidFill>
              <a:srgbClr val="7C3AED"/>
            </a:solidFill>
            <a:prstDash val="solid"/>
          </a:ln>
        </p:spPr>
      </p:sp>
      <p:sp>
        <p:nvSpPr>
          <p:cNvPr id="21" name="Shape 19"/>
          <p:cNvSpPr/>
          <p:nvPr/>
        </p:nvSpPr>
        <p:spPr>
          <a:xfrm>
            <a:off x="320040" y="3328416"/>
            <a:ext cx="475488" cy="237744"/>
          </a:xfrm>
          <a:prstGeom prst="rect">
            <a:avLst/>
          </a:prstGeom>
          <a:solidFill>
            <a:srgbClr val="7C3AED"/>
          </a:solidFill>
          <a:ln w="12700">
            <a:solidFill>
              <a:srgbClr val="7C3AED"/>
            </a:solidFill>
            <a:prstDash val="solid"/>
          </a:ln>
        </p:spPr>
      </p:sp>
      <p:sp>
        <p:nvSpPr>
          <p:cNvPr id="22" name="Text 20"/>
          <p:cNvSpPr/>
          <p:nvPr/>
        </p:nvSpPr>
        <p:spPr>
          <a:xfrm>
            <a:off x="320040" y="3328416"/>
            <a:ext cx="475488"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P3</a:t>
            </a:r>
            <a:endParaRPr lang="en-US" sz="1000" dirty="0"/>
          </a:p>
        </p:txBody>
      </p:sp>
      <p:sp>
        <p:nvSpPr>
          <p:cNvPr id="23" name="Text 21"/>
          <p:cNvSpPr/>
          <p:nvPr/>
        </p:nvSpPr>
        <p:spPr>
          <a:xfrm>
            <a:off x="502920" y="3602736"/>
            <a:ext cx="4846320" cy="292608"/>
          </a:xfrm>
          <a:prstGeom prst="rect">
            <a:avLst/>
          </a:prstGeom>
          <a:noFill/>
          <a:ln/>
        </p:spPr>
        <p:txBody>
          <a:bodyPr wrap="square" lIns="0" tIns="0" rIns="0" bIns="0" rtlCol="0" anchor="ctr"/>
          <a:lstStyle/>
          <a:p>
            <a:pPr indent="0" marL="0">
              <a:buNone/>
            </a:pPr>
            <a:r>
              <a:rPr lang="en-US" sz="1300" b="1" dirty="0">
                <a:solidFill>
                  <a:srgbClr val="0D1117"/>
                </a:solidFill>
                <a:latin typeface="Calibri" pitchFamily="34" charset="0"/>
                <a:ea typeface="Calibri" pitchFamily="34" charset="-122"/>
                <a:cs typeface="Calibri" pitchFamily="34" charset="-120"/>
              </a:rPr>
              <a:t>Governance-only mode</a:t>
            </a:r>
            <a:endParaRPr lang="en-US" sz="1300" dirty="0"/>
          </a:p>
        </p:txBody>
      </p:sp>
      <p:sp>
        <p:nvSpPr>
          <p:cNvPr id="24" name="Text 22"/>
          <p:cNvSpPr/>
          <p:nvPr/>
        </p:nvSpPr>
        <p:spPr>
          <a:xfrm>
            <a:off x="502920" y="3895344"/>
            <a:ext cx="4846320" cy="38404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Canon can run without owning end-to-end prompt orchestration. Teams keep their agent runtime; Canon owns boundaries: handoff, checkpoint/state, evidence capture, PR/merge/release gates. Work that skips boundaries is marked non-compliant.</a:t>
            </a:r>
            <a:endParaRPr lang="en-US" sz="1000" dirty="0"/>
          </a:p>
        </p:txBody>
      </p:sp>
      <p:sp>
        <p:nvSpPr>
          <p:cNvPr id="25" name="Shape 23"/>
          <p:cNvSpPr/>
          <p:nvPr/>
        </p:nvSpPr>
        <p:spPr>
          <a:xfrm>
            <a:off x="5669280" y="1188720"/>
            <a:ext cx="3145536" cy="248716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26" name="Shape 24"/>
          <p:cNvSpPr/>
          <p:nvPr/>
        </p:nvSpPr>
        <p:spPr>
          <a:xfrm>
            <a:off x="5669280" y="1188720"/>
            <a:ext cx="64008" cy="2487168"/>
          </a:xfrm>
          <a:prstGeom prst="rect">
            <a:avLst/>
          </a:prstGeom>
          <a:solidFill>
            <a:srgbClr val="0891B2"/>
          </a:solidFill>
          <a:ln w="12700">
            <a:solidFill>
              <a:srgbClr val="0891B2"/>
            </a:solidFill>
            <a:prstDash val="solid"/>
          </a:ln>
        </p:spPr>
      </p:sp>
      <p:sp>
        <p:nvSpPr>
          <p:cNvPr id="27" name="Text 25"/>
          <p:cNvSpPr/>
          <p:nvPr/>
        </p:nvSpPr>
        <p:spPr>
          <a:xfrm>
            <a:off x="5852160" y="1335024"/>
            <a:ext cx="2834640" cy="320040"/>
          </a:xfrm>
          <a:prstGeom prst="rect">
            <a:avLst/>
          </a:prstGeom>
          <a:noFill/>
          <a:ln/>
        </p:spPr>
        <p:txBody>
          <a:bodyPr wrap="square" lIns="0" tIns="0" rIns="0" bIns="0" rtlCol="0" anchor="ctr"/>
          <a:lstStyle/>
          <a:p>
            <a:pPr indent="0" marL="0">
              <a:buNone/>
            </a:pPr>
            <a:r>
              <a:rPr lang="en-US" sz="1300" b="1" dirty="0">
                <a:solidFill>
                  <a:srgbClr val="0D1117"/>
                </a:solidFill>
                <a:latin typeface="Calibri" pitchFamily="34" charset="0"/>
                <a:ea typeface="Calibri" pitchFamily="34" charset="-122"/>
                <a:cs typeface="Calibri" pitchFamily="34" charset="-120"/>
              </a:rPr>
              <a:t>Boundary Contract</a:t>
            </a:r>
            <a:endParaRPr lang="en-US" sz="1300" dirty="0"/>
          </a:p>
        </p:txBody>
      </p:sp>
      <p:sp>
        <p:nvSpPr>
          <p:cNvPr id="28" name="Text 26"/>
          <p:cNvSpPr/>
          <p:nvPr/>
        </p:nvSpPr>
        <p:spPr>
          <a:xfrm>
            <a:off x="5852160" y="1737360"/>
            <a:ext cx="2834640" cy="43891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-&gt; Required handoff artifact(s)</a:t>
            </a:r>
            <a:endParaRPr lang="en-US" sz="1000" dirty="0"/>
          </a:p>
        </p:txBody>
      </p:sp>
      <p:sp>
        <p:nvSpPr>
          <p:cNvPr id="29" name="Text 27"/>
          <p:cNvSpPr/>
          <p:nvPr/>
        </p:nvSpPr>
        <p:spPr>
          <a:xfrm>
            <a:off x="5852160" y="2212848"/>
            <a:ext cx="2834640" cy="43891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-&gt; Required checkpoint state</a:t>
            </a:r>
            <a:endParaRPr lang="en-US" sz="1000" dirty="0"/>
          </a:p>
        </p:txBody>
      </p:sp>
      <p:sp>
        <p:nvSpPr>
          <p:cNvPr id="30" name="Text 28"/>
          <p:cNvSpPr/>
          <p:nvPr/>
        </p:nvSpPr>
        <p:spPr>
          <a:xfrm>
            <a:off x="5852160" y="2688336"/>
            <a:ext cx="2834640" cy="43891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-&gt; Required evidence citation(s)</a:t>
            </a:r>
            <a:endParaRPr lang="en-US" sz="1000" dirty="0"/>
          </a:p>
        </p:txBody>
      </p:sp>
      <p:sp>
        <p:nvSpPr>
          <p:cNvPr id="31" name="Text 29"/>
          <p:cNvSpPr/>
          <p:nvPr/>
        </p:nvSpPr>
        <p:spPr>
          <a:xfrm>
            <a:off x="5852160" y="3163824"/>
            <a:ext cx="2834640" cy="43891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-&gt; Required QA result(s)</a:t>
            </a:r>
            <a:endParaRPr lang="en-US" sz="1000" dirty="0"/>
          </a:p>
        </p:txBody>
      </p:sp>
      <p:sp>
        <p:nvSpPr>
          <p:cNvPr id="32" name="Text 30"/>
          <p:cNvSpPr/>
          <p:nvPr/>
        </p:nvSpPr>
        <p:spPr>
          <a:xfrm>
            <a:off x="5852160" y="3639312"/>
            <a:ext cx="2834640" cy="43891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-&gt; Required PR/merge/release gate result</a:t>
            </a:r>
            <a:endParaRPr lang="en-US" sz="1000" dirty="0"/>
          </a:p>
        </p:txBody>
      </p:sp>
      <p:sp>
        <p:nvSpPr>
          <p:cNvPr id="33" name="Shape 31"/>
          <p:cNvSpPr/>
          <p:nvPr/>
        </p:nvSpPr>
        <p:spPr>
          <a:xfrm>
            <a:off x="320040" y="4352544"/>
            <a:ext cx="8485632" cy="658368"/>
          </a:xfrm>
          <a:prstGeom prst="rect">
            <a:avLst/>
          </a:prstGeom>
          <a:solidFill>
            <a:srgbClr val="EDE9FE"/>
          </a:solidFill>
          <a:ln w="12700">
            <a:solidFill>
              <a:srgbClr val="C4B5FD"/>
            </a:solidFill>
            <a:prstDash val="solid"/>
          </a:ln>
        </p:spPr>
      </p:sp>
      <p:sp>
        <p:nvSpPr>
          <p:cNvPr id="34" name="Text 32"/>
          <p:cNvSpPr/>
          <p:nvPr/>
        </p:nvSpPr>
        <p:spPr>
          <a:xfrm>
            <a:off x="502920" y="4425696"/>
            <a:ext cx="2560320" cy="256032"/>
          </a:xfrm>
          <a:prstGeom prst="rect">
            <a:avLst/>
          </a:prstGeom>
          <a:noFill/>
          <a:ln/>
        </p:spPr>
        <p:txBody>
          <a:bodyPr wrap="square" lIns="0" tIns="0" rIns="0" bIns="0" rtlCol="0" anchor="ctr"/>
          <a:lstStyle/>
          <a:p>
            <a:pPr indent="0" marL="0">
              <a:buNone/>
            </a:pPr>
            <a:r>
              <a:rPr lang="en-US" sz="1100" b="1" dirty="0">
                <a:solidFill>
                  <a:srgbClr val="5B21B6"/>
                </a:solidFill>
                <a:latin typeface="Calibri" pitchFamily="34" charset="0"/>
                <a:ea typeface="Calibri" pitchFamily="34" charset="-122"/>
                <a:cs typeface="Calibri" pitchFamily="34" charset="-120"/>
              </a:rPr>
              <a:t>Governance Extraction Demo:</a:t>
            </a:r>
            <a:endParaRPr lang="en-US" sz="1100" dirty="0"/>
          </a:p>
        </p:txBody>
      </p:sp>
      <p:sp>
        <p:nvSpPr>
          <p:cNvPr id="35" name="Text 33"/>
          <p:cNvSpPr/>
          <p:nvPr/>
        </p:nvSpPr>
        <p:spPr>
          <a:xfrm>
            <a:off x="3127248" y="4425696"/>
            <a:ext cx="5486400" cy="502920"/>
          </a:xfrm>
          <a:prstGeom prst="rect">
            <a:avLst/>
          </a:prstGeom>
          <a:noFill/>
          <a:ln/>
        </p:spPr>
        <p:txBody>
          <a:bodyPr wrap="square" lIns="0" tIns="0" rIns="0" bIns="0" rtlCol="0" anchor="ctr"/>
          <a:lstStyle/>
          <a:p>
            <a:pPr indent="0" marL="0">
              <a:buNone/>
            </a:pPr>
            <a:r>
              <a:rPr lang="en-US" sz="1100" dirty="0">
                <a:solidFill>
                  <a:srgbClr val="6D28D9"/>
                </a:solidFill>
                <a:latin typeface="Calibri" pitchFamily="34" charset="0"/>
                <a:ea typeface="Calibri" pitchFamily="34" charset="-122"/>
                <a:cs typeface="Calibri" pitchFamily="34" charset="-120"/>
              </a:rPr>
              <a:t>A repo uses Cursor SDK execution but Canon still enforces required handoffs, checkpoint/evidence capture, and merge/release gates.</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0"/>
            <a:ext cx="109728" cy="658368"/>
          </a:xfrm>
          <a:prstGeom prst="rect">
            <a:avLst/>
          </a:prstGeom>
          <a:solidFill>
            <a:srgbClr val="00D4AA"/>
          </a:solidFill>
          <a:ln w="12700">
            <a:solidFill>
              <a:srgbClr val="00D4AA"/>
            </a:solidFill>
            <a:prstDash val="solid"/>
          </a:ln>
        </p:spPr>
      </p:sp>
      <p:sp>
        <p:nvSpPr>
          <p:cNvPr id="4" name="Text 2"/>
          <p:cNvSpPr/>
          <p:nvPr/>
        </p:nvSpPr>
        <p:spPr>
          <a:xfrm>
            <a:off x="219456" y="0"/>
            <a:ext cx="685800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Phase 4 — Governed Autonomy &amp; Remote Workers</a:t>
            </a:r>
            <a:endParaRPr lang="en-US" sz="2100" dirty="0"/>
          </a:p>
        </p:txBody>
      </p:sp>
      <p:sp>
        <p:nvSpPr>
          <p:cNvPr id="5" name="Text 3"/>
          <p:cNvSpPr/>
          <p:nvPr/>
        </p:nvSpPr>
        <p:spPr>
          <a:xfrm>
            <a:off x="219456" y="0"/>
            <a:ext cx="8778240" cy="658368"/>
          </a:xfrm>
          <a:prstGeom prst="rect">
            <a:avLst/>
          </a:prstGeom>
          <a:noFill/>
          <a:ln/>
        </p:spPr>
        <p:txBody>
          <a:bodyPr wrap="square" lIns="0" tIns="0" rIns="0" bIns="0" rtlCol="0" anchor="ctr"/>
          <a:lstStyle/>
          <a:p>
            <a:pPr algn="r" indent="0" marL="0">
              <a:buNone/>
            </a:pPr>
            <a:r>
              <a:rPr lang="en-US" sz="1000" dirty="0">
                <a:solidFill>
                  <a:srgbClr val="4B6A8A"/>
                </a:solidFill>
                <a:latin typeface="Calibri" pitchFamily="34" charset="0"/>
                <a:ea typeface="Calibri" pitchFamily="34" charset="-122"/>
                <a:cs typeface="Calibri" pitchFamily="34" charset="-120"/>
              </a:rPr>
              <a:t>Roadmap → Phase 4 · 8-12 weeks</a:t>
            </a:r>
            <a:endParaRPr lang="en-US" sz="1000" dirty="0"/>
          </a:p>
        </p:txBody>
      </p:sp>
      <p:sp>
        <p:nvSpPr>
          <p:cNvPr id="6" name="Text 4"/>
          <p:cNvSpPr/>
          <p:nvPr/>
        </p:nvSpPr>
        <p:spPr>
          <a:xfrm>
            <a:off x="365760" y="749808"/>
            <a:ext cx="8412480" cy="32004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Increase Canon's execution reach without giving up governance. Remote workers bring consistent execution, hidden orchestration, and centralized evidence.</a:t>
            </a:r>
            <a:endParaRPr lang="en-US" sz="1300" dirty="0"/>
          </a:p>
        </p:txBody>
      </p:sp>
      <p:sp>
        <p:nvSpPr>
          <p:cNvPr id="7" name="Shape 5"/>
          <p:cNvSpPr/>
          <p:nvPr/>
        </p:nvSpPr>
        <p:spPr>
          <a:xfrm>
            <a:off x="320040" y="1170432"/>
            <a:ext cx="5193792" cy="100584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8" name="Shape 6"/>
          <p:cNvSpPr/>
          <p:nvPr/>
        </p:nvSpPr>
        <p:spPr>
          <a:xfrm>
            <a:off x="320040" y="1170432"/>
            <a:ext cx="64008" cy="1005840"/>
          </a:xfrm>
          <a:prstGeom prst="rect">
            <a:avLst/>
          </a:prstGeom>
          <a:solidFill>
            <a:srgbClr val="8B5CF6"/>
          </a:solidFill>
          <a:ln w="12700">
            <a:solidFill>
              <a:srgbClr val="8B5CF6"/>
            </a:solidFill>
            <a:prstDash val="solid"/>
          </a:ln>
        </p:spPr>
      </p:sp>
      <p:sp>
        <p:nvSpPr>
          <p:cNvPr id="9" name="Shape 7"/>
          <p:cNvSpPr/>
          <p:nvPr/>
        </p:nvSpPr>
        <p:spPr>
          <a:xfrm>
            <a:off x="320040" y="1170432"/>
            <a:ext cx="475488" cy="237744"/>
          </a:xfrm>
          <a:prstGeom prst="rect">
            <a:avLst/>
          </a:prstGeom>
          <a:solidFill>
            <a:srgbClr val="8B5CF6"/>
          </a:solidFill>
          <a:ln w="12700">
            <a:solidFill>
              <a:srgbClr val="8B5CF6"/>
            </a:solidFill>
            <a:prstDash val="solid"/>
          </a:ln>
        </p:spPr>
      </p:sp>
      <p:sp>
        <p:nvSpPr>
          <p:cNvPr id="10" name="Text 8"/>
          <p:cNvSpPr/>
          <p:nvPr/>
        </p:nvSpPr>
        <p:spPr>
          <a:xfrm>
            <a:off x="320040" y="1170432"/>
            <a:ext cx="475488"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P1</a:t>
            </a:r>
            <a:endParaRPr lang="en-US" sz="1000" dirty="0"/>
          </a:p>
        </p:txBody>
      </p:sp>
      <p:sp>
        <p:nvSpPr>
          <p:cNvPr id="11" name="Text 9"/>
          <p:cNvSpPr/>
          <p:nvPr/>
        </p:nvSpPr>
        <p:spPr>
          <a:xfrm>
            <a:off x="502920" y="1444752"/>
            <a:ext cx="4846320" cy="292608"/>
          </a:xfrm>
          <a:prstGeom prst="rect">
            <a:avLst/>
          </a:prstGeom>
          <a:noFill/>
          <a:ln/>
        </p:spPr>
        <p:txBody>
          <a:bodyPr wrap="square" lIns="0" tIns="0" rIns="0" bIns="0" rtlCol="0" anchor="ctr"/>
          <a:lstStyle/>
          <a:p>
            <a:pPr indent="0" marL="0">
              <a:buNone/>
            </a:pPr>
            <a:r>
              <a:rPr lang="en-US" sz="1300" b="1" dirty="0">
                <a:solidFill>
                  <a:srgbClr val="0D1117"/>
                </a:solidFill>
                <a:latin typeface="Calibri" pitchFamily="34" charset="0"/>
                <a:ea typeface="Calibri" pitchFamily="34" charset="-122"/>
                <a:cs typeface="Calibri" pitchFamily="34" charset="-120"/>
              </a:rPr>
              <a:t>Cursor SDK remote worker MVP</a:t>
            </a:r>
            <a:endParaRPr lang="en-US" sz="1300" dirty="0"/>
          </a:p>
        </p:txBody>
      </p:sp>
      <p:sp>
        <p:nvSpPr>
          <p:cNvPr id="12" name="Text 10"/>
          <p:cNvSpPr/>
          <p:nvPr/>
        </p:nvSpPr>
        <p:spPr>
          <a:xfrm>
            <a:off x="502920" y="1737360"/>
            <a:ext cx="4846320" cy="38404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AWS ECS task -&gt; Cursor SDK cloud agent -&gt; branch/commit/PR/result -&gt; Canon evidence envelope. Builds on validated PoC. Explicit max step / max wall-clock / kill switch bounds. Checkpoint contract preserved.</a:t>
            </a:r>
            <a:endParaRPr lang="en-US" sz="1000" dirty="0"/>
          </a:p>
        </p:txBody>
      </p:sp>
      <p:sp>
        <p:nvSpPr>
          <p:cNvPr id="13" name="Shape 11"/>
          <p:cNvSpPr/>
          <p:nvPr/>
        </p:nvSpPr>
        <p:spPr>
          <a:xfrm>
            <a:off x="320040" y="2249424"/>
            <a:ext cx="5193792" cy="100584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14" name="Shape 12"/>
          <p:cNvSpPr/>
          <p:nvPr/>
        </p:nvSpPr>
        <p:spPr>
          <a:xfrm>
            <a:off x="320040" y="2249424"/>
            <a:ext cx="64008" cy="1005840"/>
          </a:xfrm>
          <a:prstGeom prst="rect">
            <a:avLst/>
          </a:prstGeom>
          <a:solidFill>
            <a:srgbClr val="7C3AED"/>
          </a:solidFill>
          <a:ln w="12700">
            <a:solidFill>
              <a:srgbClr val="7C3AED"/>
            </a:solidFill>
            <a:prstDash val="solid"/>
          </a:ln>
        </p:spPr>
      </p:sp>
      <p:sp>
        <p:nvSpPr>
          <p:cNvPr id="15" name="Shape 13"/>
          <p:cNvSpPr/>
          <p:nvPr/>
        </p:nvSpPr>
        <p:spPr>
          <a:xfrm>
            <a:off x="320040" y="2249424"/>
            <a:ext cx="475488" cy="237744"/>
          </a:xfrm>
          <a:prstGeom prst="rect">
            <a:avLst/>
          </a:prstGeom>
          <a:solidFill>
            <a:srgbClr val="7C3AED"/>
          </a:solidFill>
          <a:ln w="12700">
            <a:solidFill>
              <a:srgbClr val="7C3AED"/>
            </a:solidFill>
            <a:prstDash val="solid"/>
          </a:ln>
        </p:spPr>
      </p:sp>
      <p:sp>
        <p:nvSpPr>
          <p:cNvPr id="16" name="Text 14"/>
          <p:cNvSpPr/>
          <p:nvPr/>
        </p:nvSpPr>
        <p:spPr>
          <a:xfrm>
            <a:off x="320040" y="2249424"/>
            <a:ext cx="475488"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P2</a:t>
            </a:r>
            <a:endParaRPr lang="en-US" sz="1000" dirty="0"/>
          </a:p>
        </p:txBody>
      </p:sp>
      <p:sp>
        <p:nvSpPr>
          <p:cNvPr id="17" name="Text 15"/>
          <p:cNvSpPr/>
          <p:nvPr/>
        </p:nvSpPr>
        <p:spPr>
          <a:xfrm>
            <a:off x="502920" y="2523744"/>
            <a:ext cx="4846320" cy="292608"/>
          </a:xfrm>
          <a:prstGeom prst="rect">
            <a:avLst/>
          </a:prstGeom>
          <a:noFill/>
          <a:ln/>
        </p:spPr>
        <p:txBody>
          <a:bodyPr wrap="square" lIns="0" tIns="0" rIns="0" bIns="0" rtlCol="0" anchor="ctr"/>
          <a:lstStyle/>
          <a:p>
            <a:pPr indent="0" marL="0">
              <a:buNone/>
            </a:pPr>
            <a:r>
              <a:rPr lang="en-US" sz="1300" b="1" dirty="0">
                <a:solidFill>
                  <a:srgbClr val="0D1117"/>
                </a:solidFill>
                <a:latin typeface="Calibri" pitchFamily="34" charset="0"/>
                <a:ea typeface="Calibri" pitchFamily="34" charset="-122"/>
                <a:cs typeface="Calibri" pitchFamily="34" charset="-120"/>
              </a:rPr>
              <a:t>Long-run implementer mode</a:t>
            </a:r>
            <a:endParaRPr lang="en-US" sz="1300" dirty="0"/>
          </a:p>
        </p:txBody>
      </p:sp>
      <p:sp>
        <p:nvSpPr>
          <p:cNvPr id="18" name="Text 16"/>
          <p:cNvSpPr/>
          <p:nvPr/>
        </p:nvSpPr>
        <p:spPr>
          <a:xfrm>
            <a:off x="502920" y="2816352"/>
            <a:ext cx="4846320" cy="38404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Bounded multi-step execution with checkpoints. Feature-flagged per repo. Merge-sensitive work still needs QA packet. stall_watchdog wired into long-run mode. Fail-open documented for local dev.</a:t>
            </a:r>
            <a:endParaRPr lang="en-US" sz="1000" dirty="0"/>
          </a:p>
        </p:txBody>
      </p:sp>
      <p:sp>
        <p:nvSpPr>
          <p:cNvPr id="19" name="Shape 17"/>
          <p:cNvSpPr/>
          <p:nvPr/>
        </p:nvSpPr>
        <p:spPr>
          <a:xfrm>
            <a:off x="320040" y="3328416"/>
            <a:ext cx="5193792" cy="100584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20" name="Shape 18"/>
          <p:cNvSpPr/>
          <p:nvPr/>
        </p:nvSpPr>
        <p:spPr>
          <a:xfrm>
            <a:off x="320040" y="3328416"/>
            <a:ext cx="64008" cy="1005840"/>
          </a:xfrm>
          <a:prstGeom prst="rect">
            <a:avLst/>
          </a:prstGeom>
          <a:solidFill>
            <a:srgbClr val="6D28D9"/>
          </a:solidFill>
          <a:ln w="12700">
            <a:solidFill>
              <a:srgbClr val="6D28D9"/>
            </a:solidFill>
            <a:prstDash val="solid"/>
          </a:ln>
        </p:spPr>
      </p:sp>
      <p:sp>
        <p:nvSpPr>
          <p:cNvPr id="21" name="Shape 19"/>
          <p:cNvSpPr/>
          <p:nvPr/>
        </p:nvSpPr>
        <p:spPr>
          <a:xfrm>
            <a:off x="320040" y="3328416"/>
            <a:ext cx="475488" cy="237744"/>
          </a:xfrm>
          <a:prstGeom prst="rect">
            <a:avLst/>
          </a:prstGeom>
          <a:solidFill>
            <a:srgbClr val="6D28D9"/>
          </a:solidFill>
          <a:ln w="12700">
            <a:solidFill>
              <a:srgbClr val="6D28D9"/>
            </a:solidFill>
            <a:prstDash val="solid"/>
          </a:ln>
        </p:spPr>
      </p:sp>
      <p:sp>
        <p:nvSpPr>
          <p:cNvPr id="22" name="Text 20"/>
          <p:cNvSpPr/>
          <p:nvPr/>
        </p:nvSpPr>
        <p:spPr>
          <a:xfrm>
            <a:off x="320040" y="3328416"/>
            <a:ext cx="475488"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P3</a:t>
            </a:r>
            <a:endParaRPr lang="en-US" sz="1000" dirty="0"/>
          </a:p>
        </p:txBody>
      </p:sp>
      <p:sp>
        <p:nvSpPr>
          <p:cNvPr id="23" name="Text 21"/>
          <p:cNvSpPr/>
          <p:nvPr/>
        </p:nvSpPr>
        <p:spPr>
          <a:xfrm>
            <a:off x="502920" y="3602736"/>
            <a:ext cx="4846320" cy="292608"/>
          </a:xfrm>
          <a:prstGeom prst="rect">
            <a:avLst/>
          </a:prstGeom>
          <a:noFill/>
          <a:ln/>
        </p:spPr>
        <p:txBody>
          <a:bodyPr wrap="square" lIns="0" tIns="0" rIns="0" bIns="0" rtlCol="0" anchor="ctr"/>
          <a:lstStyle/>
          <a:p>
            <a:pPr indent="0" marL="0">
              <a:buNone/>
            </a:pPr>
            <a:r>
              <a:rPr lang="en-US" sz="1300" b="1" dirty="0">
                <a:solidFill>
                  <a:srgbClr val="0D1117"/>
                </a:solidFill>
                <a:latin typeface="Calibri" pitchFamily="34" charset="0"/>
                <a:ea typeface="Calibri" pitchFamily="34" charset="-122"/>
                <a:cs typeface="Calibri" pitchFamily="34" charset="-120"/>
              </a:rPr>
              <a:t>Hidden orchestration option</a:t>
            </a:r>
            <a:endParaRPr lang="en-US" sz="1300" dirty="0"/>
          </a:p>
        </p:txBody>
      </p:sp>
      <p:sp>
        <p:nvSpPr>
          <p:cNvPr id="24" name="Text 22"/>
          <p:cNvSpPr/>
          <p:nvPr/>
        </p:nvSpPr>
        <p:spPr>
          <a:xfrm>
            <a:off x="502920" y="3895344"/>
            <a:ext cx="4846320" cy="38404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User sees status + evidence, not raw internal subagent prompt files by default. Internal prompts remain proprietary. Evidence surfaces (packets, gate results, event trail) mandatory even when internals are hidden.</a:t>
            </a:r>
            <a:endParaRPr lang="en-US" sz="1000" dirty="0"/>
          </a:p>
        </p:txBody>
      </p:sp>
      <p:sp>
        <p:nvSpPr>
          <p:cNvPr id="25" name="Shape 23"/>
          <p:cNvSpPr/>
          <p:nvPr/>
        </p:nvSpPr>
        <p:spPr>
          <a:xfrm>
            <a:off x="5669280" y="1188720"/>
            <a:ext cx="3145536" cy="248716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26" name="Shape 24"/>
          <p:cNvSpPr/>
          <p:nvPr/>
        </p:nvSpPr>
        <p:spPr>
          <a:xfrm>
            <a:off x="5669280" y="1188720"/>
            <a:ext cx="64008" cy="2487168"/>
          </a:xfrm>
          <a:prstGeom prst="rect">
            <a:avLst/>
          </a:prstGeom>
          <a:solidFill>
            <a:srgbClr val="EF4444"/>
          </a:solidFill>
          <a:ln w="12700">
            <a:solidFill>
              <a:srgbClr val="EF4444"/>
            </a:solidFill>
            <a:prstDash val="solid"/>
          </a:ln>
        </p:spPr>
      </p:sp>
      <p:sp>
        <p:nvSpPr>
          <p:cNvPr id="27" name="Text 25"/>
          <p:cNvSpPr/>
          <p:nvPr/>
        </p:nvSpPr>
        <p:spPr>
          <a:xfrm>
            <a:off x="5852160" y="1335024"/>
            <a:ext cx="2834640" cy="320040"/>
          </a:xfrm>
          <a:prstGeom prst="rect">
            <a:avLst/>
          </a:prstGeom>
          <a:noFill/>
          <a:ln/>
        </p:spPr>
        <p:txBody>
          <a:bodyPr wrap="square" lIns="0" tIns="0" rIns="0" bIns="0" rtlCol="0" anchor="ctr"/>
          <a:lstStyle/>
          <a:p>
            <a:pPr indent="0" marL="0">
              <a:buNone/>
            </a:pPr>
            <a:r>
              <a:rPr lang="en-US" sz="1300" b="1" dirty="0">
                <a:solidFill>
                  <a:srgbClr val="0D1117"/>
                </a:solidFill>
                <a:latin typeface="Calibri" pitchFamily="34" charset="0"/>
                <a:ea typeface="Calibri" pitchFamily="34" charset="-122"/>
                <a:cs typeface="Calibri" pitchFamily="34" charset="-120"/>
              </a:rPr>
              <a:t>Guardrails</a:t>
            </a:r>
            <a:endParaRPr lang="en-US" sz="1300" dirty="0"/>
          </a:p>
        </p:txBody>
      </p:sp>
      <p:sp>
        <p:nvSpPr>
          <p:cNvPr id="28" name="Text 26"/>
          <p:cNvSpPr/>
          <p:nvPr/>
        </p:nvSpPr>
        <p:spPr>
          <a:xfrm>
            <a:off x="5852160" y="1737360"/>
            <a:ext cx="2834640" cy="438912"/>
          </a:xfrm>
          <a:prstGeom prst="rect">
            <a:avLst/>
          </a:prstGeom>
          <a:noFill/>
          <a:ln/>
        </p:spPr>
        <p:txBody>
          <a:bodyPr wrap="square" lIns="0" tIns="0" rIns="0" bIns="0" rtlCol="0" anchor="ctr"/>
          <a:lstStyle/>
          <a:p>
            <a:pPr indent="0" marL="0">
              <a:buNone/>
            </a:pPr>
            <a:r>
              <a:rPr lang="en-US" sz="1000" dirty="0">
                <a:solidFill>
                  <a:srgbClr val="DC2626"/>
                </a:solidFill>
                <a:latin typeface="Calibri" pitchFamily="34" charset="0"/>
                <a:ea typeface="Calibri" pitchFamily="34" charset="-122"/>
                <a:cs typeface="Calibri" pitchFamily="34" charset="-120"/>
              </a:rPr>
              <a:t>x  Remote crash/timeout -&gt; resumable state, not ghost completion</a:t>
            </a:r>
            <a:endParaRPr lang="en-US" sz="1000" dirty="0"/>
          </a:p>
        </p:txBody>
      </p:sp>
      <p:sp>
        <p:nvSpPr>
          <p:cNvPr id="29" name="Text 27"/>
          <p:cNvSpPr/>
          <p:nvPr/>
        </p:nvSpPr>
        <p:spPr>
          <a:xfrm>
            <a:off x="5852160" y="2212848"/>
            <a:ext cx="2834640" cy="438912"/>
          </a:xfrm>
          <a:prstGeom prst="rect">
            <a:avLst/>
          </a:prstGeom>
          <a:noFill/>
          <a:ln/>
        </p:spPr>
        <p:txBody>
          <a:bodyPr wrap="square" lIns="0" tIns="0" rIns="0" bIns="0" rtlCol="0" anchor="ctr"/>
          <a:lstStyle/>
          <a:p>
            <a:pPr indent="0" marL="0">
              <a:buNone/>
            </a:pPr>
            <a:r>
              <a:rPr lang="en-US" sz="1000" dirty="0">
                <a:solidFill>
                  <a:srgbClr val="DC2626"/>
                </a:solidFill>
                <a:latin typeface="Calibri" pitchFamily="34" charset="0"/>
                <a:ea typeface="Calibri" pitchFamily="34" charset="-122"/>
                <a:cs typeface="Calibri" pitchFamily="34" charset="-120"/>
              </a:rPr>
              <a:t>x  Hidden orchestration -&gt; evidence surfaces still mandatory</a:t>
            </a:r>
            <a:endParaRPr lang="en-US" sz="1000" dirty="0"/>
          </a:p>
        </p:txBody>
      </p:sp>
      <p:sp>
        <p:nvSpPr>
          <p:cNvPr id="30" name="Text 28"/>
          <p:cNvSpPr/>
          <p:nvPr/>
        </p:nvSpPr>
        <p:spPr>
          <a:xfrm>
            <a:off x="5852160" y="2688336"/>
            <a:ext cx="2834640" cy="438912"/>
          </a:xfrm>
          <a:prstGeom prst="rect">
            <a:avLst/>
          </a:prstGeom>
          <a:noFill/>
          <a:ln/>
        </p:spPr>
        <p:txBody>
          <a:bodyPr wrap="square" lIns="0" tIns="0" rIns="0" bIns="0" rtlCol="0" anchor="ctr"/>
          <a:lstStyle/>
          <a:p>
            <a:pPr indent="0" marL="0">
              <a:buNone/>
            </a:pPr>
            <a:r>
              <a:rPr lang="en-US" sz="1000" dirty="0">
                <a:solidFill>
                  <a:srgbClr val="DC2626"/>
                </a:solidFill>
                <a:latin typeface="Calibri" pitchFamily="34" charset="0"/>
                <a:ea typeface="Calibri" pitchFamily="34" charset="-122"/>
                <a:cs typeface="Calibri" pitchFamily="34" charset="-120"/>
              </a:rPr>
              <a:t>x  Parallel lanes -&gt; merge discipline enforced per-task</a:t>
            </a:r>
            <a:endParaRPr lang="en-US" sz="1000" dirty="0"/>
          </a:p>
        </p:txBody>
      </p:sp>
      <p:sp>
        <p:nvSpPr>
          <p:cNvPr id="31" name="Text 29"/>
          <p:cNvSpPr/>
          <p:nvPr/>
        </p:nvSpPr>
        <p:spPr>
          <a:xfrm>
            <a:off x="5852160" y="3163824"/>
            <a:ext cx="2834640" cy="438912"/>
          </a:xfrm>
          <a:prstGeom prst="rect">
            <a:avLst/>
          </a:prstGeom>
          <a:noFill/>
          <a:ln/>
        </p:spPr>
        <p:txBody>
          <a:bodyPr wrap="square" lIns="0" tIns="0" rIns="0" bIns="0" rtlCol="0" anchor="ctr"/>
          <a:lstStyle/>
          <a:p>
            <a:pPr indent="0" marL="0">
              <a:buNone/>
            </a:pPr>
            <a:r>
              <a:rPr lang="en-US" sz="1000" dirty="0">
                <a:solidFill>
                  <a:srgbClr val="DC2626"/>
                </a:solidFill>
                <a:latin typeface="Calibri" pitchFamily="34" charset="0"/>
                <a:ea typeface="Calibri" pitchFamily="34" charset="-122"/>
                <a:cs typeface="Calibri" pitchFamily="34" charset="-120"/>
              </a:rPr>
              <a:t>x  Cost/loops -&gt; caps, watchdog, step bounds, per-tenant policy</a:t>
            </a:r>
            <a:endParaRPr lang="en-US" sz="1000" dirty="0"/>
          </a:p>
        </p:txBody>
      </p:sp>
      <p:sp>
        <p:nvSpPr>
          <p:cNvPr id="32" name="Text 30"/>
          <p:cNvSpPr/>
          <p:nvPr/>
        </p:nvSpPr>
        <p:spPr>
          <a:xfrm>
            <a:off x="5852160" y="3639312"/>
            <a:ext cx="2834640" cy="438912"/>
          </a:xfrm>
          <a:prstGeom prst="rect">
            <a:avLst/>
          </a:prstGeom>
          <a:noFill/>
          <a:ln/>
        </p:spPr>
        <p:txBody>
          <a:bodyPr wrap="square" lIns="0" tIns="0" rIns="0" bIns="0" rtlCol="0" anchor="ctr"/>
          <a:lstStyle/>
          <a:p>
            <a:pPr indent="0" marL="0">
              <a:buNone/>
            </a:pPr>
            <a:r>
              <a:rPr lang="en-US" sz="1000" dirty="0">
                <a:solidFill>
                  <a:srgbClr val="DC2626"/>
                </a:solidFill>
                <a:latin typeface="Calibri" pitchFamily="34" charset="0"/>
                <a:ea typeface="Calibri" pitchFamily="34" charset="-122"/>
                <a:cs typeface="Calibri" pitchFamily="34" charset="-120"/>
              </a:rPr>
              <a:t>x  Cursor SDK terms -&gt; treat as first adapter, not only adapter</a:t>
            </a:r>
            <a:endParaRPr lang="en-US" sz="1000" dirty="0"/>
          </a:p>
        </p:txBody>
      </p:sp>
      <p:sp>
        <p:nvSpPr>
          <p:cNvPr id="33" name="Shape 31"/>
          <p:cNvSpPr/>
          <p:nvPr/>
        </p:nvSpPr>
        <p:spPr>
          <a:xfrm>
            <a:off x="320040" y="4352544"/>
            <a:ext cx="8485632" cy="658368"/>
          </a:xfrm>
          <a:prstGeom prst="rect">
            <a:avLst/>
          </a:prstGeom>
          <a:solidFill>
            <a:srgbClr val="EDE9FE"/>
          </a:solidFill>
          <a:ln w="12700">
            <a:solidFill>
              <a:srgbClr val="C4B5FD"/>
            </a:solidFill>
            <a:prstDash val="solid"/>
          </a:ln>
        </p:spPr>
      </p:sp>
      <p:sp>
        <p:nvSpPr>
          <p:cNvPr id="34" name="Text 32"/>
          <p:cNvSpPr/>
          <p:nvPr/>
        </p:nvSpPr>
        <p:spPr>
          <a:xfrm>
            <a:off x="502920" y="4425696"/>
            <a:ext cx="2743200" cy="256032"/>
          </a:xfrm>
          <a:prstGeom prst="rect">
            <a:avLst/>
          </a:prstGeom>
          <a:noFill/>
          <a:ln/>
        </p:spPr>
        <p:txBody>
          <a:bodyPr wrap="square" lIns="0" tIns="0" rIns="0" bIns="0" rtlCol="0" anchor="ctr"/>
          <a:lstStyle/>
          <a:p>
            <a:pPr indent="0" marL="0">
              <a:buNone/>
            </a:pPr>
            <a:r>
              <a:rPr lang="en-US" sz="1100" b="1" dirty="0">
                <a:solidFill>
                  <a:srgbClr val="5B21B6"/>
                </a:solidFill>
                <a:latin typeface="Calibri" pitchFamily="34" charset="0"/>
                <a:ea typeface="Calibri" pitchFamily="34" charset="-122"/>
                <a:cs typeface="Calibri" pitchFamily="34" charset="-120"/>
              </a:rPr>
              <a:t>Governed Remote Execution Demo:</a:t>
            </a:r>
            <a:endParaRPr lang="en-US" sz="1100" dirty="0"/>
          </a:p>
        </p:txBody>
      </p:sp>
      <p:sp>
        <p:nvSpPr>
          <p:cNvPr id="35" name="Text 33"/>
          <p:cNvSpPr/>
          <p:nvPr/>
        </p:nvSpPr>
        <p:spPr>
          <a:xfrm>
            <a:off x="3310128" y="4425696"/>
            <a:ext cx="5303520" cy="502920"/>
          </a:xfrm>
          <a:prstGeom prst="rect">
            <a:avLst/>
          </a:prstGeom>
          <a:noFill/>
          <a:ln/>
        </p:spPr>
        <p:txBody>
          <a:bodyPr wrap="square" lIns="0" tIns="0" rIns="0" bIns="0" rtlCol="0" anchor="ctr"/>
          <a:lstStyle/>
          <a:p>
            <a:pPr indent="0" marL="0">
              <a:buNone/>
            </a:pPr>
            <a:r>
              <a:rPr lang="en-US" sz="1100" dirty="0">
                <a:solidFill>
                  <a:srgbClr val="6D28D9"/>
                </a:solidFill>
                <a:latin typeface="Calibri" pitchFamily="34" charset="0"/>
                <a:ea typeface="Calibri" pitchFamily="34" charset="-122"/>
                <a:cs typeface="Calibri" pitchFamily="34" charset="-120"/>
              </a:rPr>
              <a:t>User stays in Cursor, dispatches task, Canon launches Cursor SDK from AWS, user receives result + packet/evidence trail. No local subagents doing the real work.</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0"/>
            <a:ext cx="109728" cy="658368"/>
          </a:xfrm>
          <a:prstGeom prst="rect">
            <a:avLst/>
          </a:prstGeom>
          <a:solidFill>
            <a:srgbClr val="00D4AA"/>
          </a:solidFill>
          <a:ln w="12700">
            <a:solidFill>
              <a:srgbClr val="00D4AA"/>
            </a:solidFill>
            <a:prstDash val="solid"/>
          </a:ln>
        </p:spPr>
      </p:sp>
      <p:sp>
        <p:nvSpPr>
          <p:cNvPr id="4" name="Text 2"/>
          <p:cNvSpPr/>
          <p:nvPr/>
        </p:nvSpPr>
        <p:spPr>
          <a:xfrm>
            <a:off x="219456" y="0"/>
            <a:ext cx="685800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Phase 5 — Managed Canon (Optional Commercial Path)</a:t>
            </a:r>
            <a:endParaRPr lang="en-US" sz="2100" dirty="0"/>
          </a:p>
        </p:txBody>
      </p:sp>
      <p:sp>
        <p:nvSpPr>
          <p:cNvPr id="5" name="Text 3"/>
          <p:cNvSpPr/>
          <p:nvPr/>
        </p:nvSpPr>
        <p:spPr>
          <a:xfrm>
            <a:off x="219456" y="0"/>
            <a:ext cx="8778240" cy="658368"/>
          </a:xfrm>
          <a:prstGeom prst="rect">
            <a:avLst/>
          </a:prstGeom>
          <a:noFill/>
          <a:ln/>
        </p:spPr>
        <p:txBody>
          <a:bodyPr wrap="square" lIns="0" tIns="0" rIns="0" bIns="0" rtlCol="0" anchor="ctr"/>
          <a:lstStyle/>
          <a:p>
            <a:pPr algn="r" indent="0" marL="0">
              <a:buNone/>
            </a:pPr>
            <a:r>
              <a:rPr lang="en-US" sz="1000" dirty="0">
                <a:solidFill>
                  <a:srgbClr val="4B6A8A"/>
                </a:solidFill>
                <a:latin typeface="Calibri" pitchFamily="34" charset="0"/>
                <a:ea typeface="Calibri" pitchFamily="34" charset="-122"/>
                <a:cs typeface="Calibri" pitchFamily="34" charset="-120"/>
              </a:rPr>
              <a:t>Roadmap → Phase 5 · 8-12+ weeks</a:t>
            </a:r>
            <a:endParaRPr lang="en-US" sz="1000" dirty="0"/>
          </a:p>
        </p:txBody>
      </p:sp>
      <p:sp>
        <p:nvSpPr>
          <p:cNvPr id="6" name="Text 4"/>
          <p:cNvSpPr/>
          <p:nvPr/>
        </p:nvSpPr>
        <p:spPr>
          <a:xfrm>
            <a:off x="365760" y="749808"/>
            <a:ext cx="8412480" cy="32004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Offer hosted Canon for teams that won't run AWS wiring themselves — without diluting the open CLI + repo experience.</a:t>
            </a:r>
            <a:endParaRPr lang="en-US" sz="1300" dirty="0"/>
          </a:p>
        </p:txBody>
      </p:sp>
      <p:sp>
        <p:nvSpPr>
          <p:cNvPr id="7" name="Shape 5"/>
          <p:cNvSpPr/>
          <p:nvPr/>
        </p:nvSpPr>
        <p:spPr>
          <a:xfrm>
            <a:off x="320040" y="1170432"/>
            <a:ext cx="4114800" cy="365760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8" name="Shape 6"/>
          <p:cNvSpPr/>
          <p:nvPr/>
        </p:nvSpPr>
        <p:spPr>
          <a:xfrm>
            <a:off x="320040" y="1170432"/>
            <a:ext cx="64008" cy="3657600"/>
          </a:xfrm>
          <a:prstGeom prst="rect">
            <a:avLst/>
          </a:prstGeom>
          <a:solidFill>
            <a:srgbClr val="F59E0B"/>
          </a:solidFill>
          <a:ln w="12700">
            <a:solidFill>
              <a:srgbClr val="F59E0B"/>
            </a:solidFill>
            <a:prstDash val="solid"/>
          </a:ln>
        </p:spPr>
      </p:sp>
      <p:sp>
        <p:nvSpPr>
          <p:cNvPr id="9" name="Text 7"/>
          <p:cNvSpPr/>
          <p:nvPr/>
        </p:nvSpPr>
        <p:spPr>
          <a:xfrm>
            <a:off x="502920" y="1316736"/>
            <a:ext cx="3749040" cy="347472"/>
          </a:xfrm>
          <a:prstGeom prst="rect">
            <a:avLst/>
          </a:prstGeom>
          <a:noFill/>
          <a:ln/>
        </p:spPr>
        <p:txBody>
          <a:bodyPr wrap="square" lIns="0" tIns="0" rIns="0" bIns="0" rtlCol="0" anchor="ctr"/>
          <a:lstStyle/>
          <a:p>
            <a:pPr indent="0" marL="0">
              <a:buNone/>
            </a:pPr>
            <a:r>
              <a:rPr lang="en-US" sz="1400" b="1" dirty="0">
                <a:solidFill>
                  <a:srgbClr val="0D1117"/>
                </a:solidFill>
                <a:latin typeface="Calibri" pitchFamily="34" charset="0"/>
                <a:ea typeface="Calibri" pitchFamily="34" charset="-122"/>
                <a:cs typeface="Calibri" pitchFamily="34" charset="-120"/>
              </a:rPr>
              <a:t>What Canon Cloud Includes</a:t>
            </a:r>
            <a:endParaRPr lang="en-US" sz="1400" dirty="0"/>
          </a:p>
        </p:txBody>
      </p:sp>
      <p:sp>
        <p:nvSpPr>
          <p:cNvPr id="10" name="Text 8"/>
          <p:cNvSpPr/>
          <p:nvPr/>
        </p:nvSpPr>
        <p:spPr>
          <a:xfrm>
            <a:off x="502920" y="1737360"/>
            <a:ext cx="3749040" cy="45720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-&gt; Hosted memory + ingress + dashboards</a:t>
            </a:r>
            <a:endParaRPr lang="en-US" sz="1100" dirty="0"/>
          </a:p>
        </p:txBody>
      </p:sp>
      <p:sp>
        <p:nvSpPr>
          <p:cNvPr id="11" name="Text 9"/>
          <p:cNvSpPr/>
          <p:nvPr/>
        </p:nvSpPr>
        <p:spPr>
          <a:xfrm>
            <a:off x="502920" y="2231136"/>
            <a:ext cx="3749040" cy="45720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-&gt; Customer VPC option (parallels enterprise SaaS market)</a:t>
            </a:r>
            <a:endParaRPr lang="en-US" sz="1100" dirty="0"/>
          </a:p>
        </p:txBody>
      </p:sp>
      <p:sp>
        <p:nvSpPr>
          <p:cNvPr id="12" name="Text 10"/>
          <p:cNvSpPr/>
          <p:nvPr/>
        </p:nvSpPr>
        <p:spPr>
          <a:xfrm>
            <a:off x="502920" y="2724912"/>
            <a:ext cx="3749040" cy="45720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-&gt; Tenant isolation at infra boundary — documented + tested</a:t>
            </a:r>
            <a:endParaRPr lang="en-US" sz="1100" dirty="0"/>
          </a:p>
        </p:txBody>
      </p:sp>
      <p:sp>
        <p:nvSpPr>
          <p:cNvPr id="13" name="Text 11"/>
          <p:cNvSpPr/>
          <p:nvPr/>
        </p:nvSpPr>
        <p:spPr>
          <a:xfrm>
            <a:off x="502920" y="3218688"/>
            <a:ext cx="3749040" cy="45720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-&gt; Predictable pricing: seat + usage hybrid (not raw ACU)</a:t>
            </a:r>
            <a:endParaRPr lang="en-US" sz="1100" dirty="0"/>
          </a:p>
        </p:txBody>
      </p:sp>
      <p:sp>
        <p:nvSpPr>
          <p:cNvPr id="14" name="Text 12"/>
          <p:cNvSpPr/>
          <p:nvPr/>
        </p:nvSpPr>
        <p:spPr>
          <a:xfrm>
            <a:off x="502920" y="3712464"/>
            <a:ext cx="3749040" cy="45720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-&gt; Data processing agreement checklist (subprocessors, regions)</a:t>
            </a:r>
            <a:endParaRPr lang="en-US" sz="1100" dirty="0"/>
          </a:p>
        </p:txBody>
      </p:sp>
      <p:sp>
        <p:nvSpPr>
          <p:cNvPr id="15" name="Text 13"/>
          <p:cNvSpPr/>
          <p:nvPr/>
        </p:nvSpPr>
        <p:spPr>
          <a:xfrm>
            <a:off x="502920" y="4206240"/>
            <a:ext cx="3749040" cy="45720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-&gt; Onboarding: self-hosted to managed without losing company_id / repository_id</a:t>
            </a:r>
            <a:endParaRPr lang="en-US" sz="1100" dirty="0"/>
          </a:p>
        </p:txBody>
      </p:sp>
      <p:sp>
        <p:nvSpPr>
          <p:cNvPr id="16" name="Shape 14"/>
          <p:cNvSpPr/>
          <p:nvPr/>
        </p:nvSpPr>
        <p:spPr>
          <a:xfrm>
            <a:off x="4599432" y="1170432"/>
            <a:ext cx="4206240" cy="162763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17" name="Shape 15"/>
          <p:cNvSpPr/>
          <p:nvPr/>
        </p:nvSpPr>
        <p:spPr>
          <a:xfrm>
            <a:off x="4599432" y="1170432"/>
            <a:ext cx="64008" cy="1627632"/>
          </a:xfrm>
          <a:prstGeom prst="rect">
            <a:avLst/>
          </a:prstGeom>
          <a:solidFill>
            <a:srgbClr val="6366F1"/>
          </a:solidFill>
          <a:ln w="12700">
            <a:solidFill>
              <a:srgbClr val="6366F1"/>
            </a:solidFill>
            <a:prstDash val="solid"/>
          </a:ln>
        </p:spPr>
      </p:sp>
      <p:sp>
        <p:nvSpPr>
          <p:cNvPr id="18" name="Text 16"/>
          <p:cNvSpPr/>
          <p:nvPr/>
        </p:nvSpPr>
        <p:spPr>
          <a:xfrm>
            <a:off x="4782312" y="1316736"/>
            <a:ext cx="3840480" cy="320040"/>
          </a:xfrm>
          <a:prstGeom prst="rect">
            <a:avLst/>
          </a:prstGeom>
          <a:noFill/>
          <a:ln/>
        </p:spPr>
        <p:txBody>
          <a:bodyPr wrap="square" lIns="0" tIns="0" rIns="0" bIns="0" rtlCol="0" anchor="ctr"/>
          <a:lstStyle/>
          <a:p>
            <a:pPr indent="0" marL="0">
              <a:buNone/>
            </a:pPr>
            <a:r>
              <a:rPr lang="en-US" sz="1400" b="1" dirty="0">
                <a:solidFill>
                  <a:srgbClr val="0D1117"/>
                </a:solidFill>
                <a:latin typeface="Calibri" pitchFamily="34" charset="0"/>
                <a:ea typeface="Calibri" pitchFamily="34" charset="-122"/>
                <a:cs typeface="Calibri" pitchFamily="34" charset="-120"/>
              </a:rPr>
              <a:t>Prerequisites</a:t>
            </a:r>
            <a:endParaRPr lang="en-US" sz="1400" dirty="0"/>
          </a:p>
        </p:txBody>
      </p:sp>
      <p:sp>
        <p:nvSpPr>
          <p:cNvPr id="19" name="Text 17"/>
          <p:cNvSpPr/>
          <p:nvPr/>
        </p:nvSpPr>
        <p:spPr>
          <a:xfrm>
            <a:off x="4782312" y="1700784"/>
            <a:ext cx="3840480" cy="1024128"/>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Phase 2 enterprise identity (SSO) required for serious buyers.</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Phase 3 runtime abstraction and Phase 4 remote workers before GA.</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Pen-test / security review booked before launch.</a:t>
            </a:r>
            <a:endParaRPr lang="en-US" sz="1100" dirty="0"/>
          </a:p>
        </p:txBody>
      </p:sp>
      <p:sp>
        <p:nvSpPr>
          <p:cNvPr id="20" name="Shape 18"/>
          <p:cNvSpPr/>
          <p:nvPr/>
        </p:nvSpPr>
        <p:spPr>
          <a:xfrm>
            <a:off x="4599432" y="2944368"/>
            <a:ext cx="4206240" cy="1883664"/>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21" name="Shape 19"/>
          <p:cNvSpPr/>
          <p:nvPr/>
        </p:nvSpPr>
        <p:spPr>
          <a:xfrm>
            <a:off x="4599432" y="2944368"/>
            <a:ext cx="64008" cy="1883664"/>
          </a:xfrm>
          <a:prstGeom prst="rect">
            <a:avLst/>
          </a:prstGeom>
          <a:solidFill>
            <a:srgbClr val="EF4444"/>
          </a:solidFill>
          <a:ln w="12700">
            <a:solidFill>
              <a:srgbClr val="EF4444"/>
            </a:solidFill>
            <a:prstDash val="solid"/>
          </a:ln>
        </p:spPr>
      </p:sp>
      <p:sp>
        <p:nvSpPr>
          <p:cNvPr id="22" name="Text 20"/>
          <p:cNvSpPr/>
          <p:nvPr/>
        </p:nvSpPr>
        <p:spPr>
          <a:xfrm>
            <a:off x="4782312" y="3090672"/>
            <a:ext cx="3840480" cy="320040"/>
          </a:xfrm>
          <a:prstGeom prst="rect">
            <a:avLst/>
          </a:prstGeom>
          <a:noFill/>
          <a:ln/>
        </p:spPr>
        <p:txBody>
          <a:bodyPr wrap="square" lIns="0" tIns="0" rIns="0" bIns="0" rtlCol="0" anchor="ctr"/>
          <a:lstStyle/>
          <a:p>
            <a:pPr indent="0" marL="0">
              <a:buNone/>
            </a:pPr>
            <a:r>
              <a:rPr lang="en-US" sz="1400" b="1" dirty="0">
                <a:solidFill>
                  <a:srgbClr val="0D1117"/>
                </a:solidFill>
                <a:latin typeface="Calibri" pitchFamily="34" charset="0"/>
                <a:ea typeface="Calibri" pitchFamily="34" charset="-122"/>
                <a:cs typeface="Calibri" pitchFamily="34" charset="-120"/>
              </a:rPr>
              <a:t>What Does NOT Change</a:t>
            </a:r>
            <a:endParaRPr lang="en-US" sz="1400" dirty="0"/>
          </a:p>
        </p:txBody>
      </p:sp>
      <p:sp>
        <p:nvSpPr>
          <p:cNvPr id="23" name="Text 21"/>
          <p:cNvSpPr/>
          <p:nvPr/>
        </p:nvSpPr>
        <p:spPr>
          <a:xfrm>
            <a:off x="4782312" y="3493008"/>
            <a:ext cx="3840480" cy="123444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The CLI and Cursor integration remain the open, inspectable spine. Canon Cloud is the enterprise-grade skin — not a second truth. Multi-tenant correctness, packet history, and merge gates are non-negotiable.</a:t>
            </a:r>
            <a:endParaRPr lang="en-US" sz="1100" dirty="0"/>
          </a:p>
        </p:txBody>
      </p:sp>
      <p:sp>
        <p:nvSpPr>
          <p:cNvPr id="24" name="Shape 22"/>
          <p:cNvSpPr/>
          <p:nvPr/>
        </p:nvSpPr>
        <p:spPr>
          <a:xfrm>
            <a:off x="320040" y="4791456"/>
            <a:ext cx="8485632" cy="237744"/>
          </a:xfrm>
          <a:prstGeom prst="rect">
            <a:avLst/>
          </a:prstGeom>
          <a:solidFill>
            <a:srgbClr val="FFFBEB"/>
          </a:solidFill>
          <a:ln w="12700">
            <a:solidFill>
              <a:srgbClr val="FDE68A"/>
            </a:solidFill>
            <a:prstDash val="solid"/>
          </a:ln>
        </p:spPr>
      </p:sp>
      <p:sp>
        <p:nvSpPr>
          <p:cNvPr id="25" name="Text 23"/>
          <p:cNvSpPr/>
          <p:nvPr/>
        </p:nvSpPr>
        <p:spPr>
          <a:xfrm>
            <a:off x="502920" y="4800600"/>
            <a:ext cx="8229600" cy="219456"/>
          </a:xfrm>
          <a:prstGeom prst="rect">
            <a:avLst/>
          </a:prstGeom>
          <a:noFill/>
          <a:ln/>
        </p:spPr>
        <p:txBody>
          <a:bodyPr wrap="square" lIns="0" tIns="0" rIns="0" bIns="0" rtlCol="0" anchor="ctr"/>
          <a:lstStyle/>
          <a:p>
            <a:pPr indent="0" marL="0">
              <a:buNone/>
            </a:pPr>
            <a:r>
              <a:rPr lang="en-US" sz="1000" dirty="0">
                <a:solidFill>
                  <a:srgbClr val="92400E"/>
                </a:solidFill>
                <a:latin typeface="Calibri" pitchFamily="34" charset="0"/>
                <a:ea typeface="Calibri" pitchFamily="34" charset="-122"/>
                <a:cs typeface="Calibri" pitchFamily="34" charset="-120"/>
              </a:rPr>
              <a:t>Design Partner Milestone: One non-production tenant running hosted stack with remote workers and auditable evidence flow.</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1F35"/>
          </a:solidFill>
          <a:ln w="12700">
            <a:solidFill>
              <a:srgbClr val="0A1F35"/>
            </a:solidFill>
            <a:prstDash val="solid"/>
          </a:ln>
        </p:spPr>
      </p:sp>
      <p:sp>
        <p:nvSpPr>
          <p:cNvPr id="3" name="Shape 1"/>
          <p:cNvSpPr/>
          <p:nvPr/>
        </p:nvSpPr>
        <p:spPr>
          <a:xfrm>
            <a:off x="0" y="0"/>
            <a:ext cx="109728" cy="658368"/>
          </a:xfrm>
          <a:prstGeom prst="rect">
            <a:avLst/>
          </a:prstGeom>
          <a:solidFill>
            <a:srgbClr val="00D4AA"/>
          </a:solidFill>
          <a:ln w="12700">
            <a:solidFill>
              <a:srgbClr val="00D4AA"/>
            </a:solidFill>
            <a:prstDash val="solid"/>
          </a:ln>
        </p:spPr>
      </p:sp>
      <p:sp>
        <p:nvSpPr>
          <p:cNvPr id="4" name="Text 2"/>
          <p:cNvSpPr/>
          <p:nvPr/>
        </p:nvSpPr>
        <p:spPr>
          <a:xfrm>
            <a:off x="219456" y="0"/>
            <a:ext cx="685800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The Longer Arc — Two Simultaneous Directions</a:t>
            </a:r>
            <a:endParaRPr lang="en-US" sz="2100" dirty="0"/>
          </a:p>
        </p:txBody>
      </p:sp>
      <p:sp>
        <p:nvSpPr>
          <p:cNvPr id="5" name="Text 3"/>
          <p:cNvSpPr/>
          <p:nvPr/>
        </p:nvSpPr>
        <p:spPr>
          <a:xfrm>
            <a:off x="219456" y="0"/>
            <a:ext cx="8778240" cy="658368"/>
          </a:xfrm>
          <a:prstGeom prst="rect">
            <a:avLst/>
          </a:prstGeom>
          <a:noFill/>
          <a:ln/>
        </p:spPr>
        <p:txBody>
          <a:bodyPr wrap="square" lIns="0" tIns="0" rIns="0" bIns="0" rtlCol="0" anchor="ctr"/>
          <a:lstStyle/>
          <a:p>
            <a:pPr algn="r" indent="0" marL="0">
              <a:buNone/>
            </a:pPr>
            <a:r>
              <a:rPr lang="en-US" sz="1000" dirty="0">
                <a:solidFill>
                  <a:srgbClr val="4B6A8A"/>
                </a:solidFill>
                <a:latin typeface="Calibri" pitchFamily="34" charset="0"/>
                <a:ea typeface="Calibri" pitchFamily="34" charset="-122"/>
                <a:cs typeface="Calibri" pitchFamily="34" charset="-120"/>
              </a:rPr>
              <a:t>Vision · Optional · Additive</a:t>
            </a:r>
            <a:endParaRPr lang="en-US" sz="1000" dirty="0"/>
          </a:p>
        </p:txBody>
      </p:sp>
      <p:sp>
        <p:nvSpPr>
          <p:cNvPr id="6" name="Text 4"/>
          <p:cNvSpPr/>
          <p:nvPr/>
        </p:nvSpPr>
        <p:spPr>
          <a:xfrm>
            <a:off x="347472" y="749808"/>
            <a:ext cx="8412480" cy="347472"/>
          </a:xfrm>
          <a:prstGeom prst="rect">
            <a:avLst/>
          </a:prstGeom>
          <a:noFill/>
          <a:ln/>
        </p:spPr>
        <p:txBody>
          <a:bodyPr wrap="square" lIns="0" tIns="0" rIns="0" bIns="0" rtlCol="0" anchor="ctr"/>
          <a:lstStyle/>
          <a:p>
            <a:pPr indent="0" marL="0">
              <a:buNone/>
            </a:pPr>
            <a:r>
              <a:rPr lang="en-US" sz="1300" i="1" dirty="0">
                <a:solidFill>
                  <a:srgbClr val="7BA3C4"/>
                </a:solidFill>
                <a:latin typeface="Calibri" pitchFamily="34" charset="0"/>
                <a:ea typeface="Calibri" pitchFamily="34" charset="-122"/>
                <a:cs typeface="Calibri" pitchFamily="34" charset="-120"/>
              </a:rPr>
              <a:t>Canon grows horizontally as a governance control plane above many runtimes, and vertically as a polished client — both at once, sharing the same evidence model.</a:t>
            </a:r>
            <a:endParaRPr lang="en-US" sz="1300" dirty="0"/>
          </a:p>
        </p:txBody>
      </p:sp>
      <p:sp>
        <p:nvSpPr>
          <p:cNvPr id="7" name="Shape 5"/>
          <p:cNvSpPr/>
          <p:nvPr/>
        </p:nvSpPr>
        <p:spPr>
          <a:xfrm>
            <a:off x="320040" y="1188720"/>
            <a:ext cx="2779776" cy="3547872"/>
          </a:xfrm>
          <a:prstGeom prst="rect">
            <a:avLst/>
          </a:prstGeom>
          <a:solidFill>
            <a:srgbClr val="0D1B2A"/>
          </a:solidFill>
          <a:ln w="6350">
            <a:solidFill>
              <a:srgbClr val="0891B2"/>
            </a:solidFill>
            <a:prstDash val="solid"/>
          </a:ln>
        </p:spPr>
      </p:sp>
      <p:sp>
        <p:nvSpPr>
          <p:cNvPr id="8" name="Shape 6"/>
          <p:cNvSpPr/>
          <p:nvPr/>
        </p:nvSpPr>
        <p:spPr>
          <a:xfrm>
            <a:off x="320040" y="1188720"/>
            <a:ext cx="2779776" cy="64008"/>
          </a:xfrm>
          <a:prstGeom prst="rect">
            <a:avLst/>
          </a:prstGeom>
          <a:solidFill>
            <a:srgbClr val="0891B2"/>
          </a:solidFill>
          <a:ln w="12700">
            <a:solidFill>
              <a:srgbClr val="0891B2"/>
            </a:solidFill>
            <a:prstDash val="solid"/>
          </a:ln>
        </p:spPr>
      </p:sp>
      <p:sp>
        <p:nvSpPr>
          <p:cNvPr id="9" name="Text 7"/>
          <p:cNvSpPr/>
          <p:nvPr/>
        </p:nvSpPr>
        <p:spPr>
          <a:xfrm>
            <a:off x="429768" y="1298448"/>
            <a:ext cx="2578608" cy="365760"/>
          </a:xfrm>
          <a:prstGeom prst="rect">
            <a:avLst/>
          </a:prstGeom>
          <a:noFill/>
          <a:ln/>
        </p:spPr>
        <p:txBody>
          <a:bodyPr wrap="square" lIns="0" tIns="0" rIns="0" bIns="0" rtlCol="0" anchor="ctr"/>
          <a:lstStyle/>
          <a:p>
            <a:pPr indent="0" marL="0">
              <a:buNone/>
            </a:pPr>
            <a:r>
              <a:rPr lang="en-US" sz="1300" b="1" dirty="0">
                <a:solidFill>
                  <a:srgbClr val="0891B2"/>
                </a:solidFill>
                <a:latin typeface="Calibri" pitchFamily="34" charset="0"/>
                <a:ea typeface="Calibri" pitchFamily="34" charset="-122"/>
                <a:cs typeface="Calibri" pitchFamily="34" charset="-120"/>
              </a:rPr>
              <a:t>Horizontal Arc</a:t>
            </a:r>
            <a:endParaRPr lang="en-US" sz="1300" dirty="0"/>
          </a:p>
        </p:txBody>
      </p:sp>
      <p:sp>
        <p:nvSpPr>
          <p:cNvPr id="10" name="Text 8"/>
          <p:cNvSpPr/>
          <p:nvPr/>
        </p:nvSpPr>
        <p:spPr>
          <a:xfrm>
            <a:off x="429768" y="1737360"/>
            <a:ext cx="2578608" cy="53035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Canon as governance control plane above any runtime</a:t>
            </a:r>
            <a:endParaRPr lang="en-US" sz="1000" dirty="0"/>
          </a:p>
        </p:txBody>
      </p:sp>
      <p:sp>
        <p:nvSpPr>
          <p:cNvPr id="11" name="Text 9"/>
          <p:cNvSpPr/>
          <p:nvPr/>
        </p:nvSpPr>
        <p:spPr>
          <a:xfrm>
            <a:off x="429768" y="2304288"/>
            <a:ext cx="2578608" cy="53035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Cursor SDK, containers, remote workers, or any external agent</a:t>
            </a:r>
            <a:endParaRPr lang="en-US" sz="1000" dirty="0"/>
          </a:p>
        </p:txBody>
      </p:sp>
      <p:sp>
        <p:nvSpPr>
          <p:cNvPr id="12" name="Text 10"/>
          <p:cNvSpPr/>
          <p:nvPr/>
        </p:nvSpPr>
        <p:spPr>
          <a:xfrm>
            <a:off x="429768" y="2871216"/>
            <a:ext cx="2578608" cy="53035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Governance-only mode: teams keep their tools, Canon owns gates</a:t>
            </a:r>
            <a:endParaRPr lang="en-US" sz="1000" dirty="0"/>
          </a:p>
        </p:txBody>
      </p:sp>
      <p:sp>
        <p:nvSpPr>
          <p:cNvPr id="13" name="Text 11"/>
          <p:cNvSpPr/>
          <p:nvPr/>
        </p:nvSpPr>
        <p:spPr>
          <a:xfrm>
            <a:off x="429768" y="3438144"/>
            <a:ext cx="2578608" cy="53035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Boundary enforcement: handoffs, checkpoints, evidence, PR/merge</a:t>
            </a:r>
            <a:endParaRPr lang="en-US" sz="1000" dirty="0"/>
          </a:p>
        </p:txBody>
      </p:sp>
      <p:sp>
        <p:nvSpPr>
          <p:cNvPr id="14" name="Text 12"/>
          <p:cNvSpPr/>
          <p:nvPr/>
        </p:nvSpPr>
        <p:spPr>
          <a:xfrm>
            <a:off x="429768" y="4005072"/>
            <a:ext cx="2578608" cy="53035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The control plane that any execution substrate reports into</a:t>
            </a:r>
            <a:endParaRPr lang="en-US" sz="1000" dirty="0"/>
          </a:p>
        </p:txBody>
      </p:sp>
      <p:sp>
        <p:nvSpPr>
          <p:cNvPr id="15" name="Shape 13"/>
          <p:cNvSpPr/>
          <p:nvPr/>
        </p:nvSpPr>
        <p:spPr>
          <a:xfrm>
            <a:off x="3246120" y="1188720"/>
            <a:ext cx="2779776" cy="3547872"/>
          </a:xfrm>
          <a:prstGeom prst="rect">
            <a:avLst/>
          </a:prstGeom>
          <a:solidFill>
            <a:srgbClr val="0D1B2A"/>
          </a:solidFill>
          <a:ln w="6350">
            <a:solidFill>
              <a:srgbClr val="00D4AA"/>
            </a:solidFill>
            <a:prstDash val="solid"/>
          </a:ln>
        </p:spPr>
      </p:sp>
      <p:sp>
        <p:nvSpPr>
          <p:cNvPr id="16" name="Shape 14"/>
          <p:cNvSpPr/>
          <p:nvPr/>
        </p:nvSpPr>
        <p:spPr>
          <a:xfrm>
            <a:off x="3246120" y="1188720"/>
            <a:ext cx="2779776" cy="64008"/>
          </a:xfrm>
          <a:prstGeom prst="rect">
            <a:avLst/>
          </a:prstGeom>
          <a:solidFill>
            <a:srgbClr val="00D4AA"/>
          </a:solidFill>
          <a:ln w="12700">
            <a:solidFill>
              <a:srgbClr val="00D4AA"/>
            </a:solidFill>
            <a:prstDash val="solid"/>
          </a:ln>
        </p:spPr>
      </p:sp>
      <p:sp>
        <p:nvSpPr>
          <p:cNvPr id="17" name="Text 15"/>
          <p:cNvSpPr/>
          <p:nvPr/>
        </p:nvSpPr>
        <p:spPr>
          <a:xfrm>
            <a:off x="3355848" y="1298448"/>
            <a:ext cx="2578608" cy="365760"/>
          </a:xfrm>
          <a:prstGeom prst="rect">
            <a:avLst/>
          </a:prstGeom>
          <a:noFill/>
          <a:ln/>
        </p:spPr>
        <p:txBody>
          <a:bodyPr wrap="square" lIns="0" tIns="0" rIns="0" bIns="0" rtlCol="0" anchor="ctr"/>
          <a:lstStyle/>
          <a:p>
            <a:pPr indent="0" marL="0">
              <a:buNone/>
            </a:pPr>
            <a:r>
              <a:rPr lang="en-US" sz="1300" b="1" dirty="0">
                <a:solidFill>
                  <a:srgbClr val="00D4AA"/>
                </a:solidFill>
                <a:latin typeface="Calibri" pitchFamily="34" charset="0"/>
                <a:ea typeface="Calibri" pitchFamily="34" charset="-122"/>
                <a:cs typeface="Calibri" pitchFamily="34" charset="-120"/>
              </a:rPr>
              <a:t>Vertical Arc</a:t>
            </a:r>
            <a:endParaRPr lang="en-US" sz="1300" dirty="0"/>
          </a:p>
        </p:txBody>
      </p:sp>
      <p:sp>
        <p:nvSpPr>
          <p:cNvPr id="18" name="Text 16"/>
          <p:cNvSpPr/>
          <p:nvPr/>
        </p:nvSpPr>
        <p:spPr>
          <a:xfrm>
            <a:off x="3355848" y="1737360"/>
            <a:ext cx="2578608" cy="53035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Canon-native client or polished hosted shell</a:t>
            </a:r>
            <a:endParaRPr lang="en-US" sz="1000" dirty="0"/>
          </a:p>
        </p:txBody>
      </p:sp>
      <p:sp>
        <p:nvSpPr>
          <p:cNvPr id="19" name="Text 17"/>
          <p:cNvSpPr/>
          <p:nvPr/>
        </p:nvSpPr>
        <p:spPr>
          <a:xfrm>
            <a:off x="3355848" y="2304288"/>
            <a:ext cx="2578608" cy="53035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Plan -&gt; Scope -&gt; Implement -&gt; Verify -&gt; Ship visible phases</a:t>
            </a:r>
            <a:endParaRPr lang="en-US" sz="1000" dirty="0"/>
          </a:p>
        </p:txBody>
      </p:sp>
      <p:sp>
        <p:nvSpPr>
          <p:cNvPr id="20" name="Text 18"/>
          <p:cNvSpPr/>
          <p:nvPr/>
        </p:nvSpPr>
        <p:spPr>
          <a:xfrm>
            <a:off x="3355848" y="2871216"/>
            <a:ext cx="2578608" cy="53035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Status, evidence links, and human gates — no raw prompt files</a:t>
            </a:r>
            <a:endParaRPr lang="en-US" sz="1000" dirty="0"/>
          </a:p>
        </p:txBody>
      </p:sp>
      <p:sp>
        <p:nvSpPr>
          <p:cNvPr id="21" name="Text 19"/>
          <p:cNvSpPr/>
          <p:nvPr/>
        </p:nvSpPr>
        <p:spPr>
          <a:xfrm>
            <a:off x="3355848" y="3438144"/>
            <a:ext cx="2578608" cy="53035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Advanced / export mode for regulated teams needing full audit</a:t>
            </a:r>
            <a:endParaRPr lang="en-US" sz="1000" dirty="0"/>
          </a:p>
        </p:txBody>
      </p:sp>
      <p:sp>
        <p:nvSpPr>
          <p:cNvPr id="22" name="Text 20"/>
          <p:cNvSpPr/>
          <p:nvPr/>
        </p:nvSpPr>
        <p:spPr>
          <a:xfrm>
            <a:off x="3355848" y="4005072"/>
            <a:ext cx="2578608" cy="53035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Optional hidden orchestration — internals proprietary by default</a:t>
            </a:r>
            <a:endParaRPr lang="en-US" sz="1000" dirty="0"/>
          </a:p>
        </p:txBody>
      </p:sp>
      <p:sp>
        <p:nvSpPr>
          <p:cNvPr id="23" name="Shape 21"/>
          <p:cNvSpPr/>
          <p:nvPr/>
        </p:nvSpPr>
        <p:spPr>
          <a:xfrm>
            <a:off x="6172200" y="1188720"/>
            <a:ext cx="2779776" cy="3547872"/>
          </a:xfrm>
          <a:prstGeom prst="rect">
            <a:avLst/>
          </a:prstGeom>
          <a:solidFill>
            <a:srgbClr val="0D1B2A"/>
          </a:solidFill>
          <a:ln w="6350">
            <a:solidFill>
              <a:srgbClr val="6366F1"/>
            </a:solidFill>
            <a:prstDash val="solid"/>
          </a:ln>
        </p:spPr>
      </p:sp>
      <p:sp>
        <p:nvSpPr>
          <p:cNvPr id="24" name="Shape 22"/>
          <p:cNvSpPr/>
          <p:nvPr/>
        </p:nvSpPr>
        <p:spPr>
          <a:xfrm>
            <a:off x="6172200" y="1188720"/>
            <a:ext cx="2779776" cy="64008"/>
          </a:xfrm>
          <a:prstGeom prst="rect">
            <a:avLst/>
          </a:prstGeom>
          <a:solidFill>
            <a:srgbClr val="6366F1"/>
          </a:solidFill>
          <a:ln w="12700">
            <a:solidFill>
              <a:srgbClr val="6366F1"/>
            </a:solidFill>
            <a:prstDash val="solid"/>
          </a:ln>
        </p:spPr>
      </p:sp>
      <p:sp>
        <p:nvSpPr>
          <p:cNvPr id="25" name="Text 23"/>
          <p:cNvSpPr/>
          <p:nvPr/>
        </p:nvSpPr>
        <p:spPr>
          <a:xfrm>
            <a:off x="6281928" y="1298448"/>
            <a:ext cx="2578608" cy="365760"/>
          </a:xfrm>
          <a:prstGeom prst="rect">
            <a:avLst/>
          </a:prstGeom>
          <a:noFill/>
          <a:ln/>
        </p:spPr>
        <p:txBody>
          <a:bodyPr wrap="square" lIns="0" tIns="0" rIns="0" bIns="0" rtlCol="0" anchor="ctr"/>
          <a:lstStyle/>
          <a:p>
            <a:pPr indent="0" marL="0">
              <a:buNone/>
            </a:pPr>
            <a:r>
              <a:rPr lang="en-US" sz="1300" b="1" dirty="0">
                <a:solidFill>
                  <a:srgbClr val="6366F1"/>
                </a:solidFill>
                <a:latin typeface="Calibri" pitchFamily="34" charset="0"/>
                <a:ea typeface="Calibri" pitchFamily="34" charset="-122"/>
                <a:cs typeface="Calibri" pitchFamily="34" charset="-120"/>
              </a:rPr>
              <a:t>What Never Changes</a:t>
            </a:r>
            <a:endParaRPr lang="en-US" sz="1300" dirty="0"/>
          </a:p>
        </p:txBody>
      </p:sp>
      <p:sp>
        <p:nvSpPr>
          <p:cNvPr id="26" name="Text 24"/>
          <p:cNvSpPr/>
          <p:nvPr/>
        </p:nvSpPr>
        <p:spPr>
          <a:xfrm>
            <a:off x="6281928" y="1737360"/>
            <a:ext cx="2578608" cy="53035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Same canonical IDs and event envelopes — always</a:t>
            </a:r>
            <a:endParaRPr lang="en-US" sz="1000" dirty="0"/>
          </a:p>
        </p:txBody>
      </p:sp>
      <p:sp>
        <p:nvSpPr>
          <p:cNvPr id="27" name="Text 25"/>
          <p:cNvSpPr/>
          <p:nvPr/>
        </p:nvSpPr>
        <p:spPr>
          <a:xfrm>
            <a:off x="6281928" y="2304288"/>
            <a:ext cx="2578608" cy="53035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Same handoff packets (disk or object storage)</a:t>
            </a:r>
            <a:endParaRPr lang="en-US" sz="1000" dirty="0"/>
          </a:p>
        </p:txBody>
      </p:sp>
      <p:sp>
        <p:nvSpPr>
          <p:cNvPr id="28" name="Text 26"/>
          <p:cNvSpPr/>
          <p:nvPr/>
        </p:nvSpPr>
        <p:spPr>
          <a:xfrm>
            <a:off x="6281928" y="2871216"/>
            <a:ext cx="2578608" cy="53035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Same tenant boundaries + Secrets Manager wiring</a:t>
            </a:r>
            <a:endParaRPr lang="en-US" sz="1000" dirty="0"/>
          </a:p>
        </p:txBody>
      </p:sp>
      <p:sp>
        <p:nvSpPr>
          <p:cNvPr id="29" name="Text 27"/>
          <p:cNvSpPr/>
          <p:nvPr/>
        </p:nvSpPr>
        <p:spPr>
          <a:xfrm>
            <a:off x="6281928" y="3438144"/>
            <a:ext cx="2578608" cy="53035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Same checkpoint lease semantics</a:t>
            </a:r>
            <a:endParaRPr lang="en-US" sz="1000" dirty="0"/>
          </a:p>
        </p:txBody>
      </p:sp>
      <p:sp>
        <p:nvSpPr>
          <p:cNvPr id="30" name="Text 28"/>
          <p:cNvSpPr/>
          <p:nvPr/>
        </p:nvSpPr>
        <p:spPr>
          <a:xfrm>
            <a:off x="6281928" y="4005072"/>
            <a:ext cx="2578608" cy="53035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Same merge gates — non-negotiable in every mode</a:t>
            </a:r>
            <a:endParaRPr lang="en-US" sz="1000" dirty="0"/>
          </a:p>
        </p:txBody>
      </p:sp>
      <p:sp>
        <p:nvSpPr>
          <p:cNvPr id="31" name="Shape 29"/>
          <p:cNvSpPr/>
          <p:nvPr/>
        </p:nvSpPr>
        <p:spPr>
          <a:xfrm>
            <a:off x="320040" y="4791456"/>
            <a:ext cx="8485632" cy="256032"/>
          </a:xfrm>
          <a:prstGeom prst="rect">
            <a:avLst/>
          </a:prstGeom>
          <a:solidFill>
            <a:srgbClr val="0F2035"/>
          </a:solidFill>
          <a:ln w="12700">
            <a:solidFill>
              <a:srgbClr val="1E3A5F"/>
            </a:solidFill>
            <a:prstDash val="solid"/>
          </a:ln>
        </p:spPr>
      </p:sp>
      <p:sp>
        <p:nvSpPr>
          <p:cNvPr id="32" name="Text 30"/>
          <p:cNvSpPr/>
          <p:nvPr/>
        </p:nvSpPr>
        <p:spPr>
          <a:xfrm>
            <a:off x="502920" y="4800600"/>
            <a:ext cx="8229600" cy="237744"/>
          </a:xfrm>
          <a:prstGeom prst="rect">
            <a:avLst/>
          </a:prstGeom>
          <a:noFill/>
          <a:ln/>
        </p:spPr>
        <p:txBody>
          <a:bodyPr wrap="square" lIns="0" tIns="0" rIns="0" bIns="0" rtlCol="0" anchor="ctr"/>
          <a:lstStyle/>
          <a:p>
            <a:pPr indent="0" marL="0">
              <a:buNone/>
            </a:pPr>
            <a:r>
              <a:rPr lang="en-US" sz="1000" dirty="0">
                <a:solidFill>
                  <a:srgbClr val="4B7A9F"/>
                </a:solidFill>
                <a:latin typeface="Calibri" pitchFamily="34" charset="0"/>
                <a:ea typeface="Calibri" pitchFamily="34" charset="-122"/>
                <a:cs typeface="Calibri" pitchFamily="34" charset="-120"/>
              </a:rPr>
              <a:t>The shell can change. The governance and evidence model cannot. That is what makes Canon a platform, not just a workflow tool.</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60E18"/>
          </a:solidFill>
          <a:ln w="12700">
            <a:solidFill>
              <a:srgbClr val="060E18"/>
            </a:solidFill>
            <a:prstDash val="solid"/>
          </a:ln>
        </p:spPr>
      </p:sp>
      <p:sp>
        <p:nvSpPr>
          <p:cNvPr id="3" name="Shape 1"/>
          <p:cNvSpPr/>
          <p:nvPr/>
        </p:nvSpPr>
        <p:spPr>
          <a:xfrm>
            <a:off x="0" y="0"/>
            <a:ext cx="548640" cy="5143500"/>
          </a:xfrm>
          <a:prstGeom prst="rect">
            <a:avLst/>
          </a:prstGeom>
          <a:solidFill>
            <a:srgbClr val="00D4AA"/>
          </a:solidFill>
          <a:ln w="12700">
            <a:solidFill>
              <a:srgbClr val="00D4AA"/>
            </a:solidFill>
            <a:prstDash val="solid"/>
          </a:ln>
        </p:spPr>
      </p:sp>
      <p:sp>
        <p:nvSpPr>
          <p:cNvPr id="4" name="Text 2"/>
          <p:cNvSpPr/>
          <p:nvPr/>
        </p:nvSpPr>
        <p:spPr>
          <a:xfrm>
            <a:off x="822960" y="384048"/>
            <a:ext cx="7315200" cy="384048"/>
          </a:xfrm>
          <a:prstGeom prst="rect">
            <a:avLst/>
          </a:prstGeom>
          <a:noFill/>
          <a:ln/>
        </p:spPr>
        <p:txBody>
          <a:bodyPr wrap="square" lIns="0" tIns="0" rIns="0" bIns="0" rtlCol="0" anchor="ctr"/>
          <a:lstStyle/>
          <a:p>
            <a:pPr indent="0" marL="0">
              <a:buNone/>
            </a:pPr>
            <a:r>
              <a:rPr lang="en-US" sz="1100" b="1" spc="800" kern="0" dirty="0">
                <a:solidFill>
                  <a:srgbClr val="00D4AA"/>
                </a:solidFill>
                <a:latin typeface="Calibri" pitchFamily="34" charset="0"/>
                <a:ea typeface="Calibri" pitchFamily="34" charset="-122"/>
                <a:cs typeface="Calibri" pitchFamily="34" charset="-120"/>
              </a:rPr>
              <a:t>NORTH STAR</a:t>
            </a:r>
            <a:endParaRPr lang="en-US" sz="1100" dirty="0"/>
          </a:p>
        </p:txBody>
      </p:sp>
      <p:sp>
        <p:nvSpPr>
          <p:cNvPr id="5" name="Text 3"/>
          <p:cNvSpPr/>
          <p:nvPr/>
        </p:nvSpPr>
        <p:spPr>
          <a:xfrm>
            <a:off x="822960" y="868680"/>
            <a:ext cx="7772400" cy="18288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Canon is the default memory and workflow OS for teams that care about why a decision was made, in which repo, for which tenant, with what evidence.</a:t>
            </a:r>
            <a:endParaRPr lang="en-US" sz="2400" dirty="0"/>
          </a:p>
        </p:txBody>
      </p:sp>
      <p:sp>
        <p:nvSpPr>
          <p:cNvPr id="6" name="Text 4"/>
          <p:cNvSpPr/>
          <p:nvPr/>
        </p:nvSpPr>
        <p:spPr>
          <a:xfrm>
            <a:off x="822960" y="2724912"/>
            <a:ext cx="7772400" cy="457200"/>
          </a:xfrm>
          <a:prstGeom prst="rect">
            <a:avLst/>
          </a:prstGeom>
          <a:noFill/>
          <a:ln/>
        </p:spPr>
        <p:txBody>
          <a:bodyPr wrap="square" lIns="0" tIns="0" rIns="0" bIns="0" rtlCol="0" anchor="ctr"/>
          <a:lstStyle/>
          <a:p>
            <a:pPr indent="0" marL="0">
              <a:buNone/>
            </a:pPr>
            <a:r>
              <a:rPr lang="en-US" sz="1600" i="1" dirty="0">
                <a:solidFill>
                  <a:srgbClr val="7BA3C4"/>
                </a:solidFill>
                <a:latin typeface="Calibri" pitchFamily="34" charset="0"/>
                <a:ea typeface="Calibri" pitchFamily="34" charset="-122"/>
                <a:cs typeface="Calibri" pitchFamily="34" charset="-120"/>
              </a:rPr>
              <a:t>While still allowing stronger autonomous runs when product and policy allow.</a:t>
            </a:r>
            <a:endParaRPr lang="en-US" sz="1600" dirty="0"/>
          </a:p>
        </p:txBody>
      </p:sp>
      <p:sp>
        <p:nvSpPr>
          <p:cNvPr id="7" name="Shape 5"/>
          <p:cNvSpPr/>
          <p:nvPr/>
        </p:nvSpPr>
        <p:spPr>
          <a:xfrm>
            <a:off x="822960" y="3337560"/>
            <a:ext cx="54864" cy="384048"/>
          </a:xfrm>
          <a:prstGeom prst="rect">
            <a:avLst/>
          </a:prstGeom>
          <a:solidFill>
            <a:srgbClr val="00D4AA"/>
          </a:solidFill>
          <a:ln w="12700">
            <a:solidFill>
              <a:srgbClr val="00D4AA"/>
            </a:solidFill>
            <a:prstDash val="solid"/>
          </a:ln>
        </p:spPr>
      </p:sp>
      <p:sp>
        <p:nvSpPr>
          <p:cNvPr id="8" name="Text 6"/>
          <p:cNvSpPr/>
          <p:nvPr/>
        </p:nvSpPr>
        <p:spPr>
          <a:xfrm>
            <a:off x="987552" y="3337560"/>
            <a:ext cx="7315200" cy="384048"/>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Memory and shipping evidence beat raw model cleverness for teams that ship under compliance and on-call pressure</a:t>
            </a:r>
            <a:endParaRPr lang="en-US" sz="1300" dirty="0"/>
          </a:p>
        </p:txBody>
      </p:sp>
      <p:sp>
        <p:nvSpPr>
          <p:cNvPr id="9" name="Shape 7"/>
          <p:cNvSpPr/>
          <p:nvPr/>
        </p:nvSpPr>
        <p:spPr>
          <a:xfrm>
            <a:off x="822960" y="3886200"/>
            <a:ext cx="54864" cy="384048"/>
          </a:xfrm>
          <a:prstGeom prst="rect">
            <a:avLst/>
          </a:prstGeom>
          <a:solidFill>
            <a:srgbClr val="0891B2"/>
          </a:solidFill>
          <a:ln w="12700">
            <a:solidFill>
              <a:srgbClr val="0891B2"/>
            </a:solidFill>
            <a:prstDash val="solid"/>
          </a:ln>
        </p:spPr>
      </p:sp>
      <p:sp>
        <p:nvSpPr>
          <p:cNvPr id="10" name="Text 8"/>
          <p:cNvSpPr/>
          <p:nvPr/>
        </p:nvSpPr>
        <p:spPr>
          <a:xfrm>
            <a:off x="987552" y="3886200"/>
            <a:ext cx="7315200" cy="384048"/>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File-backed packets are the audit trail — not chat logs, not model claims, not environment variables</a:t>
            </a:r>
            <a:endParaRPr lang="en-US" sz="1300" dirty="0"/>
          </a:p>
        </p:txBody>
      </p:sp>
      <p:sp>
        <p:nvSpPr>
          <p:cNvPr id="11" name="Shape 9"/>
          <p:cNvSpPr/>
          <p:nvPr/>
        </p:nvSpPr>
        <p:spPr>
          <a:xfrm>
            <a:off x="822960" y="4434840"/>
            <a:ext cx="54864" cy="384048"/>
          </a:xfrm>
          <a:prstGeom prst="rect">
            <a:avLst/>
          </a:prstGeom>
          <a:solidFill>
            <a:srgbClr val="6366F1"/>
          </a:solidFill>
          <a:ln w="12700">
            <a:solidFill>
              <a:srgbClr val="6366F1"/>
            </a:solidFill>
            <a:prstDash val="solid"/>
          </a:ln>
        </p:spPr>
      </p:sp>
      <p:sp>
        <p:nvSpPr>
          <p:cNvPr id="12" name="Text 10"/>
          <p:cNvSpPr/>
          <p:nvPr/>
        </p:nvSpPr>
        <p:spPr>
          <a:xfrm>
            <a:off x="987552" y="4434840"/>
            <a:ext cx="7315200" cy="384048"/>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A prettier shell doesn't replace governance. It surfaces it. That is what Canon-systems is for.</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384048" cy="5143500"/>
          </a:xfrm>
          <a:prstGeom prst="rect">
            <a:avLst/>
          </a:prstGeom>
          <a:solidFill>
            <a:srgbClr val="00D4AA"/>
          </a:solidFill>
          <a:ln w="12700">
            <a:solidFill>
              <a:srgbClr val="00D4AA"/>
            </a:solidFill>
            <a:prstDash val="solid"/>
          </a:ln>
        </p:spPr>
      </p:sp>
      <p:sp>
        <p:nvSpPr>
          <p:cNvPr id="3" name="Shape 1"/>
          <p:cNvSpPr/>
          <p:nvPr/>
        </p:nvSpPr>
        <p:spPr>
          <a:xfrm>
            <a:off x="5943600" y="0"/>
            <a:ext cx="3200400" cy="5143500"/>
          </a:xfrm>
          <a:prstGeom prst="rect">
            <a:avLst/>
          </a:prstGeom>
          <a:solidFill>
            <a:srgbClr val="0A1F35"/>
          </a:solidFill>
          <a:ln w="12700">
            <a:solidFill>
              <a:srgbClr val="0A1F35"/>
            </a:solidFill>
            <a:prstDash val="solid"/>
          </a:ln>
        </p:spPr>
      </p:sp>
      <p:sp>
        <p:nvSpPr>
          <p:cNvPr id="4" name="Text 2"/>
          <p:cNvSpPr/>
          <p:nvPr/>
        </p:nvSpPr>
        <p:spPr>
          <a:xfrm>
            <a:off x="566928" y="868680"/>
            <a:ext cx="5166360" cy="868680"/>
          </a:xfrm>
          <a:prstGeom prst="rect">
            <a:avLst/>
          </a:prstGeom>
          <a:noFill/>
          <a:ln/>
        </p:spPr>
        <p:txBody>
          <a:bodyPr wrap="square" lIns="0" tIns="0" rIns="0" bIns="0" rtlCol="0" anchor="ctr"/>
          <a:lstStyle/>
          <a:p>
            <a:pPr indent="0" marL="0">
              <a:buNone/>
            </a:pPr>
            <a:r>
              <a:rPr lang="en-US" sz="7200" b="1" spc="1200" kern="0" dirty="0">
                <a:solidFill>
                  <a:srgbClr val="FFFFFF"/>
                </a:solidFill>
                <a:latin typeface="Calibri" pitchFamily="34" charset="0"/>
                <a:ea typeface="Calibri" pitchFamily="34" charset="-122"/>
                <a:cs typeface="Calibri" pitchFamily="34" charset="-120"/>
              </a:rPr>
              <a:t>CANON</a:t>
            </a:r>
            <a:endParaRPr lang="en-US" sz="7200" dirty="0"/>
          </a:p>
        </p:txBody>
      </p:sp>
      <p:sp>
        <p:nvSpPr>
          <p:cNvPr id="5" name="Text 3"/>
          <p:cNvSpPr/>
          <p:nvPr/>
        </p:nvSpPr>
        <p:spPr>
          <a:xfrm>
            <a:off x="566928" y="1691640"/>
            <a:ext cx="5166360" cy="530352"/>
          </a:xfrm>
          <a:prstGeom prst="rect">
            <a:avLst/>
          </a:prstGeom>
          <a:noFill/>
          <a:ln/>
        </p:spPr>
        <p:txBody>
          <a:bodyPr wrap="square" lIns="0" tIns="0" rIns="0" bIns="0" rtlCol="0" anchor="ctr"/>
          <a:lstStyle/>
          <a:p>
            <a:pPr indent="0" marL="0">
              <a:buNone/>
            </a:pPr>
            <a:r>
              <a:rPr lang="en-US" sz="3200" spc="1800" kern="0" dirty="0">
                <a:solidFill>
                  <a:srgbClr val="00D4AA"/>
                </a:solidFill>
                <a:latin typeface="Calibri" pitchFamily="34" charset="0"/>
                <a:ea typeface="Calibri" pitchFamily="34" charset="-122"/>
                <a:cs typeface="Calibri" pitchFamily="34" charset="-120"/>
              </a:rPr>
              <a:t>SYSTEMS</a:t>
            </a:r>
            <a:endParaRPr lang="en-US" sz="3200" dirty="0"/>
          </a:p>
        </p:txBody>
      </p:sp>
      <p:sp>
        <p:nvSpPr>
          <p:cNvPr id="6" name="Text 4"/>
          <p:cNvSpPr/>
          <p:nvPr/>
        </p:nvSpPr>
        <p:spPr>
          <a:xfrm>
            <a:off x="566928" y="2359152"/>
            <a:ext cx="5166360" cy="822960"/>
          </a:xfrm>
          <a:prstGeom prst="rect">
            <a:avLst/>
          </a:prstGeom>
          <a:noFill/>
          <a:ln/>
        </p:spPr>
        <p:txBody>
          <a:bodyPr wrap="square" lIns="0" tIns="0" rIns="0" bIns="0" rtlCol="0" anchor="ctr"/>
          <a:lstStyle/>
          <a:p>
            <a:pPr indent="0" marL="0">
              <a:buNone/>
            </a:pPr>
            <a:r>
              <a:rPr lang="en-US" sz="1600" dirty="0">
                <a:solidFill>
                  <a:srgbClr val="94A3B8"/>
                </a:solidFill>
                <a:latin typeface="Calibri" pitchFamily="34" charset="0"/>
                <a:ea typeface="Calibri" pitchFamily="34" charset="-122"/>
                <a:cs typeface="Calibri" pitchFamily="34" charset="-120"/>
              </a:rPr>
              <a:t>The operator platform for</a:t>
            </a:r>
            <a:endParaRPr lang="en-US" sz="1600" dirty="0"/>
          </a:p>
          <a:p>
            <a:pPr indent="0" marL="0">
              <a:buNone/>
            </a:pPr>
            <a:r>
              <a:rPr lang="en-US" sz="1600" dirty="0">
                <a:solidFill>
                  <a:srgbClr val="94A3B8"/>
                </a:solidFill>
                <a:latin typeface="Calibri" pitchFamily="34" charset="0"/>
                <a:ea typeface="Calibri" pitchFamily="34" charset="-122"/>
                <a:cs typeface="Calibri" pitchFamily="34" charset="-120"/>
              </a:rPr>
              <a:t>serious AI-assisted software work.</a:t>
            </a:r>
            <a:endParaRPr lang="en-US" sz="1600" dirty="0"/>
          </a:p>
        </p:txBody>
      </p:sp>
      <p:sp>
        <p:nvSpPr>
          <p:cNvPr id="7" name="Text 5"/>
          <p:cNvSpPr/>
          <p:nvPr/>
        </p:nvSpPr>
        <p:spPr>
          <a:xfrm>
            <a:off x="566928" y="3337560"/>
            <a:ext cx="4114800" cy="530352"/>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Questions?</a:t>
            </a:r>
            <a:endParaRPr lang="en-US" sz="2800" dirty="0"/>
          </a:p>
        </p:txBody>
      </p:sp>
      <p:sp>
        <p:nvSpPr>
          <p:cNvPr id="8" name="Text 6"/>
          <p:cNvSpPr/>
          <p:nvPr/>
        </p:nvSpPr>
        <p:spPr>
          <a:xfrm>
            <a:off x="566928" y="4754880"/>
            <a:ext cx="1828800" cy="27432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May 2026</a:t>
            </a:r>
            <a:endParaRPr lang="en-US" sz="1100" dirty="0"/>
          </a:p>
        </p:txBody>
      </p:sp>
      <p:sp>
        <p:nvSpPr>
          <p:cNvPr id="9" name="Text 7"/>
          <p:cNvSpPr/>
          <p:nvPr/>
        </p:nvSpPr>
        <p:spPr>
          <a:xfrm>
            <a:off x="6126480" y="548640"/>
            <a:ext cx="2834640" cy="365760"/>
          </a:xfrm>
          <a:prstGeom prst="rect">
            <a:avLst/>
          </a:prstGeom>
          <a:noFill/>
          <a:ln/>
        </p:spPr>
        <p:txBody>
          <a:bodyPr wrap="square" lIns="0" tIns="0" rIns="0" bIns="0" rtlCol="0" anchor="ctr"/>
          <a:lstStyle/>
          <a:p>
            <a:pPr indent="0" marL="0">
              <a:buNone/>
            </a:pPr>
            <a:r>
              <a:rPr lang="en-US" sz="1400" b="1" dirty="0">
                <a:solidFill>
                  <a:srgbClr val="00D4AA"/>
                </a:solidFill>
                <a:latin typeface="Calibri" pitchFamily="34" charset="0"/>
                <a:ea typeface="Calibri" pitchFamily="34" charset="-122"/>
                <a:cs typeface="Calibri" pitchFamily="34" charset="-120"/>
              </a:rPr>
              <a:t>Key References</a:t>
            </a:r>
            <a:endParaRPr lang="en-US" sz="1400" dirty="0"/>
          </a:p>
        </p:txBody>
      </p:sp>
      <p:sp>
        <p:nvSpPr>
          <p:cNvPr id="10" name="Text 8"/>
          <p:cNvSpPr/>
          <p:nvPr/>
        </p:nvSpPr>
        <p:spPr>
          <a:xfrm>
            <a:off x="6126480" y="1024128"/>
            <a:ext cx="1051560" cy="246888"/>
          </a:xfrm>
          <a:prstGeom prst="rect">
            <a:avLst/>
          </a:prstGeom>
          <a:noFill/>
          <a:ln/>
        </p:spPr>
        <p:txBody>
          <a:bodyPr wrap="square" lIns="0" tIns="0" rIns="0" bIns="0" rtlCol="0" anchor="ctr"/>
          <a:lstStyle/>
          <a:p>
            <a:pPr indent="0" marL="0">
              <a:buNone/>
            </a:pPr>
            <a:r>
              <a:rPr lang="en-US" sz="950" b="1" dirty="0">
                <a:solidFill>
                  <a:srgbClr val="4B7A9F"/>
                </a:solidFill>
                <a:latin typeface="Calibri" pitchFamily="34" charset="0"/>
                <a:ea typeface="Calibri" pitchFamily="34" charset="-122"/>
                <a:cs typeface="Calibri" pitchFamily="34" charset="-120"/>
              </a:rPr>
              <a:t>Architecture</a:t>
            </a:r>
            <a:endParaRPr lang="en-US" sz="950" dirty="0"/>
          </a:p>
        </p:txBody>
      </p:sp>
      <p:sp>
        <p:nvSpPr>
          <p:cNvPr id="11" name="Text 9"/>
          <p:cNvSpPr/>
          <p:nvPr/>
        </p:nvSpPr>
        <p:spPr>
          <a:xfrm>
            <a:off x="6126480" y="1243584"/>
            <a:ext cx="2834640" cy="219456"/>
          </a:xfrm>
          <a:prstGeom prst="rect">
            <a:avLst/>
          </a:prstGeom>
          <a:noFill/>
          <a:ln/>
        </p:spPr>
        <p:txBody>
          <a:bodyPr wrap="square" lIns="0" tIns="0" rIns="0" bIns="0" rtlCol="0" anchor="ctr"/>
          <a:lstStyle/>
          <a:p>
            <a:pPr indent="0" marL="0">
              <a:buNone/>
            </a:pPr>
            <a:r>
              <a:rPr lang="en-US" sz="850" dirty="0">
                <a:solidFill>
                  <a:srgbClr val="7BA3C4"/>
                </a:solidFill>
                <a:latin typeface="Courier New" pitchFamily="34" charset="0"/>
                <a:ea typeface="Courier New" pitchFamily="34" charset="-122"/>
                <a:cs typeface="Courier New" pitchFamily="34" charset="-120"/>
              </a:rPr>
              <a:t>docs/MEMORY-PLATFORM-PLAN.md</a:t>
            </a:r>
            <a:endParaRPr lang="en-US" sz="850" dirty="0"/>
          </a:p>
        </p:txBody>
      </p:sp>
      <p:sp>
        <p:nvSpPr>
          <p:cNvPr id="12" name="Text 10"/>
          <p:cNvSpPr/>
          <p:nvPr/>
        </p:nvSpPr>
        <p:spPr>
          <a:xfrm>
            <a:off x="6126480" y="1572768"/>
            <a:ext cx="1051560" cy="246888"/>
          </a:xfrm>
          <a:prstGeom prst="rect">
            <a:avLst/>
          </a:prstGeom>
          <a:noFill/>
          <a:ln/>
        </p:spPr>
        <p:txBody>
          <a:bodyPr wrap="square" lIns="0" tIns="0" rIns="0" bIns="0" rtlCol="0" anchor="ctr"/>
          <a:lstStyle/>
          <a:p>
            <a:pPr indent="0" marL="0">
              <a:buNone/>
            </a:pPr>
            <a:r>
              <a:rPr lang="en-US" sz="950" b="1" dirty="0">
                <a:solidFill>
                  <a:srgbClr val="4B7A9F"/>
                </a:solidFill>
                <a:latin typeface="Calibri" pitchFamily="34" charset="0"/>
                <a:ea typeface="Calibri" pitchFamily="34" charset="-122"/>
                <a:cs typeface="Calibri" pitchFamily="34" charset="-120"/>
              </a:rPr>
              <a:t>Workflow</a:t>
            </a:r>
            <a:endParaRPr lang="en-US" sz="950" dirty="0"/>
          </a:p>
        </p:txBody>
      </p:sp>
      <p:sp>
        <p:nvSpPr>
          <p:cNvPr id="13" name="Text 11"/>
          <p:cNvSpPr/>
          <p:nvPr/>
        </p:nvSpPr>
        <p:spPr>
          <a:xfrm>
            <a:off x="6126480" y="1792224"/>
            <a:ext cx="2834640" cy="219456"/>
          </a:xfrm>
          <a:prstGeom prst="rect">
            <a:avLst/>
          </a:prstGeom>
          <a:noFill/>
          <a:ln/>
        </p:spPr>
        <p:txBody>
          <a:bodyPr wrap="square" lIns="0" tIns="0" rIns="0" bIns="0" rtlCol="0" anchor="ctr"/>
          <a:lstStyle/>
          <a:p>
            <a:pPr indent="0" marL="0">
              <a:buNone/>
            </a:pPr>
            <a:r>
              <a:rPr lang="en-US" sz="850" dirty="0">
                <a:solidFill>
                  <a:srgbClr val="7BA3C4"/>
                </a:solidFill>
                <a:latin typeface="Courier New" pitchFamily="34" charset="0"/>
                <a:ea typeface="Courier New" pitchFamily="34" charset="-122"/>
                <a:cs typeface="Courier New" pitchFamily="34" charset="-120"/>
              </a:rPr>
              <a:t>docs/SYSTEM-WORKFLOW.md</a:t>
            </a:r>
            <a:endParaRPr lang="en-US" sz="850" dirty="0"/>
          </a:p>
        </p:txBody>
      </p:sp>
      <p:sp>
        <p:nvSpPr>
          <p:cNvPr id="14" name="Text 12"/>
          <p:cNvSpPr/>
          <p:nvPr/>
        </p:nvSpPr>
        <p:spPr>
          <a:xfrm>
            <a:off x="6126480" y="2121408"/>
            <a:ext cx="1051560" cy="246888"/>
          </a:xfrm>
          <a:prstGeom prst="rect">
            <a:avLst/>
          </a:prstGeom>
          <a:noFill/>
          <a:ln/>
        </p:spPr>
        <p:txBody>
          <a:bodyPr wrap="square" lIns="0" tIns="0" rIns="0" bIns="0" rtlCol="0" anchor="ctr"/>
          <a:lstStyle/>
          <a:p>
            <a:pPr indent="0" marL="0">
              <a:buNone/>
            </a:pPr>
            <a:r>
              <a:rPr lang="en-US" sz="950" b="1" dirty="0">
                <a:solidFill>
                  <a:srgbClr val="4B7A9F"/>
                </a:solidFill>
                <a:latin typeface="Calibri" pitchFamily="34" charset="0"/>
                <a:ea typeface="Calibri" pitchFamily="34" charset="-122"/>
                <a:cs typeface="Calibri" pitchFamily="34" charset="-120"/>
              </a:rPr>
              <a:t>Roadmap</a:t>
            </a:r>
            <a:endParaRPr lang="en-US" sz="950" dirty="0"/>
          </a:p>
        </p:txBody>
      </p:sp>
      <p:sp>
        <p:nvSpPr>
          <p:cNvPr id="15" name="Text 13"/>
          <p:cNvSpPr/>
          <p:nvPr/>
        </p:nvSpPr>
        <p:spPr>
          <a:xfrm>
            <a:off x="6126480" y="2340864"/>
            <a:ext cx="2834640" cy="219456"/>
          </a:xfrm>
          <a:prstGeom prst="rect">
            <a:avLst/>
          </a:prstGeom>
          <a:noFill/>
          <a:ln/>
        </p:spPr>
        <p:txBody>
          <a:bodyPr wrap="square" lIns="0" tIns="0" rIns="0" bIns="0" rtlCol="0" anchor="ctr"/>
          <a:lstStyle/>
          <a:p>
            <a:pPr indent="0" marL="0">
              <a:buNone/>
            </a:pPr>
            <a:r>
              <a:rPr lang="en-US" sz="850" dirty="0">
                <a:solidFill>
                  <a:srgbClr val="7BA3C4"/>
                </a:solidFill>
                <a:latin typeface="Courier New" pitchFamily="34" charset="0"/>
                <a:ea typeface="Courier New" pitchFamily="34" charset="-122"/>
                <a:cs typeface="Courier New" pitchFamily="34" charset="-120"/>
              </a:rPr>
              <a:t>CANON-PRIORITIZED-ROADMAP-2026.md</a:t>
            </a:r>
            <a:endParaRPr lang="en-US" sz="850" dirty="0"/>
          </a:p>
        </p:txBody>
      </p:sp>
      <p:sp>
        <p:nvSpPr>
          <p:cNvPr id="16" name="Text 14"/>
          <p:cNvSpPr/>
          <p:nvPr/>
        </p:nvSpPr>
        <p:spPr>
          <a:xfrm>
            <a:off x="6126480" y="2670048"/>
            <a:ext cx="1051560" cy="246888"/>
          </a:xfrm>
          <a:prstGeom prst="rect">
            <a:avLst/>
          </a:prstGeom>
          <a:noFill/>
          <a:ln/>
        </p:spPr>
        <p:txBody>
          <a:bodyPr wrap="square" lIns="0" tIns="0" rIns="0" bIns="0" rtlCol="0" anchor="ctr"/>
          <a:lstStyle/>
          <a:p>
            <a:pPr indent="0" marL="0">
              <a:buNone/>
            </a:pPr>
            <a:r>
              <a:rPr lang="en-US" sz="950" b="1" dirty="0">
                <a:solidFill>
                  <a:srgbClr val="4B7A9F"/>
                </a:solidFill>
                <a:latin typeface="Calibri" pitchFamily="34" charset="0"/>
                <a:ea typeface="Calibri" pitchFamily="34" charset="-122"/>
                <a:cs typeface="Calibri" pitchFamily="34" charset="-120"/>
              </a:rPr>
              <a:t>Vs Devin</a:t>
            </a:r>
            <a:endParaRPr lang="en-US" sz="950" dirty="0"/>
          </a:p>
        </p:txBody>
      </p:sp>
      <p:sp>
        <p:nvSpPr>
          <p:cNvPr id="17" name="Text 15"/>
          <p:cNvSpPr/>
          <p:nvPr/>
        </p:nvSpPr>
        <p:spPr>
          <a:xfrm>
            <a:off x="6126480" y="2889504"/>
            <a:ext cx="2834640" cy="219456"/>
          </a:xfrm>
          <a:prstGeom prst="rect">
            <a:avLst/>
          </a:prstGeom>
          <a:noFill/>
          <a:ln/>
        </p:spPr>
        <p:txBody>
          <a:bodyPr wrap="square" lIns="0" tIns="0" rIns="0" bIns="0" rtlCol="0" anchor="ctr"/>
          <a:lstStyle/>
          <a:p>
            <a:pPr indent="0" marL="0">
              <a:buNone/>
            </a:pPr>
            <a:r>
              <a:rPr lang="en-US" sz="850" dirty="0">
                <a:solidFill>
                  <a:srgbClr val="7BA3C4"/>
                </a:solidFill>
                <a:latin typeface="Courier New" pitchFamily="34" charset="0"/>
                <a:ea typeface="Courier New" pitchFamily="34" charset="-122"/>
                <a:cs typeface="Courier New" pitchFamily="34" charset="-120"/>
              </a:rPr>
              <a:t>CANON-VS-DEVIN-STRATEGY-2026.md</a:t>
            </a:r>
            <a:endParaRPr lang="en-US" sz="850" dirty="0"/>
          </a:p>
        </p:txBody>
      </p:sp>
      <p:sp>
        <p:nvSpPr>
          <p:cNvPr id="18" name="Text 16"/>
          <p:cNvSpPr/>
          <p:nvPr/>
        </p:nvSpPr>
        <p:spPr>
          <a:xfrm>
            <a:off x="6126480" y="3218688"/>
            <a:ext cx="1051560" cy="246888"/>
          </a:xfrm>
          <a:prstGeom prst="rect">
            <a:avLst/>
          </a:prstGeom>
          <a:noFill/>
          <a:ln/>
        </p:spPr>
        <p:txBody>
          <a:bodyPr wrap="square" lIns="0" tIns="0" rIns="0" bIns="0" rtlCol="0" anchor="ctr"/>
          <a:lstStyle/>
          <a:p>
            <a:pPr indent="0" marL="0">
              <a:buNone/>
            </a:pPr>
            <a:r>
              <a:rPr lang="en-US" sz="950" b="1" dirty="0">
                <a:solidFill>
                  <a:srgbClr val="4B7A9F"/>
                </a:solidFill>
                <a:latin typeface="Calibri" pitchFamily="34" charset="0"/>
                <a:ea typeface="Calibri" pitchFamily="34" charset="-122"/>
                <a:cs typeface="Calibri" pitchFamily="34" charset="-120"/>
              </a:rPr>
              <a:t>Vs Sandcastle</a:t>
            </a:r>
            <a:endParaRPr lang="en-US" sz="950" dirty="0"/>
          </a:p>
        </p:txBody>
      </p:sp>
      <p:sp>
        <p:nvSpPr>
          <p:cNvPr id="19" name="Text 17"/>
          <p:cNvSpPr/>
          <p:nvPr/>
        </p:nvSpPr>
        <p:spPr>
          <a:xfrm>
            <a:off x="6126480" y="3438144"/>
            <a:ext cx="2834640" cy="219456"/>
          </a:xfrm>
          <a:prstGeom prst="rect">
            <a:avLst/>
          </a:prstGeom>
          <a:noFill/>
          <a:ln/>
        </p:spPr>
        <p:txBody>
          <a:bodyPr wrap="square" lIns="0" tIns="0" rIns="0" bIns="0" rtlCol="0" anchor="ctr"/>
          <a:lstStyle/>
          <a:p>
            <a:pPr indent="0" marL="0">
              <a:buNone/>
            </a:pPr>
            <a:r>
              <a:rPr lang="en-US" sz="850" dirty="0">
                <a:solidFill>
                  <a:srgbClr val="7BA3C4"/>
                </a:solidFill>
                <a:latin typeface="Courier New" pitchFamily="34" charset="0"/>
                <a:ea typeface="Courier New" pitchFamily="34" charset="-122"/>
                <a:cs typeface="Courier New" pitchFamily="34" charset="-120"/>
              </a:rPr>
              <a:t>CANON-VS-SANDCASTLE-STRATEGY-2026.md</a:t>
            </a:r>
            <a:endParaRPr lang="en-US" sz="850" dirty="0"/>
          </a:p>
        </p:txBody>
      </p:sp>
      <p:sp>
        <p:nvSpPr>
          <p:cNvPr id="20" name="Text 18"/>
          <p:cNvSpPr/>
          <p:nvPr/>
        </p:nvSpPr>
        <p:spPr>
          <a:xfrm>
            <a:off x="6126480" y="3767328"/>
            <a:ext cx="1051560" cy="246888"/>
          </a:xfrm>
          <a:prstGeom prst="rect">
            <a:avLst/>
          </a:prstGeom>
          <a:noFill/>
          <a:ln/>
        </p:spPr>
        <p:txBody>
          <a:bodyPr wrap="square" lIns="0" tIns="0" rIns="0" bIns="0" rtlCol="0" anchor="ctr"/>
          <a:lstStyle/>
          <a:p>
            <a:pPr indent="0" marL="0">
              <a:buNone/>
            </a:pPr>
            <a:r>
              <a:rPr lang="en-US" sz="950" b="1" dirty="0">
                <a:solidFill>
                  <a:srgbClr val="4B7A9F"/>
                </a:solidFill>
                <a:latin typeface="Calibri" pitchFamily="34" charset="0"/>
                <a:ea typeface="Calibri" pitchFamily="34" charset="-122"/>
                <a:cs typeface="Calibri" pitchFamily="34" charset="-120"/>
              </a:rPr>
              <a:t>CLI</a:t>
            </a:r>
            <a:endParaRPr lang="en-US" sz="950" dirty="0"/>
          </a:p>
        </p:txBody>
      </p:sp>
      <p:sp>
        <p:nvSpPr>
          <p:cNvPr id="21" name="Text 19"/>
          <p:cNvSpPr/>
          <p:nvPr/>
        </p:nvSpPr>
        <p:spPr>
          <a:xfrm>
            <a:off x="6126480" y="3986784"/>
            <a:ext cx="2834640" cy="219456"/>
          </a:xfrm>
          <a:prstGeom prst="rect">
            <a:avLst/>
          </a:prstGeom>
          <a:noFill/>
          <a:ln/>
        </p:spPr>
        <p:txBody>
          <a:bodyPr wrap="square" lIns="0" tIns="0" rIns="0" bIns="0" rtlCol="0" anchor="ctr"/>
          <a:lstStyle/>
          <a:p>
            <a:pPr indent="0" marL="0">
              <a:buNone/>
            </a:pPr>
            <a:r>
              <a:rPr lang="en-US" sz="850" dirty="0">
                <a:solidFill>
                  <a:srgbClr val="7BA3C4"/>
                </a:solidFill>
                <a:latin typeface="Courier New" pitchFamily="34" charset="0"/>
                <a:ea typeface="Courier New" pitchFamily="34" charset="-122"/>
                <a:cs typeface="Courier New" pitchFamily="34" charset="-120"/>
              </a:rPr>
              <a:t>canon --help</a:t>
            </a:r>
            <a:endParaRPr lang="en-US" sz="850" dirty="0"/>
          </a:p>
        </p:txBody>
      </p:sp>
      <p:sp>
        <p:nvSpPr>
          <p:cNvPr id="22" name="Text 20"/>
          <p:cNvSpPr/>
          <p:nvPr/>
        </p:nvSpPr>
        <p:spPr>
          <a:xfrm>
            <a:off x="6126480" y="4315968"/>
            <a:ext cx="1051560" cy="246888"/>
          </a:xfrm>
          <a:prstGeom prst="rect">
            <a:avLst/>
          </a:prstGeom>
          <a:noFill/>
          <a:ln/>
        </p:spPr>
        <p:txBody>
          <a:bodyPr wrap="square" lIns="0" tIns="0" rIns="0" bIns="0" rtlCol="0" anchor="ctr"/>
          <a:lstStyle/>
          <a:p>
            <a:pPr indent="0" marL="0">
              <a:buNone/>
            </a:pPr>
            <a:r>
              <a:rPr lang="en-US" sz="950" b="1" dirty="0">
                <a:solidFill>
                  <a:srgbClr val="4B7A9F"/>
                </a:solidFill>
                <a:latin typeface="Calibri" pitchFamily="34" charset="0"/>
                <a:ea typeface="Calibri" pitchFamily="34" charset="-122"/>
                <a:cs typeface="Calibri" pitchFamily="34" charset="-120"/>
              </a:rPr>
              <a:t>Version</a:t>
            </a:r>
            <a:endParaRPr lang="en-US" sz="950" dirty="0"/>
          </a:p>
        </p:txBody>
      </p:sp>
      <p:sp>
        <p:nvSpPr>
          <p:cNvPr id="23" name="Text 21"/>
          <p:cNvSpPr/>
          <p:nvPr/>
        </p:nvSpPr>
        <p:spPr>
          <a:xfrm>
            <a:off x="6126480" y="4535424"/>
            <a:ext cx="2834640" cy="219456"/>
          </a:xfrm>
          <a:prstGeom prst="rect">
            <a:avLst/>
          </a:prstGeom>
          <a:noFill/>
          <a:ln/>
        </p:spPr>
        <p:txBody>
          <a:bodyPr wrap="square" lIns="0" tIns="0" rIns="0" bIns="0" rtlCol="0" anchor="ctr"/>
          <a:lstStyle/>
          <a:p>
            <a:pPr indent="0" marL="0">
              <a:buNone/>
            </a:pPr>
            <a:r>
              <a:rPr lang="en-US" sz="850" dirty="0">
                <a:solidFill>
                  <a:srgbClr val="7BA3C4"/>
                </a:solidFill>
                <a:latin typeface="Courier New" pitchFamily="34" charset="0"/>
                <a:ea typeface="Courier New" pitchFamily="34" charset="-122"/>
                <a:cs typeface="Courier New" pitchFamily="34" charset="-120"/>
              </a:rPr>
              <a:t>v3.5.5</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Canon Systems — Full Walkthrough 2026</dc:title>
  <dc:subject>PptxGenJS Presentation</dc:subject>
  <dc:creator>Canon Systems</dc:creator>
  <cp:lastModifiedBy>Canon Systems</cp:lastModifiedBy>
  <cp:revision>1</cp:revision>
  <dcterms:created xsi:type="dcterms:W3CDTF">2026-05-01T18:19:55Z</dcterms:created>
  <dcterms:modified xsi:type="dcterms:W3CDTF">2026-05-01T18:19:55Z</dcterms:modified>
</cp:coreProperties>
</file>